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lus Jakarta Sans ExtraBold"/>
      <p:bold r:id="rId25"/>
      <p:boldItalic r:id="rId26"/>
    </p:embeddedFont>
    <p:embeddedFont>
      <p:font typeface="Plus Jakarta Sans"/>
      <p:bold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usJakartaSansExtraBold-boldItalic.fntdata"/><Relationship Id="rId25" Type="http://schemas.openxmlformats.org/officeDocument/2006/relationships/font" Target="fonts/PlusJakartaSansExtraBold-bold.fntdata"/><Relationship Id="rId28" Type="http://schemas.openxmlformats.org/officeDocument/2006/relationships/font" Target="fonts/PlusJakartaSans-boldItalic.fntdata"/><Relationship Id="rId27" Type="http://schemas.openxmlformats.org/officeDocument/2006/relationships/font" Target="fonts/PlusJakarta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4178c1cd673bd806_66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4178c1cd673bd806_66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6749f4f277a6b75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6749f4f277a6b75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4178c1cd673bd806_66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4178c1cd673bd806_66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Nafisa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57aa2ba7e36c5dbf_1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57aa2ba7e36c5dbf_1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Nafisa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57aa2ba7e36c5dbf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h57aa2ba7e36c5dbf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Nafisa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6749f4f277a6b75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6749f4f277a6b75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Nafisa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57aa2ba7e36c5dbf_1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57aa2ba7e36c5dbf_1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4178c1cd673bd806_66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4178c1cd673bd806_66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57aa2ba7e36c5dbf_12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h57aa2ba7e36c5dbf_12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4178c1cd673bd806_66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h4178c1cd673bd806_66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h4178c1cd673bd806_66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h4178c1cd673bd806_66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4178c1cd673bd806_66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4178c1cd673bd806_66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57aa2ba7e36c5dbf_12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h57aa2ba7e36c5dbf_12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4178c1cd673bd806_6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h4178c1cd673bd806_6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72fdf0b8eeae3f7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h72fdf0b8eeae3f7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57aa2ba7e36c5dbf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57aa2ba7e36c5dbf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57aa2ba7e36c5dbf_12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h57aa2ba7e36c5dbf_12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57aa2ba7e36c5dbf_12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h57aa2ba7e36c5dbf_12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57aa2ba7e36c5db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h57aa2ba7e36c5db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178c1cd673bd806_30_0)">
  <p:cSld name="Generated (h4178c1cd673bd806_30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5.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36.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33.png"/><Relationship Id="rId13" Type="http://schemas.openxmlformats.org/officeDocument/2006/relationships/image" Target="../media/image26.png"/><Relationship Id="rId12" Type="http://schemas.openxmlformats.org/officeDocument/2006/relationships/image" Target="../media/image16.png"/><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5.png"/><Relationship Id="rId9" Type="http://schemas.openxmlformats.org/officeDocument/2006/relationships/image" Target="../media/image11.png"/><Relationship Id="rId1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17.png"/><Relationship Id="rId12" Type="http://schemas.openxmlformats.org/officeDocument/2006/relationships/image" Target="../media/image19.png"/><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31.png"/><Relationship Id="rId9"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18.png"/><Relationship Id="rId7" Type="http://schemas.openxmlformats.org/officeDocument/2006/relationships/image" Target="../media/image12.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sp>
        <p:nvSpPr>
          <p:cNvPr id="55" name="Google Shape;55;p14"/>
          <p:cNvSpPr txBox="1"/>
          <p:nvPr/>
        </p:nvSpPr>
        <p:spPr>
          <a:xfrm>
            <a:off x="533400" y="381000"/>
            <a:ext cx="80772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3200">
                <a:solidFill>
                  <a:srgbClr val="0F172A"/>
                </a:solidFill>
                <a:latin typeface="Plus Jakarta Sans ExtraBold"/>
                <a:ea typeface="Plus Jakarta Sans ExtraBold"/>
                <a:cs typeface="Plus Jakarta Sans ExtraBold"/>
                <a:sym typeface="Plus Jakarta Sans ExtraBold"/>
              </a:rPr>
              <a:t>Stock Portfolio Tracke</a:t>
            </a:r>
            <a:r>
              <a:rPr lang="en" sz="3200">
                <a:solidFill>
                  <a:srgbClr val="0F172A"/>
                </a:solidFill>
                <a:latin typeface="Plus Jakarta Sans ExtraBold"/>
                <a:ea typeface="Plus Jakarta Sans ExtraBold"/>
                <a:cs typeface="Plus Jakarta Sans ExtraBold"/>
                <a:sym typeface="Plus Jakarta Sans ExtraBold"/>
              </a:rPr>
              <a:t>r</a:t>
            </a:r>
            <a:endParaRPr b="0" i="0" sz="3200">
              <a:solidFill>
                <a:srgbClr val="0F172A"/>
              </a:solidFill>
              <a:latin typeface="Plus Jakarta Sans ExtraBold"/>
              <a:ea typeface="Plus Jakarta Sans ExtraBold"/>
              <a:cs typeface="Plus Jakarta Sans ExtraBold"/>
              <a:sym typeface="Plus Jakarta Sans ExtraBold"/>
            </a:endParaRPr>
          </a:p>
        </p:txBody>
      </p:sp>
      <p:sp>
        <p:nvSpPr>
          <p:cNvPr id="56" name="Google Shape;56;p14"/>
          <p:cNvSpPr/>
          <p:nvPr/>
        </p:nvSpPr>
        <p:spPr>
          <a:xfrm>
            <a:off x="533400" y="1181100"/>
            <a:ext cx="3924300" cy="16191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762000" y="1409700"/>
            <a:ext cx="533400" cy="533400"/>
          </a:xfrm>
          <a:prstGeom prst="ellipse">
            <a:avLst/>
          </a:prstGeom>
          <a:solidFill>
            <a:srgbClr val="1F7A5C"/>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Plus Jakarta Sans"/>
                <a:ea typeface="Plus Jakarta Sans"/>
                <a:cs typeface="Plus Jakarta Sans"/>
                <a:sym typeface="Plus Jakarta Sans"/>
              </a:rPr>
              <a:t>NT</a:t>
            </a:r>
            <a:endParaRPr b="1" sz="1600">
              <a:solidFill>
                <a:srgbClr val="FFFFFF"/>
              </a:solidFill>
              <a:latin typeface="Plus Jakarta Sans"/>
              <a:ea typeface="Plus Jakarta Sans"/>
              <a:cs typeface="Plus Jakarta Sans"/>
              <a:sym typeface="Plus Jakarta Sans"/>
            </a:endParaRPr>
          </a:p>
        </p:txBody>
      </p:sp>
      <p:sp>
        <p:nvSpPr>
          <p:cNvPr id="58" name="Google Shape;58;p14"/>
          <p:cNvSpPr txBox="1"/>
          <p:nvPr/>
        </p:nvSpPr>
        <p:spPr>
          <a:xfrm>
            <a:off x="1447800" y="1409700"/>
            <a:ext cx="2781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F172A"/>
                </a:solidFill>
                <a:latin typeface="Plus Jakarta Sans"/>
                <a:ea typeface="Plus Jakarta Sans"/>
                <a:cs typeface="Plus Jakarta Sans"/>
                <a:sym typeface="Plus Jakarta Sans"/>
              </a:rPr>
              <a:t>Nafisa Tabassum</a:t>
            </a:r>
            <a:endParaRPr b="1" sz="1800">
              <a:solidFill>
                <a:srgbClr val="0F172A"/>
              </a:solidFill>
              <a:latin typeface="Plus Jakarta Sans"/>
              <a:ea typeface="Plus Jakarta Sans"/>
              <a:cs typeface="Plus Jakarta Sans"/>
              <a:sym typeface="Plus Jakarta Sans"/>
            </a:endParaRPr>
          </a:p>
        </p:txBody>
      </p:sp>
      <p:sp>
        <p:nvSpPr>
          <p:cNvPr id="59" name="Google Shape;59;p14"/>
          <p:cNvSpPr txBox="1"/>
          <p:nvPr/>
        </p:nvSpPr>
        <p:spPr>
          <a:xfrm>
            <a:off x="1447800" y="1752600"/>
            <a:ext cx="2781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F7A5C"/>
                </a:solidFill>
                <a:latin typeface="Plus Jakarta Sans"/>
                <a:ea typeface="Plus Jakarta Sans"/>
                <a:cs typeface="Plus Jakarta Sans"/>
                <a:sym typeface="Plus Jakarta Sans"/>
              </a:rPr>
              <a:t>Authentication</a:t>
            </a:r>
            <a:endParaRPr b="1" sz="1100">
              <a:solidFill>
                <a:srgbClr val="1F7A5C"/>
              </a:solidFill>
              <a:latin typeface="Plus Jakarta Sans"/>
              <a:ea typeface="Plus Jakarta Sans"/>
              <a:cs typeface="Plus Jakarta Sans"/>
              <a:sym typeface="Plus Jakarta Sans"/>
            </a:endParaRPr>
          </a:p>
        </p:txBody>
      </p:sp>
      <p:sp>
        <p:nvSpPr>
          <p:cNvPr id="60" name="Google Shape;60;p14"/>
          <p:cNvSpPr txBox="1"/>
          <p:nvPr/>
        </p:nvSpPr>
        <p:spPr>
          <a:xfrm>
            <a:off x="1447800" y="2038350"/>
            <a:ext cx="27813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64748B"/>
                </a:solidFill>
                <a:latin typeface="Plus Jakarta Sans"/>
                <a:ea typeface="Plus Jakarta Sans"/>
                <a:cs typeface="Plus Jakarta Sans"/>
                <a:sym typeface="Plus Jakarta Sans"/>
              </a:rPr>
              <a:t>Register, login, logout, sessions</a:t>
            </a:r>
            <a:endParaRPr b="0" sz="1200">
              <a:solidFill>
                <a:srgbClr val="64748B"/>
              </a:solidFill>
              <a:latin typeface="Plus Jakarta Sans"/>
              <a:ea typeface="Plus Jakarta Sans"/>
              <a:cs typeface="Plus Jakarta Sans"/>
              <a:sym typeface="Plus Jakarta Sans"/>
            </a:endParaRPr>
          </a:p>
        </p:txBody>
      </p:sp>
      <p:sp>
        <p:nvSpPr>
          <p:cNvPr id="61" name="Google Shape;61;p14"/>
          <p:cNvSpPr/>
          <p:nvPr/>
        </p:nvSpPr>
        <p:spPr>
          <a:xfrm>
            <a:off x="4686300" y="1181100"/>
            <a:ext cx="3924300" cy="16191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4914900" y="1409700"/>
            <a:ext cx="533400" cy="533400"/>
          </a:xfrm>
          <a:prstGeom prst="ellipse">
            <a:avLst/>
          </a:prstGeom>
          <a:solidFill>
            <a:srgbClr val="1F7A5C"/>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Plus Jakarta Sans"/>
                <a:ea typeface="Plus Jakarta Sans"/>
                <a:cs typeface="Plus Jakarta Sans"/>
                <a:sym typeface="Plus Jakarta Sans"/>
              </a:rPr>
              <a:t>MS</a:t>
            </a:r>
            <a:endParaRPr b="1" sz="1600">
              <a:solidFill>
                <a:srgbClr val="FFFFFF"/>
              </a:solidFill>
              <a:latin typeface="Plus Jakarta Sans"/>
              <a:ea typeface="Plus Jakarta Sans"/>
              <a:cs typeface="Plus Jakarta Sans"/>
              <a:sym typeface="Plus Jakarta Sans"/>
            </a:endParaRPr>
          </a:p>
        </p:txBody>
      </p:sp>
      <p:sp>
        <p:nvSpPr>
          <p:cNvPr id="63" name="Google Shape;63;p14"/>
          <p:cNvSpPr txBox="1"/>
          <p:nvPr/>
        </p:nvSpPr>
        <p:spPr>
          <a:xfrm>
            <a:off x="5600700" y="1409700"/>
            <a:ext cx="2781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F172A"/>
                </a:solidFill>
                <a:latin typeface="Plus Jakarta Sans"/>
                <a:ea typeface="Plus Jakarta Sans"/>
                <a:cs typeface="Plus Jakarta Sans"/>
                <a:sym typeface="Plus Jakarta Sans"/>
              </a:rPr>
              <a:t>Mohamad Safi</a:t>
            </a:r>
            <a:endParaRPr b="1" sz="1800">
              <a:solidFill>
                <a:srgbClr val="0F172A"/>
              </a:solidFill>
              <a:latin typeface="Plus Jakarta Sans"/>
              <a:ea typeface="Plus Jakarta Sans"/>
              <a:cs typeface="Plus Jakarta Sans"/>
              <a:sym typeface="Plus Jakarta Sans"/>
            </a:endParaRPr>
          </a:p>
        </p:txBody>
      </p:sp>
      <p:sp>
        <p:nvSpPr>
          <p:cNvPr id="64" name="Google Shape;64;p14"/>
          <p:cNvSpPr txBox="1"/>
          <p:nvPr/>
        </p:nvSpPr>
        <p:spPr>
          <a:xfrm>
            <a:off x="5600700" y="1752600"/>
            <a:ext cx="2781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F7A5C"/>
                </a:solidFill>
                <a:latin typeface="Plus Jakarta Sans"/>
                <a:ea typeface="Plus Jakarta Sans"/>
                <a:cs typeface="Plus Jakarta Sans"/>
                <a:sym typeface="Plus Jakarta Sans"/>
              </a:rPr>
              <a:t>Stocks &amp; Pricing</a:t>
            </a:r>
            <a:endParaRPr b="1" sz="1100">
              <a:solidFill>
                <a:srgbClr val="1F7A5C"/>
              </a:solidFill>
              <a:latin typeface="Plus Jakarta Sans"/>
              <a:ea typeface="Plus Jakarta Sans"/>
              <a:cs typeface="Plus Jakarta Sans"/>
              <a:sym typeface="Plus Jakarta Sans"/>
            </a:endParaRPr>
          </a:p>
        </p:txBody>
      </p:sp>
      <p:sp>
        <p:nvSpPr>
          <p:cNvPr id="65" name="Google Shape;65;p14"/>
          <p:cNvSpPr txBox="1"/>
          <p:nvPr/>
        </p:nvSpPr>
        <p:spPr>
          <a:xfrm>
            <a:off x="5600700" y="2038350"/>
            <a:ext cx="27813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64748B"/>
                </a:solidFill>
                <a:latin typeface="Plus Jakarta Sans"/>
                <a:ea typeface="Plus Jakarta Sans"/>
                <a:cs typeface="Plus Jakarta Sans"/>
                <a:sym typeface="Plus Jakarta Sans"/>
              </a:rPr>
              <a:t>Profile, stocks, Twelve Data prices, value &amp; gain</a:t>
            </a:r>
            <a:endParaRPr b="0" sz="1200">
              <a:solidFill>
                <a:srgbClr val="64748B"/>
              </a:solidFill>
              <a:latin typeface="Plus Jakarta Sans"/>
              <a:ea typeface="Plus Jakarta Sans"/>
              <a:cs typeface="Plus Jakarta Sans"/>
              <a:sym typeface="Plus Jakarta Sans"/>
            </a:endParaRPr>
          </a:p>
        </p:txBody>
      </p:sp>
      <p:sp>
        <p:nvSpPr>
          <p:cNvPr id="66" name="Google Shape;66;p14"/>
          <p:cNvSpPr/>
          <p:nvPr/>
        </p:nvSpPr>
        <p:spPr>
          <a:xfrm>
            <a:off x="533400" y="3028950"/>
            <a:ext cx="3924300" cy="16191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762000" y="3257550"/>
            <a:ext cx="533400" cy="533400"/>
          </a:xfrm>
          <a:prstGeom prst="ellipse">
            <a:avLst/>
          </a:prstGeom>
          <a:solidFill>
            <a:srgbClr val="1F7A5C"/>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Plus Jakarta Sans"/>
                <a:ea typeface="Plus Jakarta Sans"/>
                <a:cs typeface="Plus Jakarta Sans"/>
                <a:sym typeface="Plus Jakarta Sans"/>
              </a:rPr>
              <a:t>SS</a:t>
            </a:r>
            <a:endParaRPr b="1" sz="1600">
              <a:solidFill>
                <a:srgbClr val="FFFFFF"/>
              </a:solidFill>
              <a:latin typeface="Plus Jakarta Sans"/>
              <a:ea typeface="Plus Jakarta Sans"/>
              <a:cs typeface="Plus Jakarta Sans"/>
              <a:sym typeface="Plus Jakarta Sans"/>
            </a:endParaRPr>
          </a:p>
        </p:txBody>
      </p:sp>
      <p:sp>
        <p:nvSpPr>
          <p:cNvPr id="68" name="Google Shape;68;p14"/>
          <p:cNvSpPr txBox="1"/>
          <p:nvPr/>
        </p:nvSpPr>
        <p:spPr>
          <a:xfrm>
            <a:off x="1447800" y="3257550"/>
            <a:ext cx="2781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F172A"/>
                </a:solidFill>
                <a:latin typeface="Plus Jakarta Sans"/>
                <a:ea typeface="Plus Jakarta Sans"/>
                <a:cs typeface="Plus Jakarta Sans"/>
                <a:sym typeface="Plus Jakarta Sans"/>
              </a:rPr>
              <a:t>Shah Shamshiri</a:t>
            </a:r>
            <a:endParaRPr b="1" sz="1800">
              <a:solidFill>
                <a:srgbClr val="0F172A"/>
              </a:solidFill>
              <a:latin typeface="Plus Jakarta Sans"/>
              <a:ea typeface="Plus Jakarta Sans"/>
              <a:cs typeface="Plus Jakarta Sans"/>
              <a:sym typeface="Plus Jakarta Sans"/>
            </a:endParaRPr>
          </a:p>
        </p:txBody>
      </p:sp>
      <p:sp>
        <p:nvSpPr>
          <p:cNvPr id="69" name="Google Shape;69;p14"/>
          <p:cNvSpPr txBox="1"/>
          <p:nvPr/>
        </p:nvSpPr>
        <p:spPr>
          <a:xfrm>
            <a:off x="1447800" y="3600450"/>
            <a:ext cx="2781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F7A5C"/>
                </a:solidFill>
                <a:latin typeface="Plus Jakarta Sans"/>
                <a:ea typeface="Plus Jakarta Sans"/>
                <a:cs typeface="Plus Jakarta Sans"/>
                <a:sym typeface="Plus Jakarta Sans"/>
              </a:rPr>
              <a:t>Holdings &amp; Watchlist</a:t>
            </a:r>
            <a:endParaRPr b="1" sz="1100">
              <a:solidFill>
                <a:srgbClr val="1F7A5C"/>
              </a:solidFill>
              <a:latin typeface="Plus Jakarta Sans"/>
              <a:ea typeface="Plus Jakarta Sans"/>
              <a:cs typeface="Plus Jakarta Sans"/>
              <a:sym typeface="Plus Jakarta Sans"/>
            </a:endParaRPr>
          </a:p>
        </p:txBody>
      </p:sp>
      <p:sp>
        <p:nvSpPr>
          <p:cNvPr id="70" name="Google Shape;70;p14"/>
          <p:cNvSpPr txBox="1"/>
          <p:nvPr/>
        </p:nvSpPr>
        <p:spPr>
          <a:xfrm>
            <a:off x="1447800" y="3886200"/>
            <a:ext cx="27813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64748B"/>
                </a:solidFill>
                <a:latin typeface="Plus Jakarta Sans"/>
                <a:ea typeface="Plus Jakarta Sans"/>
                <a:cs typeface="Plus Jakarta Sans"/>
                <a:sym typeface="Plus Jakarta Sans"/>
              </a:rPr>
              <a:t>Holdings, watchlist, transactions</a:t>
            </a:r>
            <a:endParaRPr b="0" sz="1200">
              <a:solidFill>
                <a:srgbClr val="64748B"/>
              </a:solidFill>
              <a:latin typeface="Plus Jakarta Sans"/>
              <a:ea typeface="Plus Jakarta Sans"/>
              <a:cs typeface="Plus Jakarta Sans"/>
              <a:sym typeface="Plus Jakarta Sans"/>
            </a:endParaRPr>
          </a:p>
        </p:txBody>
      </p:sp>
      <p:sp>
        <p:nvSpPr>
          <p:cNvPr id="71" name="Google Shape;71;p14"/>
          <p:cNvSpPr/>
          <p:nvPr/>
        </p:nvSpPr>
        <p:spPr>
          <a:xfrm>
            <a:off x="4686300" y="3028950"/>
            <a:ext cx="3924300" cy="16191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p:nvPr/>
        </p:nvSpPr>
        <p:spPr>
          <a:xfrm>
            <a:off x="4914900" y="3257550"/>
            <a:ext cx="533400" cy="533400"/>
          </a:xfrm>
          <a:prstGeom prst="ellipse">
            <a:avLst/>
          </a:prstGeom>
          <a:solidFill>
            <a:srgbClr val="1F7A5C"/>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Plus Jakarta Sans"/>
                <a:ea typeface="Plus Jakarta Sans"/>
                <a:cs typeface="Plus Jakarta Sans"/>
                <a:sym typeface="Plus Jakarta Sans"/>
              </a:rPr>
              <a:t>JL</a:t>
            </a:r>
            <a:endParaRPr b="1" sz="1600">
              <a:solidFill>
                <a:srgbClr val="FFFFFF"/>
              </a:solidFill>
              <a:latin typeface="Plus Jakarta Sans"/>
              <a:ea typeface="Plus Jakarta Sans"/>
              <a:cs typeface="Plus Jakarta Sans"/>
              <a:sym typeface="Plus Jakarta Sans"/>
            </a:endParaRPr>
          </a:p>
        </p:txBody>
      </p:sp>
      <p:sp>
        <p:nvSpPr>
          <p:cNvPr id="73" name="Google Shape;73;p14"/>
          <p:cNvSpPr txBox="1"/>
          <p:nvPr/>
        </p:nvSpPr>
        <p:spPr>
          <a:xfrm>
            <a:off x="5600700" y="3257550"/>
            <a:ext cx="2781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F172A"/>
                </a:solidFill>
                <a:latin typeface="Plus Jakarta Sans"/>
                <a:ea typeface="Plus Jakarta Sans"/>
                <a:cs typeface="Plus Jakarta Sans"/>
                <a:sym typeface="Plus Jakarta Sans"/>
              </a:rPr>
              <a:t>Joshua Lee</a:t>
            </a:r>
            <a:endParaRPr b="1" sz="1800">
              <a:solidFill>
                <a:srgbClr val="0F172A"/>
              </a:solidFill>
              <a:latin typeface="Plus Jakarta Sans"/>
              <a:ea typeface="Plus Jakarta Sans"/>
              <a:cs typeface="Plus Jakarta Sans"/>
              <a:sym typeface="Plus Jakarta Sans"/>
            </a:endParaRPr>
          </a:p>
        </p:txBody>
      </p:sp>
      <p:sp>
        <p:nvSpPr>
          <p:cNvPr id="74" name="Google Shape;74;p14"/>
          <p:cNvSpPr txBox="1"/>
          <p:nvPr/>
        </p:nvSpPr>
        <p:spPr>
          <a:xfrm>
            <a:off x="5600700" y="3600450"/>
            <a:ext cx="2781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F7A5C"/>
                </a:solidFill>
                <a:latin typeface="Plus Jakarta Sans"/>
                <a:ea typeface="Plus Jakarta Sans"/>
                <a:cs typeface="Plus Jakarta Sans"/>
                <a:sym typeface="Plus Jakarta Sans"/>
              </a:rPr>
              <a:t>Frontend</a:t>
            </a:r>
            <a:endParaRPr b="1" sz="1100">
              <a:solidFill>
                <a:srgbClr val="1F7A5C"/>
              </a:solidFill>
              <a:latin typeface="Plus Jakarta Sans"/>
              <a:ea typeface="Plus Jakarta Sans"/>
              <a:cs typeface="Plus Jakarta Sans"/>
              <a:sym typeface="Plus Jakarta Sans"/>
            </a:endParaRPr>
          </a:p>
        </p:txBody>
      </p:sp>
      <p:sp>
        <p:nvSpPr>
          <p:cNvPr id="75" name="Google Shape;75;p14"/>
          <p:cNvSpPr txBox="1"/>
          <p:nvPr/>
        </p:nvSpPr>
        <p:spPr>
          <a:xfrm>
            <a:off x="5600700" y="3886200"/>
            <a:ext cx="27813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64748B"/>
                </a:solidFill>
                <a:latin typeface="Plus Jakarta Sans"/>
                <a:ea typeface="Plus Jakarta Sans"/>
                <a:cs typeface="Plus Jakarta Sans"/>
                <a:sym typeface="Plus Jakarta Sans"/>
              </a:rPr>
              <a:t>HTML, CSS and jQuery pages</a:t>
            </a:r>
            <a:endParaRPr b="0" sz="1200">
              <a:solidFill>
                <a:srgbClr val="64748B"/>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9" name="Shape 79"/>
        <p:cNvGrpSpPr/>
        <p:nvPr/>
      </p:nvGrpSpPr>
      <p:grpSpPr>
        <a:xfrm>
          <a:off x="0" y="0"/>
          <a:ext cx="0" cy="0"/>
          <a:chOff x="0" y="0"/>
          <a:chExt cx="0" cy="0"/>
        </a:xfrm>
      </p:grpSpPr>
      <p:sp>
        <p:nvSpPr>
          <p:cNvPr id="80" name="Google Shape;80;p15"/>
          <p:cNvSpPr txBox="1"/>
          <p:nvPr/>
        </p:nvSpPr>
        <p:spPr>
          <a:xfrm>
            <a:off x="457200" y="365760"/>
            <a:ext cx="82296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rgbClr val="1F2937"/>
                </a:solidFill>
                <a:latin typeface="Lato"/>
                <a:ea typeface="Lato"/>
                <a:cs typeface="Lato"/>
                <a:sym typeface="Lato"/>
              </a:rPr>
              <a:t>The problem</a:t>
            </a:r>
            <a:endParaRPr b="1" sz="3600">
              <a:solidFill>
                <a:srgbClr val="1F2937"/>
              </a:solidFill>
              <a:latin typeface="Lato"/>
              <a:ea typeface="Lato"/>
              <a:cs typeface="Lato"/>
              <a:sym typeface="Lato"/>
            </a:endParaRPr>
          </a:p>
        </p:txBody>
      </p:sp>
      <p:sp>
        <p:nvSpPr>
          <p:cNvPr id="81" name="Google Shape;81;p15"/>
          <p:cNvSpPr/>
          <p:nvPr/>
        </p:nvSpPr>
        <p:spPr>
          <a:xfrm>
            <a:off x="457200" y="1280160"/>
            <a:ext cx="8229600" cy="8688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5"/>
          <p:cNvSpPr/>
          <p:nvPr/>
        </p:nvSpPr>
        <p:spPr>
          <a:xfrm>
            <a:off x="685800" y="1463040"/>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1</a:t>
            </a:r>
            <a:endParaRPr b="1" sz="1600">
              <a:solidFill>
                <a:srgbClr val="FFFFFF"/>
              </a:solidFill>
              <a:latin typeface="Lato"/>
              <a:ea typeface="Lato"/>
              <a:cs typeface="Lato"/>
              <a:sym typeface="Lato"/>
            </a:endParaRPr>
          </a:p>
        </p:txBody>
      </p:sp>
      <p:sp>
        <p:nvSpPr>
          <p:cNvPr id="83" name="Google Shape;83;p15"/>
          <p:cNvSpPr txBox="1"/>
          <p:nvPr/>
        </p:nvSpPr>
        <p:spPr>
          <a:xfrm>
            <a:off x="1417320" y="1280160"/>
            <a:ext cx="7041000" cy="86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F2937"/>
                </a:solidFill>
                <a:latin typeface="Lato"/>
                <a:ea typeface="Lato"/>
                <a:cs typeface="Lato"/>
                <a:sym typeface="Lato"/>
              </a:rPr>
              <a:t>People track their shares in notes or spreadsheets that are quickly out of date.</a:t>
            </a:r>
            <a:endParaRPr sz="1800">
              <a:solidFill>
                <a:srgbClr val="1F2937"/>
              </a:solidFill>
              <a:latin typeface="Lato"/>
              <a:ea typeface="Lato"/>
              <a:cs typeface="Lato"/>
              <a:sym typeface="Lato"/>
            </a:endParaRPr>
          </a:p>
        </p:txBody>
      </p:sp>
      <p:sp>
        <p:nvSpPr>
          <p:cNvPr id="84" name="Google Shape;84;p15"/>
          <p:cNvSpPr/>
          <p:nvPr/>
        </p:nvSpPr>
        <p:spPr>
          <a:xfrm>
            <a:off x="457200" y="2331720"/>
            <a:ext cx="8229600" cy="8688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685800" y="2514600"/>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2</a:t>
            </a:r>
            <a:endParaRPr b="1" sz="1600">
              <a:solidFill>
                <a:srgbClr val="FFFFFF"/>
              </a:solidFill>
              <a:latin typeface="Lato"/>
              <a:ea typeface="Lato"/>
              <a:cs typeface="Lato"/>
              <a:sym typeface="Lato"/>
            </a:endParaRPr>
          </a:p>
        </p:txBody>
      </p:sp>
      <p:sp>
        <p:nvSpPr>
          <p:cNvPr id="86" name="Google Shape;86;p15"/>
          <p:cNvSpPr txBox="1"/>
          <p:nvPr/>
        </p:nvSpPr>
        <p:spPr>
          <a:xfrm>
            <a:off x="1417320" y="2331720"/>
            <a:ext cx="7041000" cy="86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F2937"/>
                </a:solidFill>
                <a:latin typeface="Lato"/>
                <a:ea typeface="Lato"/>
                <a:cs typeface="Lato"/>
                <a:sym typeface="Lato"/>
              </a:rPr>
              <a:t>Prices keep moving and share prices change all day.</a:t>
            </a:r>
            <a:endParaRPr sz="1800">
              <a:solidFill>
                <a:srgbClr val="1F2937"/>
              </a:solidFill>
              <a:latin typeface="Lato"/>
              <a:ea typeface="Lato"/>
              <a:cs typeface="Lato"/>
              <a:sym typeface="Lato"/>
            </a:endParaRPr>
          </a:p>
        </p:txBody>
      </p:sp>
      <p:sp>
        <p:nvSpPr>
          <p:cNvPr id="87" name="Google Shape;87;p15"/>
          <p:cNvSpPr/>
          <p:nvPr/>
        </p:nvSpPr>
        <p:spPr>
          <a:xfrm>
            <a:off x="457200" y="3383280"/>
            <a:ext cx="8229600" cy="8688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p:nvPr/>
        </p:nvSpPr>
        <p:spPr>
          <a:xfrm>
            <a:off x="685800" y="3566160"/>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3</a:t>
            </a:r>
            <a:endParaRPr b="1" sz="1600">
              <a:solidFill>
                <a:srgbClr val="FFFFFF"/>
              </a:solidFill>
              <a:latin typeface="Lato"/>
              <a:ea typeface="Lato"/>
              <a:cs typeface="Lato"/>
              <a:sym typeface="Lato"/>
            </a:endParaRPr>
          </a:p>
        </p:txBody>
      </p:sp>
      <p:sp>
        <p:nvSpPr>
          <p:cNvPr id="89" name="Google Shape;89;p15"/>
          <p:cNvSpPr txBox="1"/>
          <p:nvPr/>
        </p:nvSpPr>
        <p:spPr>
          <a:xfrm>
            <a:off x="1417320" y="3383280"/>
            <a:ext cx="7041000" cy="86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F2937"/>
                </a:solidFill>
                <a:latin typeface="Lato"/>
                <a:ea typeface="Lato"/>
                <a:cs typeface="Lato"/>
                <a:sym typeface="Lato"/>
              </a:rPr>
              <a:t>Working out gain and loss by hand is slow and easy to get wrong.</a:t>
            </a:r>
            <a:endParaRPr sz="1800">
              <a:solidFill>
                <a:srgbClr val="1F2937"/>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6"/>
          <p:cNvSpPr txBox="1"/>
          <p:nvPr/>
        </p:nvSpPr>
        <p:spPr>
          <a:xfrm>
            <a:off x="457200" y="342900"/>
            <a:ext cx="82296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1F2937"/>
                </a:solidFill>
                <a:latin typeface="Lato"/>
                <a:ea typeface="Lato"/>
                <a:cs typeface="Lato"/>
                <a:sym typeface="Lato"/>
              </a:rPr>
              <a:t>Our solution: one place for everything</a:t>
            </a:r>
            <a:endParaRPr b="1" sz="3200">
              <a:solidFill>
                <a:srgbClr val="1F2937"/>
              </a:solidFill>
              <a:latin typeface="Lato"/>
              <a:ea typeface="Lato"/>
              <a:cs typeface="Lato"/>
              <a:sym typeface="Lato"/>
            </a:endParaRPr>
          </a:p>
        </p:txBody>
      </p:sp>
      <p:sp>
        <p:nvSpPr>
          <p:cNvPr id="95" name="Google Shape;95;p16"/>
          <p:cNvSpPr/>
          <p:nvPr/>
        </p:nvSpPr>
        <p:spPr>
          <a:xfrm>
            <a:off x="457200" y="1104900"/>
            <a:ext cx="3619500" cy="3429000"/>
          </a:xfrm>
          <a:prstGeom prst="roundRect">
            <a:avLst>
              <a:gd fmla="val 4444" name="adj"/>
            </a:avLst>
          </a:prstGeom>
          <a:solidFill>
            <a:srgbClr val="E9F2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6"/>
          <p:cNvSpPr/>
          <p:nvPr/>
        </p:nvSpPr>
        <p:spPr>
          <a:xfrm>
            <a:off x="685800" y="3695700"/>
            <a:ext cx="3162300" cy="609600"/>
          </a:xfrm>
          <a:prstGeom prst="roundRect">
            <a:avLst>
              <a:gd fmla="val 18750" name="adj"/>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6"/>
          <p:cNvSpPr txBox="1"/>
          <p:nvPr/>
        </p:nvSpPr>
        <p:spPr>
          <a:xfrm>
            <a:off x="685800" y="1333500"/>
            <a:ext cx="3162300" cy="2190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F2937"/>
                </a:solidFill>
                <a:latin typeface="Lato"/>
                <a:ea typeface="Lato"/>
                <a:cs typeface="Lato"/>
                <a:sym typeface="Lato"/>
              </a:rPr>
              <a:t>Log in, and see everything you own, what it is worth right now, and how much you have made or lost.</a:t>
            </a:r>
            <a:endParaRPr b="1" sz="2200">
              <a:solidFill>
                <a:srgbClr val="1F2937"/>
              </a:solidFill>
              <a:latin typeface="Lato"/>
              <a:ea typeface="Lato"/>
              <a:cs typeface="Lato"/>
              <a:sym typeface="Lato"/>
            </a:endParaRPr>
          </a:p>
        </p:txBody>
      </p:sp>
      <p:sp>
        <p:nvSpPr>
          <p:cNvPr id="98" name="Google Shape;98;p16"/>
          <p:cNvSpPr txBox="1"/>
          <p:nvPr/>
        </p:nvSpPr>
        <p:spPr>
          <a:xfrm>
            <a:off x="685800" y="3695700"/>
            <a:ext cx="31623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1" lang="en" sz="1400">
                <a:solidFill>
                  <a:srgbClr val="FFFFFF"/>
                </a:solidFill>
                <a:latin typeface="Lato"/>
                <a:ea typeface="Lato"/>
                <a:cs typeface="Lato"/>
                <a:sym typeface="Lato"/>
              </a:rPr>
              <a:t>No spreadsheets. No sums by hand.</a:t>
            </a:r>
            <a:endParaRPr b="1" i="1" sz="1400">
              <a:solidFill>
                <a:srgbClr val="FFFFFF"/>
              </a:solidFill>
              <a:latin typeface="Lato"/>
              <a:ea typeface="Lato"/>
              <a:cs typeface="Lato"/>
              <a:sym typeface="Lato"/>
            </a:endParaRPr>
          </a:p>
        </p:txBody>
      </p:sp>
      <p:sp>
        <p:nvSpPr>
          <p:cNvPr id="99" name="Google Shape;99;p16"/>
          <p:cNvSpPr/>
          <p:nvPr/>
        </p:nvSpPr>
        <p:spPr>
          <a:xfrm>
            <a:off x="4267200" y="1104900"/>
            <a:ext cx="4419600" cy="1028700"/>
          </a:xfrm>
          <a:prstGeom prst="roundRect">
            <a:avLst>
              <a:gd fmla="val 1481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6"/>
          <p:cNvSpPr/>
          <p:nvPr/>
        </p:nvSpPr>
        <p:spPr>
          <a:xfrm>
            <a:off x="4457700" y="1352550"/>
            <a:ext cx="533400" cy="5334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1" name="Google Shape;101;p16"/>
          <p:cNvPicPr preferRelativeResize="0"/>
          <p:nvPr/>
        </p:nvPicPr>
        <p:blipFill rotWithShape="1">
          <a:blip r:embed="rId4">
            <a:alphaModFix/>
          </a:blip>
          <a:srcRect b="0" l="0" r="0" t="0"/>
          <a:stretch/>
        </p:blipFill>
        <p:spPr>
          <a:xfrm>
            <a:off x="4572000" y="1466850"/>
            <a:ext cx="266700" cy="266700"/>
          </a:xfrm>
          <a:prstGeom prst="rect">
            <a:avLst/>
          </a:prstGeom>
          <a:noFill/>
          <a:ln>
            <a:noFill/>
          </a:ln>
        </p:spPr>
      </p:pic>
      <p:sp>
        <p:nvSpPr>
          <p:cNvPr id="102" name="Google Shape;102;p16"/>
          <p:cNvSpPr txBox="1"/>
          <p:nvPr/>
        </p:nvSpPr>
        <p:spPr>
          <a:xfrm>
            <a:off x="5143500" y="1257300"/>
            <a:ext cx="3333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F2937"/>
                </a:solidFill>
                <a:latin typeface="Lato"/>
                <a:ea typeface="Lato"/>
                <a:cs typeface="Lato"/>
                <a:sym typeface="Lato"/>
              </a:rPr>
              <a:t>Everything in one place</a:t>
            </a:r>
            <a:endParaRPr b="1" sz="1600">
              <a:solidFill>
                <a:srgbClr val="1F2937"/>
              </a:solidFill>
              <a:latin typeface="Lato"/>
              <a:ea typeface="Lato"/>
              <a:cs typeface="Lato"/>
              <a:sym typeface="Lato"/>
            </a:endParaRPr>
          </a:p>
        </p:txBody>
      </p:sp>
      <p:sp>
        <p:nvSpPr>
          <p:cNvPr id="103" name="Google Shape;103;p16"/>
          <p:cNvSpPr txBox="1"/>
          <p:nvPr/>
        </p:nvSpPr>
        <p:spPr>
          <a:xfrm>
            <a:off x="5143500" y="1562100"/>
            <a:ext cx="3333900" cy="4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Lato"/>
                <a:ea typeface="Lato"/>
                <a:cs typeface="Lato"/>
                <a:sym typeface="Lato"/>
              </a:rPr>
              <a:t>All your shares in a single, private account</a:t>
            </a:r>
            <a:endParaRPr b="0" sz="1300">
              <a:solidFill>
                <a:srgbClr val="4B5563"/>
              </a:solidFill>
              <a:latin typeface="Lato"/>
              <a:ea typeface="Lato"/>
              <a:cs typeface="Lato"/>
              <a:sym typeface="Lato"/>
            </a:endParaRPr>
          </a:p>
        </p:txBody>
      </p:sp>
      <p:sp>
        <p:nvSpPr>
          <p:cNvPr id="104" name="Google Shape;104;p16"/>
          <p:cNvSpPr/>
          <p:nvPr/>
        </p:nvSpPr>
        <p:spPr>
          <a:xfrm>
            <a:off x="4267200" y="2305050"/>
            <a:ext cx="4419600" cy="1028700"/>
          </a:xfrm>
          <a:prstGeom prst="roundRect">
            <a:avLst>
              <a:gd fmla="val 1481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6"/>
          <p:cNvSpPr/>
          <p:nvPr/>
        </p:nvSpPr>
        <p:spPr>
          <a:xfrm>
            <a:off x="4457700" y="2552700"/>
            <a:ext cx="533400" cy="533400"/>
          </a:xfrm>
          <a:prstGeom prst="ellipse">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6" name="Google Shape;106;p16"/>
          <p:cNvPicPr preferRelativeResize="0"/>
          <p:nvPr/>
        </p:nvPicPr>
        <p:blipFill rotWithShape="1">
          <a:blip r:embed="rId5">
            <a:alphaModFix/>
          </a:blip>
          <a:srcRect b="0" l="0" r="0" t="0"/>
          <a:stretch/>
        </p:blipFill>
        <p:spPr>
          <a:xfrm>
            <a:off x="4572000" y="2667000"/>
            <a:ext cx="266700" cy="266700"/>
          </a:xfrm>
          <a:prstGeom prst="rect">
            <a:avLst/>
          </a:prstGeom>
          <a:noFill/>
          <a:ln>
            <a:noFill/>
          </a:ln>
        </p:spPr>
      </p:pic>
      <p:sp>
        <p:nvSpPr>
          <p:cNvPr id="107" name="Google Shape;107;p16"/>
          <p:cNvSpPr txBox="1"/>
          <p:nvPr/>
        </p:nvSpPr>
        <p:spPr>
          <a:xfrm>
            <a:off x="5143500" y="2457450"/>
            <a:ext cx="3333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F2937"/>
                </a:solidFill>
                <a:latin typeface="Lato"/>
                <a:ea typeface="Lato"/>
                <a:cs typeface="Lato"/>
                <a:sym typeface="Lato"/>
              </a:rPr>
              <a:t>Live prices</a:t>
            </a:r>
            <a:endParaRPr b="1" sz="1600">
              <a:solidFill>
                <a:srgbClr val="1F2937"/>
              </a:solidFill>
              <a:latin typeface="Lato"/>
              <a:ea typeface="Lato"/>
              <a:cs typeface="Lato"/>
              <a:sym typeface="Lato"/>
            </a:endParaRPr>
          </a:p>
        </p:txBody>
      </p:sp>
      <p:sp>
        <p:nvSpPr>
          <p:cNvPr id="108" name="Google Shape;108;p16"/>
          <p:cNvSpPr txBox="1"/>
          <p:nvPr/>
        </p:nvSpPr>
        <p:spPr>
          <a:xfrm>
            <a:off x="5143500" y="2762250"/>
            <a:ext cx="3333900" cy="4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Lato"/>
                <a:ea typeface="Lato"/>
                <a:cs typeface="Lato"/>
                <a:sym typeface="Lato"/>
              </a:rPr>
              <a:t>Up-to-date prices from a real stock market data service</a:t>
            </a:r>
            <a:endParaRPr b="0" sz="1300">
              <a:solidFill>
                <a:srgbClr val="4B5563"/>
              </a:solidFill>
              <a:latin typeface="Lato"/>
              <a:ea typeface="Lato"/>
              <a:cs typeface="Lato"/>
              <a:sym typeface="Lato"/>
            </a:endParaRPr>
          </a:p>
        </p:txBody>
      </p:sp>
      <p:sp>
        <p:nvSpPr>
          <p:cNvPr id="109" name="Google Shape;109;p16"/>
          <p:cNvSpPr/>
          <p:nvPr/>
        </p:nvSpPr>
        <p:spPr>
          <a:xfrm>
            <a:off x="4267200" y="3505200"/>
            <a:ext cx="4419600" cy="1028700"/>
          </a:xfrm>
          <a:prstGeom prst="roundRect">
            <a:avLst>
              <a:gd fmla="val 1481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6"/>
          <p:cNvSpPr/>
          <p:nvPr/>
        </p:nvSpPr>
        <p:spPr>
          <a:xfrm>
            <a:off x="4457700" y="3752850"/>
            <a:ext cx="533400" cy="533400"/>
          </a:xfrm>
          <a:prstGeom prst="ellipse">
            <a:avLst/>
          </a:prstGeom>
          <a:solidFill>
            <a:srgbClr val="1580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1" name="Google Shape;111;p16"/>
          <p:cNvPicPr preferRelativeResize="0"/>
          <p:nvPr/>
        </p:nvPicPr>
        <p:blipFill rotWithShape="1">
          <a:blip r:embed="rId6">
            <a:alphaModFix/>
          </a:blip>
          <a:srcRect b="0" l="0" r="0" t="0"/>
          <a:stretch/>
        </p:blipFill>
        <p:spPr>
          <a:xfrm>
            <a:off x="4572000" y="3867150"/>
            <a:ext cx="266700" cy="266700"/>
          </a:xfrm>
          <a:prstGeom prst="rect">
            <a:avLst/>
          </a:prstGeom>
          <a:noFill/>
          <a:ln>
            <a:noFill/>
          </a:ln>
        </p:spPr>
      </p:pic>
      <p:sp>
        <p:nvSpPr>
          <p:cNvPr id="112" name="Google Shape;112;p16"/>
          <p:cNvSpPr txBox="1"/>
          <p:nvPr/>
        </p:nvSpPr>
        <p:spPr>
          <a:xfrm>
            <a:off x="5143500" y="3657600"/>
            <a:ext cx="3333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F2937"/>
                </a:solidFill>
                <a:latin typeface="Lato"/>
                <a:ea typeface="Lato"/>
                <a:cs typeface="Lato"/>
                <a:sym typeface="Lato"/>
              </a:rPr>
              <a:t>Instant results</a:t>
            </a:r>
            <a:endParaRPr b="1" sz="1600">
              <a:solidFill>
                <a:srgbClr val="1F2937"/>
              </a:solidFill>
              <a:latin typeface="Lato"/>
              <a:ea typeface="Lato"/>
              <a:cs typeface="Lato"/>
              <a:sym typeface="Lato"/>
            </a:endParaRPr>
          </a:p>
        </p:txBody>
      </p:sp>
      <p:sp>
        <p:nvSpPr>
          <p:cNvPr id="113" name="Google Shape;113;p16"/>
          <p:cNvSpPr txBox="1"/>
          <p:nvPr/>
        </p:nvSpPr>
        <p:spPr>
          <a:xfrm>
            <a:off x="5143500" y="3962400"/>
            <a:ext cx="3333900" cy="4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Lato"/>
                <a:ea typeface="Lato"/>
                <a:cs typeface="Lato"/>
                <a:sym typeface="Lato"/>
              </a:rPr>
              <a:t>Profit or loss worked out for you, as an amount and a percentage</a:t>
            </a:r>
            <a:endParaRPr b="0" sz="1300">
              <a:solidFill>
                <a:srgbClr val="4B5563"/>
              </a:solidFill>
              <a:latin typeface="Lato"/>
              <a:ea typeface="Lato"/>
              <a:cs typeface="Lato"/>
              <a:sym typeface="Lato"/>
            </a:endParaRPr>
          </a:p>
        </p:txBody>
      </p:sp>
      <p:sp>
        <p:nvSpPr>
          <p:cNvPr id="114" name="Google Shape;114;p16"/>
          <p:cNvSpPr txBox="1"/>
          <p:nvPr/>
        </p:nvSpPr>
        <p:spPr>
          <a:xfrm>
            <a:off x="8382000" y="4686300"/>
            <a:ext cx="3048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 sz="1200">
                <a:solidFill>
                  <a:srgbClr val="9CA3AF"/>
                </a:solidFill>
                <a:latin typeface="Lato"/>
                <a:ea typeface="Lato"/>
                <a:cs typeface="Lato"/>
                <a:sym typeface="Lato"/>
              </a:rPr>
              <a:t>4</a:t>
            </a:r>
            <a:endParaRPr b="0" sz="1200">
              <a:solidFill>
                <a:srgbClr val="9CA3AF"/>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nvSpPr>
        <p:spPr>
          <a:xfrm>
            <a:off x="457200" y="27432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000">
                <a:solidFill>
                  <a:srgbClr val="0F1B2D"/>
                </a:solidFill>
                <a:latin typeface="Cambria"/>
                <a:ea typeface="Cambria"/>
                <a:cs typeface="Cambria"/>
                <a:sym typeface="Cambria"/>
              </a:rPr>
              <a:t>How someone uses it </a:t>
            </a:r>
            <a:endParaRPr b="1" sz="3000">
              <a:solidFill>
                <a:srgbClr val="0F1B2D"/>
              </a:solidFill>
              <a:latin typeface="Cambria"/>
              <a:ea typeface="Cambria"/>
              <a:cs typeface="Cambria"/>
              <a:sym typeface="Cambria"/>
            </a:endParaRPr>
          </a:p>
        </p:txBody>
      </p:sp>
      <p:cxnSp>
        <p:nvCxnSpPr>
          <p:cNvPr id="120" name="Google Shape;120;p17"/>
          <p:cNvCxnSpPr/>
          <p:nvPr/>
        </p:nvCxnSpPr>
        <p:spPr>
          <a:xfrm>
            <a:off x="1051560" y="1874520"/>
            <a:ext cx="7041000" cy="0"/>
          </a:xfrm>
          <a:prstGeom prst="straightConnector1">
            <a:avLst/>
          </a:prstGeom>
          <a:noFill/>
          <a:ln cap="flat" cmpd="sng" w="25400">
            <a:solidFill>
              <a:srgbClr val="CBD5E1"/>
            </a:solidFill>
            <a:prstDash val="solid"/>
            <a:round/>
            <a:headEnd len="sm" w="sm" type="none"/>
            <a:tailEnd len="sm" w="sm" type="none"/>
          </a:ln>
        </p:spPr>
      </p:cxnSp>
      <p:sp>
        <p:nvSpPr>
          <p:cNvPr id="121" name="Google Shape;121;p17"/>
          <p:cNvSpPr/>
          <p:nvPr/>
        </p:nvSpPr>
        <p:spPr>
          <a:xfrm>
            <a:off x="640080" y="1463040"/>
            <a:ext cx="822900" cy="822900"/>
          </a:xfrm>
          <a:prstGeom prst="ellipse">
            <a:avLst/>
          </a:prstGeom>
          <a:solidFill>
            <a:srgbClr val="6D28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17"/>
          <p:cNvPicPr preferRelativeResize="0"/>
          <p:nvPr/>
        </p:nvPicPr>
        <p:blipFill rotWithShape="1">
          <a:blip r:embed="rId3">
            <a:alphaModFix/>
          </a:blip>
          <a:srcRect b="0" l="0" r="0" t="0"/>
          <a:stretch/>
        </p:blipFill>
        <p:spPr>
          <a:xfrm>
            <a:off x="845820" y="1668780"/>
            <a:ext cx="411480" cy="411480"/>
          </a:xfrm>
          <a:prstGeom prst="rect">
            <a:avLst/>
          </a:prstGeom>
          <a:noFill/>
          <a:ln>
            <a:noFill/>
          </a:ln>
        </p:spPr>
      </p:pic>
      <p:sp>
        <p:nvSpPr>
          <p:cNvPr id="123" name="Google Shape;123;p17"/>
          <p:cNvSpPr txBox="1"/>
          <p:nvPr/>
        </p:nvSpPr>
        <p:spPr>
          <a:xfrm>
            <a:off x="274320" y="2514600"/>
            <a:ext cx="15546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1. Sign up</a:t>
            </a:r>
            <a:endParaRPr b="0" i="0" sz="1700" u="none" cap="none" strike="noStrike">
              <a:solidFill>
                <a:srgbClr val="1B2433"/>
              </a:solidFill>
              <a:latin typeface="Calibri"/>
              <a:ea typeface="Calibri"/>
              <a:cs typeface="Calibri"/>
              <a:sym typeface="Calibri"/>
            </a:endParaRPr>
          </a:p>
        </p:txBody>
      </p:sp>
      <p:sp>
        <p:nvSpPr>
          <p:cNvPr id="124" name="Google Shape;124;p17"/>
          <p:cNvSpPr txBox="1"/>
          <p:nvPr/>
        </p:nvSpPr>
        <p:spPr>
          <a:xfrm>
            <a:off x="274320" y="2926080"/>
            <a:ext cx="1554600" cy="82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Create a private account</a:t>
            </a:r>
            <a:endParaRPr b="0" i="0" sz="1300" u="none" cap="none" strike="noStrike">
              <a:solidFill>
                <a:srgbClr val="1B2433"/>
              </a:solidFill>
              <a:latin typeface="Calibri"/>
              <a:ea typeface="Calibri"/>
              <a:cs typeface="Calibri"/>
              <a:sym typeface="Calibri"/>
            </a:endParaRPr>
          </a:p>
        </p:txBody>
      </p:sp>
      <p:sp>
        <p:nvSpPr>
          <p:cNvPr id="125" name="Google Shape;125;p17"/>
          <p:cNvSpPr/>
          <p:nvPr/>
        </p:nvSpPr>
        <p:spPr>
          <a:xfrm>
            <a:off x="2400300" y="1463040"/>
            <a:ext cx="822900" cy="822900"/>
          </a:xfrm>
          <a:prstGeom prst="ellipse">
            <a:avLst/>
          </a:prstGeom>
          <a:solidFill>
            <a:srgbClr val="6D28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17"/>
          <p:cNvPicPr preferRelativeResize="0"/>
          <p:nvPr/>
        </p:nvPicPr>
        <p:blipFill rotWithShape="1">
          <a:blip r:embed="rId4">
            <a:alphaModFix/>
          </a:blip>
          <a:srcRect b="0" l="0" r="0" t="0"/>
          <a:stretch/>
        </p:blipFill>
        <p:spPr>
          <a:xfrm>
            <a:off x="2606040" y="1668780"/>
            <a:ext cx="411480" cy="411480"/>
          </a:xfrm>
          <a:prstGeom prst="rect">
            <a:avLst/>
          </a:prstGeom>
          <a:noFill/>
          <a:ln>
            <a:noFill/>
          </a:ln>
        </p:spPr>
      </p:pic>
      <p:sp>
        <p:nvSpPr>
          <p:cNvPr id="127" name="Google Shape;127;p17"/>
          <p:cNvSpPr txBox="1"/>
          <p:nvPr/>
        </p:nvSpPr>
        <p:spPr>
          <a:xfrm>
            <a:off x="2034540" y="2514600"/>
            <a:ext cx="15546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2. Log in</a:t>
            </a:r>
            <a:endParaRPr b="0" i="0" sz="1700" u="none" cap="none" strike="noStrike">
              <a:solidFill>
                <a:srgbClr val="1B2433"/>
              </a:solidFill>
              <a:latin typeface="Calibri"/>
              <a:ea typeface="Calibri"/>
              <a:cs typeface="Calibri"/>
              <a:sym typeface="Calibri"/>
            </a:endParaRPr>
          </a:p>
        </p:txBody>
      </p:sp>
      <p:sp>
        <p:nvSpPr>
          <p:cNvPr id="128" name="Google Shape;128;p17"/>
          <p:cNvSpPr txBox="1"/>
          <p:nvPr/>
        </p:nvSpPr>
        <p:spPr>
          <a:xfrm>
            <a:off x="2034540" y="2926080"/>
            <a:ext cx="1554600" cy="82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Securely, with a password</a:t>
            </a:r>
            <a:endParaRPr b="0" i="0" sz="1300" u="none" cap="none" strike="noStrike">
              <a:solidFill>
                <a:srgbClr val="1B2433"/>
              </a:solidFill>
              <a:latin typeface="Calibri"/>
              <a:ea typeface="Calibri"/>
              <a:cs typeface="Calibri"/>
              <a:sym typeface="Calibri"/>
            </a:endParaRPr>
          </a:p>
        </p:txBody>
      </p:sp>
      <p:sp>
        <p:nvSpPr>
          <p:cNvPr id="129" name="Google Shape;129;p17"/>
          <p:cNvSpPr/>
          <p:nvPr/>
        </p:nvSpPr>
        <p:spPr>
          <a:xfrm>
            <a:off x="4160520" y="1463040"/>
            <a:ext cx="822900" cy="82290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17"/>
          <p:cNvPicPr preferRelativeResize="0"/>
          <p:nvPr/>
        </p:nvPicPr>
        <p:blipFill rotWithShape="1">
          <a:blip r:embed="rId5">
            <a:alphaModFix/>
          </a:blip>
          <a:srcRect b="0" l="0" r="0" t="0"/>
          <a:stretch/>
        </p:blipFill>
        <p:spPr>
          <a:xfrm>
            <a:off x="4366260" y="1668780"/>
            <a:ext cx="411480" cy="411480"/>
          </a:xfrm>
          <a:prstGeom prst="rect">
            <a:avLst/>
          </a:prstGeom>
          <a:noFill/>
          <a:ln>
            <a:noFill/>
          </a:ln>
        </p:spPr>
      </p:pic>
      <p:sp>
        <p:nvSpPr>
          <p:cNvPr id="131" name="Google Shape;131;p17"/>
          <p:cNvSpPr txBox="1"/>
          <p:nvPr/>
        </p:nvSpPr>
        <p:spPr>
          <a:xfrm>
            <a:off x="3794760" y="2514600"/>
            <a:ext cx="15546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3. Add shares</a:t>
            </a:r>
            <a:endParaRPr b="0" i="0" sz="1700" u="none" cap="none" strike="noStrike">
              <a:solidFill>
                <a:srgbClr val="1B2433"/>
              </a:solidFill>
              <a:latin typeface="Calibri"/>
              <a:ea typeface="Calibri"/>
              <a:cs typeface="Calibri"/>
              <a:sym typeface="Calibri"/>
            </a:endParaRPr>
          </a:p>
        </p:txBody>
      </p:sp>
      <p:sp>
        <p:nvSpPr>
          <p:cNvPr id="132" name="Google Shape;132;p17"/>
          <p:cNvSpPr txBox="1"/>
          <p:nvPr/>
        </p:nvSpPr>
        <p:spPr>
          <a:xfrm>
            <a:off x="3794760" y="2926080"/>
            <a:ext cx="1554600" cy="82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Which company, how many, what you paid</a:t>
            </a:r>
            <a:endParaRPr b="0" i="0" sz="1300" u="none" cap="none" strike="noStrike">
              <a:solidFill>
                <a:srgbClr val="1B2433"/>
              </a:solidFill>
              <a:latin typeface="Calibri"/>
              <a:ea typeface="Calibri"/>
              <a:cs typeface="Calibri"/>
              <a:sym typeface="Calibri"/>
            </a:endParaRPr>
          </a:p>
        </p:txBody>
      </p:sp>
      <p:sp>
        <p:nvSpPr>
          <p:cNvPr id="133" name="Google Shape;133;p17"/>
          <p:cNvSpPr/>
          <p:nvPr/>
        </p:nvSpPr>
        <p:spPr>
          <a:xfrm>
            <a:off x="5920740" y="1463040"/>
            <a:ext cx="822900" cy="8229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 name="Google Shape;134;p17"/>
          <p:cNvPicPr preferRelativeResize="0"/>
          <p:nvPr/>
        </p:nvPicPr>
        <p:blipFill rotWithShape="1">
          <a:blip r:embed="rId6">
            <a:alphaModFix/>
          </a:blip>
          <a:srcRect b="0" l="0" r="0" t="0"/>
          <a:stretch/>
        </p:blipFill>
        <p:spPr>
          <a:xfrm>
            <a:off x="6126480" y="1668780"/>
            <a:ext cx="411480" cy="411480"/>
          </a:xfrm>
          <a:prstGeom prst="rect">
            <a:avLst/>
          </a:prstGeom>
          <a:noFill/>
          <a:ln>
            <a:noFill/>
          </a:ln>
        </p:spPr>
      </p:pic>
      <p:sp>
        <p:nvSpPr>
          <p:cNvPr id="135" name="Google Shape;135;p17"/>
          <p:cNvSpPr txBox="1"/>
          <p:nvPr/>
        </p:nvSpPr>
        <p:spPr>
          <a:xfrm>
            <a:off x="5554980" y="2514600"/>
            <a:ext cx="15546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4. Check prices</a:t>
            </a:r>
            <a:endParaRPr b="0" i="0" sz="1700" u="none" cap="none" strike="noStrike">
              <a:solidFill>
                <a:srgbClr val="1B2433"/>
              </a:solidFill>
              <a:latin typeface="Calibri"/>
              <a:ea typeface="Calibri"/>
              <a:cs typeface="Calibri"/>
              <a:sym typeface="Calibri"/>
            </a:endParaRPr>
          </a:p>
        </p:txBody>
      </p:sp>
      <p:sp>
        <p:nvSpPr>
          <p:cNvPr id="136" name="Google Shape;136;p17"/>
          <p:cNvSpPr txBox="1"/>
          <p:nvPr/>
        </p:nvSpPr>
        <p:spPr>
          <a:xfrm>
            <a:off x="5554980" y="2926080"/>
            <a:ext cx="1554600" cy="82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See today's live price</a:t>
            </a:r>
            <a:endParaRPr b="0" i="0" sz="1300" u="none" cap="none" strike="noStrike">
              <a:solidFill>
                <a:srgbClr val="1B2433"/>
              </a:solidFill>
              <a:latin typeface="Calibri"/>
              <a:ea typeface="Calibri"/>
              <a:cs typeface="Calibri"/>
              <a:sym typeface="Calibri"/>
            </a:endParaRPr>
          </a:p>
        </p:txBody>
      </p:sp>
      <p:sp>
        <p:nvSpPr>
          <p:cNvPr id="137" name="Google Shape;137;p17"/>
          <p:cNvSpPr/>
          <p:nvPr/>
        </p:nvSpPr>
        <p:spPr>
          <a:xfrm>
            <a:off x="7680960" y="1463040"/>
            <a:ext cx="822900" cy="82290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17"/>
          <p:cNvPicPr preferRelativeResize="0"/>
          <p:nvPr/>
        </p:nvPicPr>
        <p:blipFill rotWithShape="1">
          <a:blip r:embed="rId7">
            <a:alphaModFix/>
          </a:blip>
          <a:srcRect b="0" l="0" r="0" t="0"/>
          <a:stretch/>
        </p:blipFill>
        <p:spPr>
          <a:xfrm>
            <a:off x="7886700" y="1668780"/>
            <a:ext cx="411480" cy="411480"/>
          </a:xfrm>
          <a:prstGeom prst="rect">
            <a:avLst/>
          </a:prstGeom>
          <a:noFill/>
          <a:ln>
            <a:noFill/>
          </a:ln>
        </p:spPr>
      </p:pic>
      <p:sp>
        <p:nvSpPr>
          <p:cNvPr id="139" name="Google Shape;139;p17"/>
          <p:cNvSpPr txBox="1"/>
          <p:nvPr/>
        </p:nvSpPr>
        <p:spPr>
          <a:xfrm>
            <a:off x="7315200" y="2514600"/>
            <a:ext cx="15546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5. See results</a:t>
            </a:r>
            <a:endParaRPr b="0" i="0" sz="1700" u="none" cap="none" strike="noStrike">
              <a:solidFill>
                <a:srgbClr val="1B2433"/>
              </a:solidFill>
              <a:latin typeface="Calibri"/>
              <a:ea typeface="Calibri"/>
              <a:cs typeface="Calibri"/>
              <a:sym typeface="Calibri"/>
            </a:endParaRPr>
          </a:p>
        </p:txBody>
      </p:sp>
      <p:sp>
        <p:nvSpPr>
          <p:cNvPr id="140" name="Google Shape;140;p17"/>
          <p:cNvSpPr txBox="1"/>
          <p:nvPr/>
        </p:nvSpPr>
        <p:spPr>
          <a:xfrm>
            <a:off x="7315200" y="2926080"/>
            <a:ext cx="1554600" cy="82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Total value and profit or loss</a:t>
            </a:r>
            <a:endParaRPr b="0" i="0" sz="1300" u="none" cap="none" strike="noStrike">
              <a:solidFill>
                <a:srgbClr val="1B2433"/>
              </a:solidFill>
              <a:latin typeface="Calibri"/>
              <a:ea typeface="Calibri"/>
              <a:cs typeface="Calibri"/>
              <a:sym typeface="Calibri"/>
            </a:endParaRPr>
          </a:p>
        </p:txBody>
      </p:sp>
      <p:sp>
        <p:nvSpPr>
          <p:cNvPr id="141" name="Google Shape;141;p17"/>
          <p:cNvSpPr txBox="1"/>
          <p:nvPr/>
        </p:nvSpPr>
        <p:spPr>
          <a:xfrm>
            <a:off x="547950" y="374897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1600">
                <a:solidFill>
                  <a:srgbClr val="0F1B2D"/>
                </a:solidFill>
                <a:latin typeface="Cambria"/>
                <a:ea typeface="Cambria"/>
                <a:cs typeface="Cambria"/>
                <a:sym typeface="Cambria"/>
              </a:rPr>
              <a:t>Our web app runs on a built in web server (Tomcat)</a:t>
            </a:r>
            <a:endParaRPr sz="1600">
              <a:solidFill>
                <a:srgbClr val="0F1B2D"/>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5" name="Shape 145"/>
        <p:cNvGrpSpPr/>
        <p:nvPr/>
      </p:nvGrpSpPr>
      <p:grpSpPr>
        <a:xfrm>
          <a:off x="0" y="0"/>
          <a:ext cx="0" cy="0"/>
          <a:chOff x="0" y="0"/>
          <a:chExt cx="0" cy="0"/>
        </a:xfrm>
      </p:grpSpPr>
      <p:sp>
        <p:nvSpPr>
          <p:cNvPr id="146" name="Google Shape;146;p18"/>
          <p:cNvSpPr txBox="1"/>
          <p:nvPr/>
        </p:nvSpPr>
        <p:spPr>
          <a:xfrm>
            <a:off x="457200" y="365760"/>
            <a:ext cx="82296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rgbClr val="1F2937"/>
                </a:solidFill>
                <a:latin typeface="Lato"/>
                <a:ea typeface="Lato"/>
                <a:cs typeface="Lato"/>
                <a:sym typeface="Lato"/>
              </a:rPr>
              <a:t>Tech stack</a:t>
            </a:r>
            <a:endParaRPr b="1" sz="3600">
              <a:solidFill>
                <a:srgbClr val="1F2937"/>
              </a:solidFill>
              <a:latin typeface="Lato"/>
              <a:ea typeface="Lato"/>
              <a:cs typeface="Lato"/>
              <a:sym typeface="Lato"/>
            </a:endParaRPr>
          </a:p>
        </p:txBody>
      </p:sp>
      <p:sp>
        <p:nvSpPr>
          <p:cNvPr id="147" name="Google Shape;147;p18"/>
          <p:cNvSpPr txBox="1"/>
          <p:nvPr/>
        </p:nvSpPr>
        <p:spPr>
          <a:xfrm>
            <a:off x="457200" y="1353312"/>
            <a:ext cx="14631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F7A5C"/>
                </a:solidFill>
                <a:latin typeface="Lato"/>
                <a:ea typeface="Lato"/>
                <a:cs typeface="Lato"/>
                <a:sym typeface="Lato"/>
              </a:rPr>
              <a:t>Backend</a:t>
            </a:r>
            <a:endParaRPr b="1">
              <a:solidFill>
                <a:srgbClr val="1F7A5C"/>
              </a:solidFill>
              <a:latin typeface="Lato"/>
              <a:ea typeface="Lato"/>
              <a:cs typeface="Lato"/>
              <a:sym typeface="Lato"/>
            </a:endParaRPr>
          </a:p>
        </p:txBody>
      </p:sp>
      <p:sp>
        <p:nvSpPr>
          <p:cNvPr id="148" name="Google Shape;148;p18"/>
          <p:cNvSpPr txBox="1"/>
          <p:nvPr/>
        </p:nvSpPr>
        <p:spPr>
          <a:xfrm>
            <a:off x="2560320" y="135331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Java 17</a:t>
            </a:r>
            <a:endParaRPr>
              <a:solidFill>
                <a:srgbClr val="1F2937"/>
              </a:solidFill>
              <a:latin typeface="Lato"/>
              <a:ea typeface="Lato"/>
              <a:cs typeface="Lato"/>
              <a:sym typeface="Lato"/>
            </a:endParaRPr>
          </a:p>
        </p:txBody>
      </p:sp>
      <p:sp>
        <p:nvSpPr>
          <p:cNvPr id="149" name="Google Shape;149;p18"/>
          <p:cNvSpPr txBox="1"/>
          <p:nvPr/>
        </p:nvSpPr>
        <p:spPr>
          <a:xfrm>
            <a:off x="4251960" y="135331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Spring Boot</a:t>
            </a:r>
            <a:endParaRPr>
              <a:solidFill>
                <a:srgbClr val="1F2937"/>
              </a:solidFill>
              <a:latin typeface="Lato"/>
              <a:ea typeface="Lato"/>
              <a:cs typeface="Lato"/>
              <a:sym typeface="Lato"/>
            </a:endParaRPr>
          </a:p>
        </p:txBody>
      </p:sp>
      <p:sp>
        <p:nvSpPr>
          <p:cNvPr id="150" name="Google Shape;150;p18"/>
          <p:cNvSpPr txBox="1"/>
          <p:nvPr/>
        </p:nvSpPr>
        <p:spPr>
          <a:xfrm>
            <a:off x="5943600" y="1353312"/>
            <a:ext cx="16458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Maven</a:t>
            </a:r>
            <a:endParaRPr>
              <a:solidFill>
                <a:srgbClr val="1F2937"/>
              </a:solidFill>
              <a:latin typeface="Lato"/>
              <a:ea typeface="Lato"/>
              <a:cs typeface="Lato"/>
              <a:sym typeface="Lato"/>
            </a:endParaRPr>
          </a:p>
        </p:txBody>
      </p:sp>
      <p:sp>
        <p:nvSpPr>
          <p:cNvPr id="151" name="Google Shape;151;p18"/>
          <p:cNvSpPr txBox="1"/>
          <p:nvPr/>
        </p:nvSpPr>
        <p:spPr>
          <a:xfrm>
            <a:off x="457200" y="2176272"/>
            <a:ext cx="14631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F7A5C"/>
                </a:solidFill>
                <a:latin typeface="Lato"/>
                <a:ea typeface="Lato"/>
                <a:cs typeface="Lato"/>
                <a:sym typeface="Lato"/>
              </a:rPr>
              <a:t>Data</a:t>
            </a:r>
            <a:endParaRPr b="1">
              <a:solidFill>
                <a:srgbClr val="1F7A5C"/>
              </a:solidFill>
              <a:latin typeface="Lato"/>
              <a:ea typeface="Lato"/>
              <a:cs typeface="Lato"/>
              <a:sym typeface="Lato"/>
            </a:endParaRPr>
          </a:p>
        </p:txBody>
      </p:sp>
      <p:sp>
        <p:nvSpPr>
          <p:cNvPr id="152" name="Google Shape;152;p18"/>
          <p:cNvSpPr txBox="1"/>
          <p:nvPr/>
        </p:nvSpPr>
        <p:spPr>
          <a:xfrm>
            <a:off x="2560320" y="217627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MySQL</a:t>
            </a:r>
            <a:endParaRPr>
              <a:solidFill>
                <a:srgbClr val="1F2937"/>
              </a:solidFill>
              <a:latin typeface="Lato"/>
              <a:ea typeface="Lato"/>
              <a:cs typeface="Lato"/>
              <a:sym typeface="Lato"/>
            </a:endParaRPr>
          </a:p>
        </p:txBody>
      </p:sp>
      <p:sp>
        <p:nvSpPr>
          <p:cNvPr id="153" name="Google Shape;153;p18"/>
          <p:cNvSpPr txBox="1"/>
          <p:nvPr/>
        </p:nvSpPr>
        <p:spPr>
          <a:xfrm>
            <a:off x="4251960" y="2176272"/>
            <a:ext cx="16458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Twelve Data API</a:t>
            </a:r>
            <a:endParaRPr>
              <a:solidFill>
                <a:srgbClr val="1F2937"/>
              </a:solidFill>
              <a:latin typeface="Lato"/>
              <a:ea typeface="Lato"/>
              <a:cs typeface="Lato"/>
              <a:sym typeface="Lato"/>
            </a:endParaRPr>
          </a:p>
        </p:txBody>
      </p:sp>
      <p:sp>
        <p:nvSpPr>
          <p:cNvPr id="154" name="Google Shape;154;p18"/>
          <p:cNvSpPr txBox="1"/>
          <p:nvPr/>
        </p:nvSpPr>
        <p:spPr>
          <a:xfrm>
            <a:off x="457200" y="2999232"/>
            <a:ext cx="14631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F7A5C"/>
                </a:solidFill>
                <a:latin typeface="Lato"/>
                <a:ea typeface="Lato"/>
                <a:cs typeface="Lato"/>
                <a:sym typeface="Lato"/>
              </a:rPr>
              <a:t>Frontend</a:t>
            </a:r>
            <a:endParaRPr b="1">
              <a:solidFill>
                <a:srgbClr val="1F7A5C"/>
              </a:solidFill>
              <a:latin typeface="Lato"/>
              <a:ea typeface="Lato"/>
              <a:cs typeface="Lato"/>
              <a:sym typeface="Lato"/>
            </a:endParaRPr>
          </a:p>
        </p:txBody>
      </p:sp>
      <p:sp>
        <p:nvSpPr>
          <p:cNvPr id="155" name="Google Shape;155;p18"/>
          <p:cNvSpPr txBox="1"/>
          <p:nvPr/>
        </p:nvSpPr>
        <p:spPr>
          <a:xfrm>
            <a:off x="2560320" y="299923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HTML</a:t>
            </a:r>
            <a:endParaRPr>
              <a:solidFill>
                <a:srgbClr val="1F2937"/>
              </a:solidFill>
              <a:latin typeface="Lato"/>
              <a:ea typeface="Lato"/>
              <a:cs typeface="Lato"/>
              <a:sym typeface="Lato"/>
            </a:endParaRPr>
          </a:p>
        </p:txBody>
      </p:sp>
      <p:sp>
        <p:nvSpPr>
          <p:cNvPr id="156" name="Google Shape;156;p18"/>
          <p:cNvSpPr txBox="1"/>
          <p:nvPr/>
        </p:nvSpPr>
        <p:spPr>
          <a:xfrm>
            <a:off x="4251960" y="299923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CSS</a:t>
            </a:r>
            <a:endParaRPr>
              <a:solidFill>
                <a:srgbClr val="1F2937"/>
              </a:solidFill>
              <a:latin typeface="Lato"/>
              <a:ea typeface="Lato"/>
              <a:cs typeface="Lato"/>
              <a:sym typeface="Lato"/>
            </a:endParaRPr>
          </a:p>
        </p:txBody>
      </p:sp>
      <p:sp>
        <p:nvSpPr>
          <p:cNvPr id="157" name="Google Shape;157;p18"/>
          <p:cNvSpPr txBox="1"/>
          <p:nvPr/>
        </p:nvSpPr>
        <p:spPr>
          <a:xfrm>
            <a:off x="5943600" y="299923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JavaScript</a:t>
            </a:r>
            <a:endParaRPr>
              <a:solidFill>
                <a:srgbClr val="1F2937"/>
              </a:solidFill>
              <a:latin typeface="Lato"/>
              <a:ea typeface="Lato"/>
              <a:cs typeface="Lato"/>
              <a:sym typeface="Lato"/>
            </a:endParaRPr>
          </a:p>
        </p:txBody>
      </p:sp>
      <p:sp>
        <p:nvSpPr>
          <p:cNvPr id="158" name="Google Shape;158;p18"/>
          <p:cNvSpPr txBox="1"/>
          <p:nvPr/>
        </p:nvSpPr>
        <p:spPr>
          <a:xfrm>
            <a:off x="7635240" y="2999232"/>
            <a:ext cx="10515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jQuery</a:t>
            </a:r>
            <a:endParaRPr>
              <a:solidFill>
                <a:srgbClr val="1F2937"/>
              </a:solidFill>
              <a:latin typeface="Lato"/>
              <a:ea typeface="Lato"/>
              <a:cs typeface="Lato"/>
              <a:sym typeface="Lato"/>
            </a:endParaRPr>
          </a:p>
        </p:txBody>
      </p:sp>
      <p:sp>
        <p:nvSpPr>
          <p:cNvPr id="159" name="Google Shape;159;p18"/>
          <p:cNvSpPr txBox="1"/>
          <p:nvPr/>
        </p:nvSpPr>
        <p:spPr>
          <a:xfrm>
            <a:off x="457200" y="3822192"/>
            <a:ext cx="14631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F7A5C"/>
                </a:solidFill>
                <a:latin typeface="Lato"/>
                <a:ea typeface="Lato"/>
                <a:cs typeface="Lato"/>
                <a:sym typeface="Lato"/>
              </a:rPr>
              <a:t>Quality</a:t>
            </a:r>
            <a:endParaRPr b="1">
              <a:solidFill>
                <a:srgbClr val="1F7A5C"/>
              </a:solidFill>
              <a:latin typeface="Lato"/>
              <a:ea typeface="Lato"/>
              <a:cs typeface="Lato"/>
              <a:sym typeface="Lato"/>
            </a:endParaRPr>
          </a:p>
        </p:txBody>
      </p:sp>
      <p:sp>
        <p:nvSpPr>
          <p:cNvPr id="160" name="Google Shape;160;p18"/>
          <p:cNvSpPr txBox="1"/>
          <p:nvPr/>
        </p:nvSpPr>
        <p:spPr>
          <a:xfrm>
            <a:off x="2560320" y="382219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JUnit</a:t>
            </a:r>
            <a:endParaRPr>
              <a:solidFill>
                <a:srgbClr val="1F2937"/>
              </a:solidFill>
              <a:latin typeface="Lato"/>
              <a:ea typeface="Lato"/>
              <a:cs typeface="Lato"/>
              <a:sym typeface="Lato"/>
            </a:endParaRPr>
          </a:p>
        </p:txBody>
      </p:sp>
      <p:sp>
        <p:nvSpPr>
          <p:cNvPr id="161" name="Google Shape;161;p18"/>
          <p:cNvSpPr txBox="1"/>
          <p:nvPr/>
        </p:nvSpPr>
        <p:spPr>
          <a:xfrm>
            <a:off x="4251960" y="3822192"/>
            <a:ext cx="1115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Mockito</a:t>
            </a:r>
            <a:endParaRPr>
              <a:solidFill>
                <a:srgbClr val="1F2937"/>
              </a:solidFill>
              <a:latin typeface="Lato"/>
              <a:ea typeface="Lato"/>
              <a:cs typeface="Lato"/>
              <a:sym typeface="Lato"/>
            </a:endParaRPr>
          </a:p>
        </p:txBody>
      </p:sp>
      <p:sp>
        <p:nvSpPr>
          <p:cNvPr id="162" name="Google Shape;162;p18"/>
          <p:cNvSpPr txBox="1"/>
          <p:nvPr/>
        </p:nvSpPr>
        <p:spPr>
          <a:xfrm>
            <a:off x="5943600" y="3822192"/>
            <a:ext cx="16458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2937"/>
                </a:solidFill>
                <a:latin typeface="Lato"/>
                <a:ea typeface="Lato"/>
                <a:cs typeface="Lato"/>
                <a:sym typeface="Lato"/>
              </a:rPr>
              <a:t>GitHub Actions</a:t>
            </a:r>
            <a:endParaRPr>
              <a:solidFill>
                <a:srgbClr val="1F2937"/>
              </a:solidFill>
              <a:latin typeface="Lato"/>
              <a:ea typeface="Lato"/>
              <a:cs typeface="Lato"/>
              <a:sym typeface="Lato"/>
            </a:endParaRPr>
          </a:p>
        </p:txBody>
      </p:sp>
      <p:pic>
        <p:nvPicPr>
          <p:cNvPr id="163" name="Google Shape;163;p18"/>
          <p:cNvPicPr preferRelativeResize="0"/>
          <p:nvPr/>
        </p:nvPicPr>
        <p:blipFill>
          <a:blip r:embed="rId3">
            <a:alphaModFix/>
          </a:blip>
          <a:stretch>
            <a:fillRect/>
          </a:stretch>
        </p:blipFill>
        <p:spPr>
          <a:xfrm>
            <a:off x="2011680" y="1325880"/>
            <a:ext cx="457200" cy="457200"/>
          </a:xfrm>
          <a:prstGeom prst="rect">
            <a:avLst/>
          </a:prstGeom>
          <a:noFill/>
          <a:ln>
            <a:noFill/>
          </a:ln>
        </p:spPr>
      </p:pic>
      <p:pic>
        <p:nvPicPr>
          <p:cNvPr id="164" name="Google Shape;164;p18"/>
          <p:cNvPicPr preferRelativeResize="0"/>
          <p:nvPr/>
        </p:nvPicPr>
        <p:blipFill>
          <a:blip r:embed="rId4">
            <a:alphaModFix/>
          </a:blip>
          <a:stretch>
            <a:fillRect/>
          </a:stretch>
        </p:blipFill>
        <p:spPr>
          <a:xfrm>
            <a:off x="3703320" y="1325880"/>
            <a:ext cx="457200" cy="457200"/>
          </a:xfrm>
          <a:prstGeom prst="rect">
            <a:avLst/>
          </a:prstGeom>
          <a:noFill/>
          <a:ln>
            <a:noFill/>
          </a:ln>
        </p:spPr>
      </p:pic>
      <p:pic>
        <p:nvPicPr>
          <p:cNvPr id="165" name="Google Shape;165;p18"/>
          <p:cNvPicPr preferRelativeResize="0"/>
          <p:nvPr/>
        </p:nvPicPr>
        <p:blipFill>
          <a:blip r:embed="rId5">
            <a:alphaModFix/>
          </a:blip>
          <a:stretch>
            <a:fillRect/>
          </a:stretch>
        </p:blipFill>
        <p:spPr>
          <a:xfrm>
            <a:off x="5394960" y="1325880"/>
            <a:ext cx="457200" cy="457200"/>
          </a:xfrm>
          <a:prstGeom prst="rect">
            <a:avLst/>
          </a:prstGeom>
          <a:noFill/>
          <a:ln>
            <a:noFill/>
          </a:ln>
        </p:spPr>
      </p:pic>
      <p:pic>
        <p:nvPicPr>
          <p:cNvPr id="166" name="Google Shape;166;p18"/>
          <p:cNvPicPr preferRelativeResize="0"/>
          <p:nvPr/>
        </p:nvPicPr>
        <p:blipFill>
          <a:blip r:embed="rId6">
            <a:alphaModFix/>
          </a:blip>
          <a:stretch>
            <a:fillRect/>
          </a:stretch>
        </p:blipFill>
        <p:spPr>
          <a:xfrm>
            <a:off x="2011680" y="2148840"/>
            <a:ext cx="457200" cy="457200"/>
          </a:xfrm>
          <a:prstGeom prst="rect">
            <a:avLst/>
          </a:prstGeom>
          <a:noFill/>
          <a:ln>
            <a:noFill/>
          </a:ln>
        </p:spPr>
      </p:pic>
      <p:pic>
        <p:nvPicPr>
          <p:cNvPr id="167" name="Google Shape;167;p18"/>
          <p:cNvPicPr preferRelativeResize="0"/>
          <p:nvPr/>
        </p:nvPicPr>
        <p:blipFill>
          <a:blip r:embed="rId7">
            <a:alphaModFix/>
          </a:blip>
          <a:stretch>
            <a:fillRect/>
          </a:stretch>
        </p:blipFill>
        <p:spPr>
          <a:xfrm>
            <a:off x="2011680" y="2971800"/>
            <a:ext cx="457200" cy="457200"/>
          </a:xfrm>
          <a:prstGeom prst="rect">
            <a:avLst/>
          </a:prstGeom>
          <a:noFill/>
          <a:ln>
            <a:noFill/>
          </a:ln>
        </p:spPr>
      </p:pic>
      <p:pic>
        <p:nvPicPr>
          <p:cNvPr id="168" name="Google Shape;168;p18"/>
          <p:cNvPicPr preferRelativeResize="0"/>
          <p:nvPr/>
        </p:nvPicPr>
        <p:blipFill>
          <a:blip r:embed="rId8">
            <a:alphaModFix/>
          </a:blip>
          <a:stretch>
            <a:fillRect/>
          </a:stretch>
        </p:blipFill>
        <p:spPr>
          <a:xfrm>
            <a:off x="3703320" y="2971800"/>
            <a:ext cx="457200" cy="457200"/>
          </a:xfrm>
          <a:prstGeom prst="rect">
            <a:avLst/>
          </a:prstGeom>
          <a:noFill/>
          <a:ln>
            <a:noFill/>
          </a:ln>
        </p:spPr>
      </p:pic>
      <p:pic>
        <p:nvPicPr>
          <p:cNvPr id="169" name="Google Shape;169;p18"/>
          <p:cNvPicPr preferRelativeResize="0"/>
          <p:nvPr/>
        </p:nvPicPr>
        <p:blipFill>
          <a:blip r:embed="rId9">
            <a:alphaModFix/>
          </a:blip>
          <a:stretch>
            <a:fillRect/>
          </a:stretch>
        </p:blipFill>
        <p:spPr>
          <a:xfrm>
            <a:off x="5394960" y="2971800"/>
            <a:ext cx="457200" cy="457200"/>
          </a:xfrm>
          <a:prstGeom prst="rect">
            <a:avLst/>
          </a:prstGeom>
          <a:noFill/>
          <a:ln>
            <a:noFill/>
          </a:ln>
        </p:spPr>
      </p:pic>
      <p:pic>
        <p:nvPicPr>
          <p:cNvPr id="170" name="Google Shape;170;p18"/>
          <p:cNvPicPr preferRelativeResize="0"/>
          <p:nvPr/>
        </p:nvPicPr>
        <p:blipFill>
          <a:blip r:embed="rId10">
            <a:alphaModFix/>
          </a:blip>
          <a:stretch>
            <a:fillRect/>
          </a:stretch>
        </p:blipFill>
        <p:spPr>
          <a:xfrm>
            <a:off x="7086600" y="2971800"/>
            <a:ext cx="457200" cy="457200"/>
          </a:xfrm>
          <a:prstGeom prst="rect">
            <a:avLst/>
          </a:prstGeom>
          <a:noFill/>
          <a:ln>
            <a:noFill/>
          </a:ln>
        </p:spPr>
      </p:pic>
      <p:pic>
        <p:nvPicPr>
          <p:cNvPr id="171" name="Google Shape;171;p18"/>
          <p:cNvPicPr preferRelativeResize="0"/>
          <p:nvPr/>
        </p:nvPicPr>
        <p:blipFill>
          <a:blip r:embed="rId11">
            <a:alphaModFix/>
          </a:blip>
          <a:stretch>
            <a:fillRect/>
          </a:stretch>
        </p:blipFill>
        <p:spPr>
          <a:xfrm>
            <a:off x="5394960" y="3794760"/>
            <a:ext cx="457200" cy="457200"/>
          </a:xfrm>
          <a:prstGeom prst="rect">
            <a:avLst/>
          </a:prstGeom>
          <a:noFill/>
          <a:ln>
            <a:noFill/>
          </a:ln>
        </p:spPr>
      </p:pic>
      <p:pic>
        <p:nvPicPr>
          <p:cNvPr id="172" name="Google Shape;172;p18"/>
          <p:cNvPicPr preferRelativeResize="0"/>
          <p:nvPr/>
        </p:nvPicPr>
        <p:blipFill>
          <a:blip r:embed="rId12">
            <a:alphaModFix/>
          </a:blip>
          <a:stretch>
            <a:fillRect/>
          </a:stretch>
        </p:blipFill>
        <p:spPr>
          <a:xfrm>
            <a:off x="3703320" y="2148840"/>
            <a:ext cx="457200" cy="457200"/>
          </a:xfrm>
          <a:prstGeom prst="rect">
            <a:avLst/>
          </a:prstGeom>
          <a:noFill/>
          <a:ln>
            <a:noFill/>
          </a:ln>
        </p:spPr>
      </p:pic>
      <p:pic>
        <p:nvPicPr>
          <p:cNvPr id="173" name="Google Shape;173;p18"/>
          <p:cNvPicPr preferRelativeResize="0"/>
          <p:nvPr/>
        </p:nvPicPr>
        <p:blipFill>
          <a:blip r:embed="rId13">
            <a:alphaModFix/>
          </a:blip>
          <a:stretch>
            <a:fillRect/>
          </a:stretch>
        </p:blipFill>
        <p:spPr>
          <a:xfrm>
            <a:off x="2011680" y="3794760"/>
            <a:ext cx="457201" cy="457201"/>
          </a:xfrm>
          <a:prstGeom prst="rect">
            <a:avLst/>
          </a:prstGeom>
          <a:noFill/>
          <a:ln>
            <a:noFill/>
          </a:ln>
        </p:spPr>
      </p:pic>
      <p:pic>
        <p:nvPicPr>
          <p:cNvPr id="174" name="Google Shape;174;p18"/>
          <p:cNvPicPr preferRelativeResize="0"/>
          <p:nvPr/>
        </p:nvPicPr>
        <p:blipFill>
          <a:blip r:embed="rId14">
            <a:alphaModFix/>
          </a:blip>
          <a:stretch>
            <a:fillRect/>
          </a:stretch>
        </p:blipFill>
        <p:spPr>
          <a:xfrm>
            <a:off x="3703320" y="3794760"/>
            <a:ext cx="4572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8" name="Shape 178"/>
        <p:cNvGrpSpPr/>
        <p:nvPr/>
      </p:nvGrpSpPr>
      <p:grpSpPr>
        <a:xfrm>
          <a:off x="0" y="0"/>
          <a:ext cx="0" cy="0"/>
          <a:chOff x="0" y="0"/>
          <a:chExt cx="0" cy="0"/>
        </a:xfrm>
      </p:grpSpPr>
      <p:sp>
        <p:nvSpPr>
          <p:cNvPr id="179" name="Google Shape;179;p19"/>
          <p:cNvSpPr txBox="1"/>
          <p:nvPr/>
        </p:nvSpPr>
        <p:spPr>
          <a:xfrm>
            <a:off x="308150" y="4930"/>
            <a:ext cx="8229600" cy="7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1F2937"/>
                </a:solidFill>
                <a:latin typeface="Lato"/>
                <a:ea typeface="Lato"/>
                <a:cs typeface="Lato"/>
                <a:sym typeface="Lato"/>
              </a:rPr>
              <a:t>Authentication: </a:t>
            </a:r>
            <a:endParaRPr b="1" sz="2600">
              <a:solidFill>
                <a:srgbClr val="1F2937"/>
              </a:solidFill>
              <a:latin typeface="Lato"/>
              <a:ea typeface="Lato"/>
              <a:cs typeface="Lato"/>
              <a:sym typeface="Lato"/>
            </a:endParaRPr>
          </a:p>
        </p:txBody>
      </p:sp>
      <p:sp>
        <p:nvSpPr>
          <p:cNvPr id="180" name="Google Shape;180;p19"/>
          <p:cNvSpPr/>
          <p:nvPr/>
        </p:nvSpPr>
        <p:spPr>
          <a:xfrm>
            <a:off x="308150" y="724245"/>
            <a:ext cx="8229600" cy="12294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9"/>
          <p:cNvSpPr/>
          <p:nvPr/>
        </p:nvSpPr>
        <p:spPr>
          <a:xfrm>
            <a:off x="536750" y="884280"/>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1</a:t>
            </a:r>
            <a:endParaRPr b="1" sz="1600">
              <a:solidFill>
                <a:srgbClr val="FFFFFF"/>
              </a:solidFill>
              <a:latin typeface="Lato"/>
              <a:ea typeface="Lato"/>
              <a:cs typeface="Lato"/>
              <a:sym typeface="Lato"/>
            </a:endParaRPr>
          </a:p>
        </p:txBody>
      </p:sp>
      <p:sp>
        <p:nvSpPr>
          <p:cNvPr id="182" name="Google Shape;182;p19"/>
          <p:cNvSpPr txBox="1"/>
          <p:nvPr/>
        </p:nvSpPr>
        <p:spPr>
          <a:xfrm>
            <a:off x="1268270" y="724260"/>
            <a:ext cx="7041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Passwords are never stored</a:t>
            </a:r>
            <a:endParaRPr b="1" sz="2000">
              <a:solidFill>
                <a:srgbClr val="1F2937"/>
              </a:solidFill>
              <a:latin typeface="Lato"/>
              <a:ea typeface="Lato"/>
              <a:cs typeface="Lato"/>
              <a:sym typeface="Lato"/>
            </a:endParaRPr>
          </a:p>
        </p:txBody>
      </p:sp>
      <p:sp>
        <p:nvSpPr>
          <p:cNvPr id="183" name="Google Shape;183;p19"/>
          <p:cNvSpPr txBox="1"/>
          <p:nvPr/>
        </p:nvSpPr>
        <p:spPr>
          <a:xfrm>
            <a:off x="1268275" y="1126603"/>
            <a:ext cx="7041000" cy="7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Passwords are hashed with BCrypt. At login we compare against the hash, and errors never reveal whether the username or the password was wrong.</a:t>
            </a:r>
            <a:endParaRPr>
              <a:solidFill>
                <a:srgbClr val="5B6470"/>
              </a:solidFill>
              <a:latin typeface="Lato"/>
              <a:ea typeface="Lato"/>
              <a:cs typeface="Lato"/>
              <a:sym typeface="Lato"/>
            </a:endParaRPr>
          </a:p>
        </p:txBody>
      </p:sp>
      <p:sp>
        <p:nvSpPr>
          <p:cNvPr id="184" name="Google Shape;184;p19"/>
          <p:cNvSpPr/>
          <p:nvPr/>
        </p:nvSpPr>
        <p:spPr>
          <a:xfrm>
            <a:off x="377775" y="2111743"/>
            <a:ext cx="8229600" cy="15390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9"/>
          <p:cNvSpPr/>
          <p:nvPr/>
        </p:nvSpPr>
        <p:spPr>
          <a:xfrm>
            <a:off x="606375" y="2271778"/>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2</a:t>
            </a:r>
            <a:endParaRPr b="1" sz="1600">
              <a:solidFill>
                <a:srgbClr val="FFFFFF"/>
              </a:solidFill>
              <a:latin typeface="Lato"/>
              <a:ea typeface="Lato"/>
              <a:cs typeface="Lato"/>
              <a:sym typeface="Lato"/>
            </a:endParaRPr>
          </a:p>
        </p:txBody>
      </p:sp>
      <p:sp>
        <p:nvSpPr>
          <p:cNvPr id="186" name="Google Shape;186;p19"/>
          <p:cNvSpPr txBox="1"/>
          <p:nvPr/>
        </p:nvSpPr>
        <p:spPr>
          <a:xfrm>
            <a:off x="1337895" y="2111758"/>
            <a:ext cx="7041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Every request is checked</a:t>
            </a:r>
            <a:endParaRPr b="1" sz="2000">
              <a:solidFill>
                <a:srgbClr val="1F2937"/>
              </a:solidFill>
              <a:latin typeface="Lato"/>
              <a:ea typeface="Lato"/>
              <a:cs typeface="Lato"/>
              <a:sym typeface="Lato"/>
            </a:endParaRPr>
          </a:p>
        </p:txBody>
      </p:sp>
      <p:sp>
        <p:nvSpPr>
          <p:cNvPr id="187" name="Google Shape;187;p19"/>
          <p:cNvSpPr txBox="1"/>
          <p:nvPr/>
        </p:nvSpPr>
        <p:spPr>
          <a:xfrm>
            <a:off x="1337900" y="2514108"/>
            <a:ext cx="7041000" cy="9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When you log in, the server remembers who you are in a session, and your browser just holds a session cookie. An interceptor checks that cookie on every API call, and the server always uses your user ID, so changing the URL can't show someone else's data.</a:t>
            </a:r>
            <a:endParaRPr>
              <a:solidFill>
                <a:srgbClr val="5B6470"/>
              </a:solidFill>
              <a:latin typeface="Lato"/>
              <a:ea typeface="Lato"/>
              <a:cs typeface="Lato"/>
              <a:sym typeface="Lato"/>
            </a:endParaRPr>
          </a:p>
        </p:txBody>
      </p:sp>
      <p:sp>
        <p:nvSpPr>
          <p:cNvPr id="188" name="Google Shape;188;p19"/>
          <p:cNvSpPr/>
          <p:nvPr/>
        </p:nvSpPr>
        <p:spPr>
          <a:xfrm>
            <a:off x="457200" y="3808848"/>
            <a:ext cx="8229600" cy="1151100"/>
          </a:xfrm>
          <a:prstGeom prst="roundRect">
            <a:avLst>
              <a:gd fmla="val 16667" name="adj"/>
            </a:avLst>
          </a:prstGeom>
          <a:solidFill>
            <a:srgbClr val="E9F2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9"/>
          <p:cNvSpPr/>
          <p:nvPr/>
        </p:nvSpPr>
        <p:spPr>
          <a:xfrm>
            <a:off x="685800" y="3968876"/>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3</a:t>
            </a:r>
            <a:endParaRPr b="1" sz="1600">
              <a:solidFill>
                <a:srgbClr val="FFFFFF"/>
              </a:solidFill>
              <a:latin typeface="Lato"/>
              <a:ea typeface="Lato"/>
              <a:cs typeface="Lato"/>
              <a:sym typeface="Lato"/>
            </a:endParaRPr>
          </a:p>
        </p:txBody>
      </p:sp>
      <p:sp>
        <p:nvSpPr>
          <p:cNvPr id="190" name="Google Shape;190;p19"/>
          <p:cNvSpPr txBox="1"/>
          <p:nvPr/>
        </p:nvSpPr>
        <p:spPr>
          <a:xfrm>
            <a:off x="1417320" y="3808856"/>
            <a:ext cx="7041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Automatic log out</a:t>
            </a:r>
            <a:endParaRPr b="1" sz="2000">
              <a:solidFill>
                <a:srgbClr val="1F2937"/>
              </a:solidFill>
              <a:latin typeface="Lato"/>
              <a:ea typeface="Lato"/>
              <a:cs typeface="Lato"/>
              <a:sym typeface="Lato"/>
            </a:endParaRPr>
          </a:p>
        </p:txBody>
      </p:sp>
      <p:sp>
        <p:nvSpPr>
          <p:cNvPr id="191" name="Google Shape;191;p19"/>
          <p:cNvSpPr txBox="1"/>
          <p:nvPr/>
        </p:nvSpPr>
        <p:spPr>
          <a:xfrm>
            <a:off x="1417325" y="4211204"/>
            <a:ext cx="7041000" cy="5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Session expires after 30 no activity, the cookie stored in the session is Http only so the page scripts cant read it.</a:t>
            </a:r>
            <a:endParaRPr>
              <a:solidFill>
                <a:srgbClr val="5B647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nvSpPr>
        <p:spPr>
          <a:xfrm>
            <a:off x="274320" y="109728"/>
            <a:ext cx="8595300" cy="502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2600">
                <a:solidFill>
                  <a:srgbClr val="0F172A"/>
                </a:solidFill>
                <a:latin typeface="Calibri"/>
                <a:ea typeface="Calibri"/>
                <a:cs typeface="Calibri"/>
                <a:sym typeface="Calibri"/>
              </a:rPr>
              <a:t>System Architecture -safi </a:t>
            </a:r>
            <a:endParaRPr b="1" sz="2600">
              <a:solidFill>
                <a:srgbClr val="0F172A"/>
              </a:solidFill>
              <a:latin typeface="Calibri"/>
              <a:ea typeface="Calibri"/>
              <a:cs typeface="Calibri"/>
              <a:sym typeface="Calibri"/>
            </a:endParaRPr>
          </a:p>
        </p:txBody>
      </p:sp>
      <p:sp>
        <p:nvSpPr>
          <p:cNvPr id="197" name="Google Shape;197;p20"/>
          <p:cNvSpPr txBox="1"/>
          <p:nvPr/>
        </p:nvSpPr>
        <p:spPr>
          <a:xfrm>
            <a:off x="274320" y="658368"/>
            <a:ext cx="1645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pc="100" sz="1000" u="none" cap="none" strike="noStrike">
                <a:solidFill>
                  <a:srgbClr val="64748B"/>
                </a:solidFill>
                <a:latin typeface="Calibri"/>
                <a:ea typeface="Calibri"/>
                <a:cs typeface="Calibri"/>
                <a:sym typeface="Calibri"/>
              </a:rPr>
              <a:t>CLIENT TIER</a:t>
            </a:r>
            <a:endParaRPr b="0" i="0" sz="1000" u="none" cap="none" strike="noStrike">
              <a:solidFill>
                <a:srgbClr val="0F172A"/>
              </a:solidFill>
              <a:latin typeface="Calibri"/>
              <a:ea typeface="Calibri"/>
              <a:cs typeface="Calibri"/>
              <a:sym typeface="Calibri"/>
            </a:endParaRPr>
          </a:p>
        </p:txBody>
      </p:sp>
      <p:cxnSp>
        <p:nvCxnSpPr>
          <p:cNvPr id="198" name="Google Shape;198;p20"/>
          <p:cNvCxnSpPr/>
          <p:nvPr/>
        </p:nvCxnSpPr>
        <p:spPr>
          <a:xfrm>
            <a:off x="274320" y="914400"/>
            <a:ext cx="1645800" cy="0"/>
          </a:xfrm>
          <a:prstGeom prst="straightConnector1">
            <a:avLst/>
          </a:prstGeom>
          <a:noFill/>
          <a:ln cap="flat" cmpd="sng" w="12700">
            <a:solidFill>
              <a:srgbClr val="CBD5E1"/>
            </a:solidFill>
            <a:prstDash val="solid"/>
            <a:round/>
            <a:headEnd len="sm" w="sm" type="none"/>
            <a:tailEnd len="sm" w="sm" type="none"/>
          </a:ln>
        </p:spPr>
      </p:cxnSp>
      <p:sp>
        <p:nvSpPr>
          <p:cNvPr id="199" name="Google Shape;199;p20"/>
          <p:cNvSpPr txBox="1"/>
          <p:nvPr/>
        </p:nvSpPr>
        <p:spPr>
          <a:xfrm>
            <a:off x="2331720" y="658368"/>
            <a:ext cx="4526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pc="100" sz="1000" u="none" cap="none" strike="noStrike">
                <a:solidFill>
                  <a:srgbClr val="64748B"/>
                </a:solidFill>
                <a:latin typeface="Calibri"/>
                <a:ea typeface="Calibri"/>
                <a:cs typeface="Calibri"/>
                <a:sym typeface="Calibri"/>
              </a:rPr>
              <a:t>APPLICATION TIER</a:t>
            </a:r>
            <a:endParaRPr b="0" i="0" sz="1000" u="none" cap="none" strike="noStrike">
              <a:solidFill>
                <a:srgbClr val="0F172A"/>
              </a:solidFill>
              <a:latin typeface="Calibri"/>
              <a:ea typeface="Calibri"/>
              <a:cs typeface="Calibri"/>
              <a:sym typeface="Calibri"/>
            </a:endParaRPr>
          </a:p>
        </p:txBody>
      </p:sp>
      <p:cxnSp>
        <p:nvCxnSpPr>
          <p:cNvPr id="200" name="Google Shape;200;p20"/>
          <p:cNvCxnSpPr/>
          <p:nvPr/>
        </p:nvCxnSpPr>
        <p:spPr>
          <a:xfrm>
            <a:off x="2331720" y="914400"/>
            <a:ext cx="4526400" cy="0"/>
          </a:xfrm>
          <a:prstGeom prst="straightConnector1">
            <a:avLst/>
          </a:prstGeom>
          <a:noFill/>
          <a:ln cap="flat" cmpd="sng" w="12700">
            <a:solidFill>
              <a:srgbClr val="CBD5E1"/>
            </a:solidFill>
            <a:prstDash val="solid"/>
            <a:round/>
            <a:headEnd len="sm" w="sm" type="none"/>
            <a:tailEnd len="sm" w="sm" type="none"/>
          </a:ln>
        </p:spPr>
      </p:cxnSp>
      <p:sp>
        <p:nvSpPr>
          <p:cNvPr id="201" name="Google Shape;201;p20"/>
          <p:cNvSpPr txBox="1"/>
          <p:nvPr/>
        </p:nvSpPr>
        <p:spPr>
          <a:xfrm>
            <a:off x="7086600" y="658368"/>
            <a:ext cx="17832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pc="100" sz="1000" u="none" cap="none" strike="noStrike">
                <a:solidFill>
                  <a:srgbClr val="64748B"/>
                </a:solidFill>
                <a:latin typeface="Calibri"/>
                <a:ea typeface="Calibri"/>
                <a:cs typeface="Calibri"/>
                <a:sym typeface="Calibri"/>
              </a:rPr>
              <a:t>DATA TIER</a:t>
            </a:r>
            <a:endParaRPr b="0" i="0" sz="1000" u="none" cap="none" strike="noStrike">
              <a:solidFill>
                <a:srgbClr val="0F172A"/>
              </a:solidFill>
              <a:latin typeface="Calibri"/>
              <a:ea typeface="Calibri"/>
              <a:cs typeface="Calibri"/>
              <a:sym typeface="Calibri"/>
            </a:endParaRPr>
          </a:p>
        </p:txBody>
      </p:sp>
      <p:cxnSp>
        <p:nvCxnSpPr>
          <p:cNvPr id="202" name="Google Shape;202;p20"/>
          <p:cNvCxnSpPr/>
          <p:nvPr/>
        </p:nvCxnSpPr>
        <p:spPr>
          <a:xfrm>
            <a:off x="7086600" y="914400"/>
            <a:ext cx="1783200" cy="0"/>
          </a:xfrm>
          <a:prstGeom prst="straightConnector1">
            <a:avLst/>
          </a:prstGeom>
          <a:noFill/>
          <a:ln cap="flat" cmpd="sng" w="12700">
            <a:solidFill>
              <a:srgbClr val="CBD5E1"/>
            </a:solidFill>
            <a:prstDash val="solid"/>
            <a:round/>
            <a:headEnd len="sm" w="sm" type="none"/>
            <a:tailEnd len="sm" w="sm" type="none"/>
          </a:ln>
        </p:spPr>
      </p:cxnSp>
      <p:sp>
        <p:nvSpPr>
          <p:cNvPr id="203" name="Google Shape;203;p20"/>
          <p:cNvSpPr/>
          <p:nvPr/>
        </p:nvSpPr>
        <p:spPr>
          <a:xfrm>
            <a:off x="274320" y="1097280"/>
            <a:ext cx="1645800" cy="2011800"/>
          </a:xfrm>
          <a:prstGeom prst="roundRect">
            <a:avLst>
              <a:gd fmla="val 5556" name="adj"/>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20"/>
          <p:cNvPicPr preferRelativeResize="0"/>
          <p:nvPr/>
        </p:nvPicPr>
        <p:blipFill rotWithShape="1">
          <a:blip r:embed="rId3">
            <a:alphaModFix/>
          </a:blip>
          <a:srcRect b="0" l="0" r="0" t="0"/>
          <a:stretch/>
        </p:blipFill>
        <p:spPr>
          <a:xfrm>
            <a:off x="457200" y="1261872"/>
            <a:ext cx="384048" cy="384048"/>
          </a:xfrm>
          <a:prstGeom prst="rect">
            <a:avLst/>
          </a:prstGeom>
          <a:noFill/>
          <a:ln>
            <a:noFill/>
          </a:ln>
        </p:spPr>
      </p:pic>
      <p:pic>
        <p:nvPicPr>
          <p:cNvPr descr="preencoded.png" id="205" name="Google Shape;205;p20"/>
          <p:cNvPicPr preferRelativeResize="0"/>
          <p:nvPr/>
        </p:nvPicPr>
        <p:blipFill rotWithShape="1">
          <a:blip r:embed="rId4">
            <a:alphaModFix/>
          </a:blip>
          <a:srcRect b="0" l="0" r="0" t="0"/>
          <a:stretch/>
        </p:blipFill>
        <p:spPr>
          <a:xfrm>
            <a:off x="1005840" y="1207008"/>
            <a:ext cx="548640" cy="548640"/>
          </a:xfrm>
          <a:prstGeom prst="rect">
            <a:avLst/>
          </a:prstGeom>
          <a:noFill/>
          <a:ln>
            <a:noFill/>
          </a:ln>
        </p:spPr>
      </p:pic>
      <p:sp>
        <p:nvSpPr>
          <p:cNvPr id="206" name="Google Shape;206;p20"/>
          <p:cNvSpPr txBox="1"/>
          <p:nvPr/>
        </p:nvSpPr>
        <p:spPr>
          <a:xfrm>
            <a:off x="320040" y="1828800"/>
            <a:ext cx="1554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150"/>
              <a:buFont typeface="Calibri"/>
              <a:buNone/>
            </a:pPr>
            <a:r>
              <a:rPr b="1" i="0" lang="en" sz="1150" u="none" cap="none" strike="noStrike">
                <a:solidFill>
                  <a:srgbClr val="0F172A"/>
                </a:solidFill>
                <a:latin typeface="Calibri"/>
                <a:ea typeface="Calibri"/>
                <a:cs typeface="Calibri"/>
                <a:sym typeface="Calibri"/>
              </a:rPr>
              <a:t>User + web browser</a:t>
            </a:r>
            <a:endParaRPr b="0" i="0" sz="1150" u="none" cap="none" strike="noStrike">
              <a:solidFill>
                <a:srgbClr val="0F172A"/>
              </a:solidFill>
              <a:latin typeface="Calibri"/>
              <a:ea typeface="Calibri"/>
              <a:cs typeface="Calibri"/>
              <a:sym typeface="Calibri"/>
            </a:endParaRPr>
          </a:p>
        </p:txBody>
      </p:sp>
      <p:sp>
        <p:nvSpPr>
          <p:cNvPr id="207" name="Google Shape;207;p20"/>
          <p:cNvSpPr txBox="1"/>
          <p:nvPr/>
        </p:nvSpPr>
        <p:spPr>
          <a:xfrm>
            <a:off x="365760" y="2103120"/>
            <a:ext cx="1463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 sz="950" u="none" cap="none" strike="noStrike">
                <a:solidFill>
                  <a:srgbClr val="64748B"/>
                </a:solidFill>
                <a:latin typeface="Calibri"/>
                <a:ea typeface="Calibri"/>
                <a:cs typeface="Calibri"/>
                <a:sym typeface="Calibri"/>
              </a:rPr>
              <a:t>Shows pages, sends the user's clicks as requests</a:t>
            </a:r>
            <a:endParaRPr b="0" i="0" sz="950" u="none" cap="none" strike="noStrike">
              <a:solidFill>
                <a:srgbClr val="0F172A"/>
              </a:solidFill>
              <a:latin typeface="Calibri"/>
              <a:ea typeface="Calibri"/>
              <a:cs typeface="Calibri"/>
              <a:sym typeface="Calibri"/>
            </a:endParaRPr>
          </a:p>
        </p:txBody>
      </p:sp>
      <p:sp>
        <p:nvSpPr>
          <p:cNvPr id="208" name="Google Shape;208;p20"/>
          <p:cNvSpPr/>
          <p:nvPr/>
        </p:nvSpPr>
        <p:spPr>
          <a:xfrm>
            <a:off x="960120" y="2670048"/>
            <a:ext cx="274200" cy="27420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txBox="1"/>
          <p:nvPr/>
        </p:nvSpPr>
        <p:spPr>
          <a:xfrm>
            <a:off x="960120" y="2670048"/>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V</a:t>
            </a:r>
            <a:endParaRPr b="0" i="0" sz="1000" u="none" cap="none" strike="noStrike">
              <a:solidFill>
                <a:srgbClr val="0F172A"/>
              </a:solidFill>
              <a:latin typeface="Calibri"/>
              <a:ea typeface="Calibri"/>
              <a:cs typeface="Calibri"/>
              <a:sym typeface="Calibri"/>
            </a:endParaRPr>
          </a:p>
        </p:txBody>
      </p:sp>
      <p:sp>
        <p:nvSpPr>
          <p:cNvPr id="210" name="Google Shape;210;p20"/>
          <p:cNvSpPr txBox="1"/>
          <p:nvPr/>
        </p:nvSpPr>
        <p:spPr>
          <a:xfrm>
            <a:off x="320040" y="2926080"/>
            <a:ext cx="155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 sz="850" u="none" cap="none" strike="noStrike">
                <a:solidFill>
                  <a:srgbClr val="64748B"/>
                </a:solidFill>
                <a:latin typeface="Calibri"/>
                <a:ea typeface="Calibri"/>
                <a:cs typeface="Calibri"/>
                <a:sym typeface="Calibri"/>
              </a:rPr>
              <a:t>View</a:t>
            </a:r>
            <a:endParaRPr b="0" i="0" sz="850" u="none" cap="none" strike="noStrike">
              <a:solidFill>
                <a:srgbClr val="0F172A"/>
              </a:solidFill>
              <a:latin typeface="Calibri"/>
              <a:ea typeface="Calibri"/>
              <a:cs typeface="Calibri"/>
              <a:sym typeface="Calibri"/>
            </a:endParaRPr>
          </a:p>
        </p:txBody>
      </p:sp>
      <p:sp>
        <p:nvSpPr>
          <p:cNvPr id="211" name="Google Shape;211;p20"/>
          <p:cNvSpPr txBox="1"/>
          <p:nvPr/>
        </p:nvSpPr>
        <p:spPr>
          <a:xfrm>
            <a:off x="411480" y="3429000"/>
            <a:ext cx="15546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C3AED"/>
              </a:buClr>
              <a:buSzPts val="950"/>
              <a:buFont typeface="Calibri"/>
              <a:buNone/>
            </a:pPr>
            <a:r>
              <a:rPr b="1" i="0" lang="en" sz="950" u="none" cap="none" strike="noStrike">
                <a:solidFill>
                  <a:srgbClr val="7C3AED"/>
                </a:solidFill>
                <a:latin typeface="Calibri"/>
                <a:ea typeface="Calibri"/>
                <a:cs typeface="Calibri"/>
                <a:sym typeface="Calibri"/>
              </a:rPr>
              <a:t>V</a:t>
            </a:r>
            <a:r>
              <a:rPr b="0" i="0" lang="en" sz="950" u="none" cap="none" strike="noStrike">
                <a:solidFill>
                  <a:srgbClr val="0F172A"/>
                </a:solidFill>
                <a:latin typeface="Calibri"/>
                <a:ea typeface="Calibri"/>
                <a:cs typeface="Calibri"/>
                <a:sym typeface="Calibri"/>
              </a:rPr>
              <a:t>  View</a:t>
            </a:r>
            <a:endParaRPr b="0" i="0" sz="950" u="none" cap="none" strike="noStrike">
              <a:solidFill>
                <a:srgbClr val="0F172A"/>
              </a:solidFill>
              <a:latin typeface="Calibri"/>
              <a:ea typeface="Calibri"/>
              <a:cs typeface="Calibri"/>
              <a:sym typeface="Calibri"/>
            </a:endParaRPr>
          </a:p>
          <a:p>
            <a:pPr indent="0" lvl="0" marL="0" marR="0" rtl="0" algn="l">
              <a:spcBef>
                <a:spcPts val="0"/>
              </a:spcBef>
              <a:spcAft>
                <a:spcPts val="0"/>
              </a:spcAft>
              <a:buClr>
                <a:srgbClr val="D97706"/>
              </a:buClr>
              <a:buSzPts val="950"/>
              <a:buFont typeface="Calibri"/>
              <a:buNone/>
            </a:pPr>
            <a:r>
              <a:rPr b="1" i="0" lang="en" sz="950" u="none" cap="none" strike="noStrike">
                <a:solidFill>
                  <a:srgbClr val="D97706"/>
                </a:solidFill>
                <a:latin typeface="Calibri"/>
                <a:ea typeface="Calibri"/>
                <a:cs typeface="Calibri"/>
                <a:sym typeface="Calibri"/>
              </a:rPr>
              <a:t>C</a:t>
            </a:r>
            <a:r>
              <a:rPr b="0" i="0" lang="en" sz="950" u="none" cap="none" strike="noStrike">
                <a:solidFill>
                  <a:srgbClr val="0F172A"/>
                </a:solidFill>
                <a:latin typeface="Calibri"/>
                <a:ea typeface="Calibri"/>
                <a:cs typeface="Calibri"/>
                <a:sym typeface="Calibri"/>
              </a:rPr>
              <a:t>  Controller</a:t>
            </a:r>
            <a:endParaRPr b="0" i="0" sz="950" u="none" cap="none" strike="noStrike">
              <a:solidFill>
                <a:srgbClr val="0F172A"/>
              </a:solidFill>
              <a:latin typeface="Calibri"/>
              <a:ea typeface="Calibri"/>
              <a:cs typeface="Calibri"/>
              <a:sym typeface="Calibri"/>
            </a:endParaRPr>
          </a:p>
          <a:p>
            <a:pPr indent="0" lvl="0" marL="0" marR="0" rtl="0" algn="l">
              <a:spcBef>
                <a:spcPts val="0"/>
              </a:spcBef>
              <a:spcAft>
                <a:spcPts val="0"/>
              </a:spcAft>
              <a:buClr>
                <a:srgbClr val="15803D"/>
              </a:buClr>
              <a:buSzPts val="950"/>
              <a:buFont typeface="Calibri"/>
              <a:buNone/>
            </a:pPr>
            <a:r>
              <a:rPr b="1" i="0" lang="en" sz="950" u="none" cap="none" strike="noStrike">
                <a:solidFill>
                  <a:srgbClr val="15803D"/>
                </a:solidFill>
                <a:latin typeface="Calibri"/>
                <a:ea typeface="Calibri"/>
                <a:cs typeface="Calibri"/>
                <a:sym typeface="Calibri"/>
              </a:rPr>
              <a:t>M</a:t>
            </a:r>
            <a:r>
              <a:rPr b="0" i="0" lang="en" sz="950" u="none" cap="none" strike="noStrike">
                <a:solidFill>
                  <a:srgbClr val="0F172A"/>
                </a:solidFill>
                <a:latin typeface="Calibri"/>
                <a:ea typeface="Calibri"/>
                <a:cs typeface="Calibri"/>
                <a:sym typeface="Calibri"/>
              </a:rPr>
              <a:t>  Model</a:t>
            </a:r>
            <a:endParaRPr b="0" i="0" sz="950" u="none" cap="none" strike="noStrike">
              <a:solidFill>
                <a:srgbClr val="0F172A"/>
              </a:solidFill>
              <a:latin typeface="Calibri"/>
              <a:ea typeface="Calibri"/>
              <a:cs typeface="Calibri"/>
              <a:sym typeface="Calibri"/>
            </a:endParaRPr>
          </a:p>
        </p:txBody>
      </p:sp>
      <p:sp>
        <p:nvSpPr>
          <p:cNvPr id="212" name="Google Shape;212;p20"/>
          <p:cNvSpPr/>
          <p:nvPr/>
        </p:nvSpPr>
        <p:spPr>
          <a:xfrm>
            <a:off x="2331720" y="1051560"/>
            <a:ext cx="4526400" cy="3840600"/>
          </a:xfrm>
          <a:prstGeom prst="roundRect">
            <a:avLst>
              <a:gd fmla="val 2381" name="adj"/>
            </a:avLst>
          </a:prstGeom>
          <a:solidFill>
            <a:srgbClr val="FFFFFF"/>
          </a:solidFill>
          <a:ln cap="flat" cmpd="sng" w="15875">
            <a:solidFill>
              <a:srgbClr val="94A3B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20"/>
          <p:cNvPicPr preferRelativeResize="0"/>
          <p:nvPr/>
        </p:nvPicPr>
        <p:blipFill rotWithShape="1">
          <a:blip r:embed="rId5">
            <a:alphaModFix/>
          </a:blip>
          <a:srcRect b="0" l="0" r="0" t="0"/>
          <a:stretch/>
        </p:blipFill>
        <p:spPr>
          <a:xfrm>
            <a:off x="2468880" y="1143000"/>
            <a:ext cx="256032" cy="256032"/>
          </a:xfrm>
          <a:prstGeom prst="rect">
            <a:avLst/>
          </a:prstGeom>
          <a:noFill/>
          <a:ln>
            <a:noFill/>
          </a:ln>
        </p:spPr>
      </p:pic>
      <p:sp>
        <p:nvSpPr>
          <p:cNvPr id="214" name="Google Shape;214;p20"/>
          <p:cNvSpPr txBox="1"/>
          <p:nvPr/>
        </p:nvSpPr>
        <p:spPr>
          <a:xfrm>
            <a:off x="2788920" y="1143000"/>
            <a:ext cx="3886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50"/>
              <a:buFont typeface="Calibri"/>
              <a:buNone/>
            </a:pPr>
            <a:r>
              <a:rPr b="1" i="0" lang="en" sz="1050" u="none" cap="none" strike="noStrike">
                <a:solidFill>
                  <a:srgbClr val="0F766E"/>
                </a:solidFill>
                <a:latin typeface="Calibri"/>
                <a:ea typeface="Calibri"/>
                <a:cs typeface="Calibri"/>
                <a:sym typeface="Calibri"/>
              </a:rPr>
              <a:t>Spring Boot server  (built-in Tomcat web server)</a:t>
            </a:r>
            <a:endParaRPr b="0" i="0" sz="1050" u="none" cap="none" strike="noStrike">
              <a:solidFill>
                <a:srgbClr val="0F172A"/>
              </a:solidFill>
              <a:latin typeface="Calibri"/>
              <a:ea typeface="Calibri"/>
              <a:cs typeface="Calibri"/>
              <a:sym typeface="Calibri"/>
            </a:endParaRPr>
          </a:p>
        </p:txBody>
      </p:sp>
      <p:sp>
        <p:nvSpPr>
          <p:cNvPr id="215" name="Google Shape;215;p20"/>
          <p:cNvSpPr/>
          <p:nvPr/>
        </p:nvSpPr>
        <p:spPr>
          <a:xfrm>
            <a:off x="2514600" y="1508760"/>
            <a:ext cx="4160400" cy="475500"/>
          </a:xfrm>
          <a:prstGeom prst="roundRect">
            <a:avLst>
              <a:gd fmla="val 15385"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20"/>
          <p:cNvPicPr preferRelativeResize="0"/>
          <p:nvPr/>
        </p:nvPicPr>
        <p:blipFill rotWithShape="1">
          <a:blip r:embed="rId6">
            <a:alphaModFix/>
          </a:blip>
          <a:srcRect b="0" l="0" r="0" t="0"/>
          <a:stretch/>
        </p:blipFill>
        <p:spPr>
          <a:xfrm>
            <a:off x="2642616" y="1618488"/>
            <a:ext cx="256032" cy="256032"/>
          </a:xfrm>
          <a:prstGeom prst="rect">
            <a:avLst/>
          </a:prstGeom>
          <a:noFill/>
          <a:ln>
            <a:noFill/>
          </a:ln>
        </p:spPr>
      </p:pic>
      <p:sp>
        <p:nvSpPr>
          <p:cNvPr id="217" name="Google Shape;217;p20"/>
          <p:cNvSpPr txBox="1"/>
          <p:nvPr/>
        </p:nvSpPr>
        <p:spPr>
          <a:xfrm>
            <a:off x="3017520" y="1508760"/>
            <a:ext cx="1371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 sz="1100" u="none" cap="none" strike="noStrike">
                <a:solidFill>
                  <a:srgbClr val="0F172A"/>
                </a:solidFill>
                <a:latin typeface="Calibri"/>
                <a:ea typeface="Calibri"/>
                <a:cs typeface="Calibri"/>
                <a:sym typeface="Calibri"/>
              </a:rPr>
              <a:t>Request router</a:t>
            </a:r>
            <a:endParaRPr b="0" i="0" sz="1100" u="none" cap="none" strike="noStrike">
              <a:solidFill>
                <a:srgbClr val="0F172A"/>
              </a:solidFill>
              <a:latin typeface="Calibri"/>
              <a:ea typeface="Calibri"/>
              <a:cs typeface="Calibri"/>
              <a:sym typeface="Calibri"/>
            </a:endParaRPr>
          </a:p>
        </p:txBody>
      </p:sp>
      <p:sp>
        <p:nvSpPr>
          <p:cNvPr id="218" name="Google Shape;218;p20"/>
          <p:cNvSpPr txBox="1"/>
          <p:nvPr/>
        </p:nvSpPr>
        <p:spPr>
          <a:xfrm>
            <a:off x="4389120" y="1508760"/>
            <a:ext cx="1828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 sz="950" u="none" cap="none" strike="noStrike">
                <a:solidFill>
                  <a:srgbClr val="334155"/>
                </a:solidFill>
                <a:latin typeface="Calibri"/>
                <a:ea typeface="Calibri"/>
                <a:cs typeface="Calibri"/>
                <a:sym typeface="Calibri"/>
              </a:rPr>
              <a:t>Receives every request, sends it to the right controller</a:t>
            </a:r>
            <a:endParaRPr b="0" i="0" sz="950" u="none" cap="none" strike="noStrike">
              <a:solidFill>
                <a:srgbClr val="0F172A"/>
              </a:solidFill>
              <a:latin typeface="Calibri"/>
              <a:ea typeface="Calibri"/>
              <a:cs typeface="Calibri"/>
              <a:sym typeface="Calibri"/>
            </a:endParaRPr>
          </a:p>
        </p:txBody>
      </p:sp>
      <p:cxnSp>
        <p:nvCxnSpPr>
          <p:cNvPr id="219" name="Google Shape;219;p20"/>
          <p:cNvCxnSpPr/>
          <p:nvPr/>
        </p:nvCxnSpPr>
        <p:spPr>
          <a:xfrm>
            <a:off x="2779776" y="1993392"/>
            <a:ext cx="0" cy="100500"/>
          </a:xfrm>
          <a:prstGeom prst="straightConnector1">
            <a:avLst/>
          </a:prstGeom>
          <a:noFill/>
          <a:ln cap="flat" cmpd="sng" w="19050">
            <a:solidFill>
              <a:srgbClr val="64748B"/>
            </a:solidFill>
            <a:prstDash val="solid"/>
            <a:round/>
            <a:headEnd len="sm" w="sm" type="none"/>
            <a:tailEnd len="med" w="med" type="triangle"/>
          </a:ln>
        </p:spPr>
      </p:cxnSp>
      <p:sp>
        <p:nvSpPr>
          <p:cNvPr id="220" name="Google Shape;220;p20"/>
          <p:cNvSpPr/>
          <p:nvPr/>
        </p:nvSpPr>
        <p:spPr>
          <a:xfrm>
            <a:off x="2514600" y="2103120"/>
            <a:ext cx="4160400" cy="475500"/>
          </a:xfrm>
          <a:prstGeom prst="roundRect">
            <a:avLst>
              <a:gd fmla="val 15385"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20"/>
          <p:cNvPicPr preferRelativeResize="0"/>
          <p:nvPr/>
        </p:nvPicPr>
        <p:blipFill rotWithShape="1">
          <a:blip r:embed="rId7">
            <a:alphaModFix/>
          </a:blip>
          <a:srcRect b="0" l="0" r="0" t="0"/>
          <a:stretch/>
        </p:blipFill>
        <p:spPr>
          <a:xfrm>
            <a:off x="2642616" y="2212848"/>
            <a:ext cx="256032" cy="256032"/>
          </a:xfrm>
          <a:prstGeom prst="rect">
            <a:avLst/>
          </a:prstGeom>
          <a:noFill/>
          <a:ln>
            <a:noFill/>
          </a:ln>
        </p:spPr>
      </p:pic>
      <p:sp>
        <p:nvSpPr>
          <p:cNvPr id="222" name="Google Shape;222;p20"/>
          <p:cNvSpPr txBox="1"/>
          <p:nvPr/>
        </p:nvSpPr>
        <p:spPr>
          <a:xfrm>
            <a:off x="3017520" y="2103120"/>
            <a:ext cx="1371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 sz="1100" u="none" cap="none" strike="noStrike">
                <a:solidFill>
                  <a:srgbClr val="0F172A"/>
                </a:solidFill>
                <a:latin typeface="Calibri"/>
                <a:ea typeface="Calibri"/>
                <a:cs typeface="Calibri"/>
                <a:sym typeface="Calibri"/>
              </a:rPr>
              <a:t>Security check</a:t>
            </a:r>
            <a:endParaRPr b="0" i="0" sz="1100" u="none" cap="none" strike="noStrike">
              <a:solidFill>
                <a:srgbClr val="0F172A"/>
              </a:solidFill>
              <a:latin typeface="Calibri"/>
              <a:ea typeface="Calibri"/>
              <a:cs typeface="Calibri"/>
              <a:sym typeface="Calibri"/>
            </a:endParaRPr>
          </a:p>
        </p:txBody>
      </p:sp>
      <p:sp>
        <p:nvSpPr>
          <p:cNvPr id="223" name="Google Shape;223;p20"/>
          <p:cNvSpPr txBox="1"/>
          <p:nvPr/>
        </p:nvSpPr>
        <p:spPr>
          <a:xfrm>
            <a:off x="4389120" y="2103120"/>
            <a:ext cx="1828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 sz="950" u="none" cap="none" strike="noStrike">
                <a:solidFill>
                  <a:srgbClr val="334155"/>
                </a:solidFill>
                <a:latin typeface="Calibri"/>
                <a:ea typeface="Calibri"/>
                <a:cs typeface="Calibri"/>
                <a:sym typeface="Calibri"/>
              </a:rPr>
              <a:t>Lets only logged-in users through</a:t>
            </a:r>
            <a:endParaRPr b="0" i="0" sz="950" u="none" cap="none" strike="noStrike">
              <a:solidFill>
                <a:srgbClr val="0F172A"/>
              </a:solidFill>
              <a:latin typeface="Calibri"/>
              <a:ea typeface="Calibri"/>
              <a:cs typeface="Calibri"/>
              <a:sym typeface="Calibri"/>
            </a:endParaRPr>
          </a:p>
        </p:txBody>
      </p:sp>
      <p:cxnSp>
        <p:nvCxnSpPr>
          <p:cNvPr id="224" name="Google Shape;224;p20"/>
          <p:cNvCxnSpPr/>
          <p:nvPr/>
        </p:nvCxnSpPr>
        <p:spPr>
          <a:xfrm>
            <a:off x="2779776" y="2587752"/>
            <a:ext cx="0" cy="100500"/>
          </a:xfrm>
          <a:prstGeom prst="straightConnector1">
            <a:avLst/>
          </a:prstGeom>
          <a:noFill/>
          <a:ln cap="flat" cmpd="sng" w="19050">
            <a:solidFill>
              <a:srgbClr val="64748B"/>
            </a:solidFill>
            <a:prstDash val="solid"/>
            <a:round/>
            <a:headEnd len="sm" w="sm" type="none"/>
            <a:tailEnd len="med" w="med" type="triangle"/>
          </a:ln>
        </p:spPr>
      </p:cxnSp>
      <p:sp>
        <p:nvSpPr>
          <p:cNvPr id="225" name="Google Shape;225;p20"/>
          <p:cNvSpPr/>
          <p:nvPr/>
        </p:nvSpPr>
        <p:spPr>
          <a:xfrm>
            <a:off x="2514600" y="2697480"/>
            <a:ext cx="4160400" cy="475500"/>
          </a:xfrm>
          <a:prstGeom prst="roundRect">
            <a:avLst>
              <a:gd fmla="val 15385" name="adj"/>
            </a:avLst>
          </a:prstGeom>
          <a:solidFill>
            <a:srgbClr val="FEF3C7"/>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6" name="Google Shape;226;p20"/>
          <p:cNvPicPr preferRelativeResize="0"/>
          <p:nvPr/>
        </p:nvPicPr>
        <p:blipFill rotWithShape="1">
          <a:blip r:embed="rId8">
            <a:alphaModFix/>
          </a:blip>
          <a:srcRect b="0" l="0" r="0" t="0"/>
          <a:stretch/>
        </p:blipFill>
        <p:spPr>
          <a:xfrm>
            <a:off x="2642616" y="2807208"/>
            <a:ext cx="256032" cy="256032"/>
          </a:xfrm>
          <a:prstGeom prst="rect">
            <a:avLst/>
          </a:prstGeom>
          <a:noFill/>
          <a:ln>
            <a:noFill/>
          </a:ln>
        </p:spPr>
      </p:pic>
      <p:sp>
        <p:nvSpPr>
          <p:cNvPr id="227" name="Google Shape;227;p20"/>
          <p:cNvSpPr txBox="1"/>
          <p:nvPr/>
        </p:nvSpPr>
        <p:spPr>
          <a:xfrm>
            <a:off x="3017520" y="2697480"/>
            <a:ext cx="1371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 sz="1100" u="none" cap="none" strike="noStrike">
                <a:solidFill>
                  <a:srgbClr val="0F172A"/>
                </a:solidFill>
                <a:latin typeface="Calibri"/>
                <a:ea typeface="Calibri"/>
                <a:cs typeface="Calibri"/>
                <a:sym typeface="Calibri"/>
              </a:rPr>
              <a:t>Controller layer</a:t>
            </a:r>
            <a:endParaRPr b="0" i="0" sz="1100" u="none" cap="none" strike="noStrike">
              <a:solidFill>
                <a:srgbClr val="0F172A"/>
              </a:solidFill>
              <a:latin typeface="Calibri"/>
              <a:ea typeface="Calibri"/>
              <a:cs typeface="Calibri"/>
              <a:sym typeface="Calibri"/>
            </a:endParaRPr>
          </a:p>
        </p:txBody>
      </p:sp>
      <p:sp>
        <p:nvSpPr>
          <p:cNvPr id="228" name="Google Shape;228;p20"/>
          <p:cNvSpPr txBox="1"/>
          <p:nvPr/>
        </p:nvSpPr>
        <p:spPr>
          <a:xfrm>
            <a:off x="4389120" y="2697480"/>
            <a:ext cx="1828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 sz="950" u="none" cap="none" strike="noStrike">
                <a:solidFill>
                  <a:srgbClr val="334155"/>
                </a:solidFill>
                <a:latin typeface="Calibri"/>
                <a:ea typeface="Calibri"/>
                <a:cs typeface="Calibri"/>
                <a:sym typeface="Calibri"/>
              </a:rPr>
              <a:t>Handles requests, returns JSON answers</a:t>
            </a:r>
            <a:endParaRPr b="0" i="0" sz="950" u="none" cap="none" strike="noStrike">
              <a:solidFill>
                <a:srgbClr val="0F172A"/>
              </a:solidFill>
              <a:latin typeface="Calibri"/>
              <a:ea typeface="Calibri"/>
              <a:cs typeface="Calibri"/>
              <a:sym typeface="Calibri"/>
            </a:endParaRPr>
          </a:p>
        </p:txBody>
      </p:sp>
      <p:sp>
        <p:nvSpPr>
          <p:cNvPr id="229" name="Google Shape;229;p20"/>
          <p:cNvSpPr/>
          <p:nvPr/>
        </p:nvSpPr>
        <p:spPr>
          <a:xfrm>
            <a:off x="6291072" y="2798064"/>
            <a:ext cx="274200" cy="2742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txBox="1"/>
          <p:nvPr/>
        </p:nvSpPr>
        <p:spPr>
          <a:xfrm>
            <a:off x="6291072" y="2798064"/>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a:t>
            </a:r>
            <a:endParaRPr b="0" i="0" sz="1000" u="none" cap="none" strike="noStrike">
              <a:solidFill>
                <a:srgbClr val="0F172A"/>
              </a:solidFill>
              <a:latin typeface="Calibri"/>
              <a:ea typeface="Calibri"/>
              <a:cs typeface="Calibri"/>
              <a:sym typeface="Calibri"/>
            </a:endParaRPr>
          </a:p>
        </p:txBody>
      </p:sp>
      <p:cxnSp>
        <p:nvCxnSpPr>
          <p:cNvPr id="231" name="Google Shape;231;p20"/>
          <p:cNvCxnSpPr/>
          <p:nvPr/>
        </p:nvCxnSpPr>
        <p:spPr>
          <a:xfrm>
            <a:off x="2779776" y="3182112"/>
            <a:ext cx="0" cy="100500"/>
          </a:xfrm>
          <a:prstGeom prst="straightConnector1">
            <a:avLst/>
          </a:prstGeom>
          <a:noFill/>
          <a:ln cap="flat" cmpd="sng" w="19050">
            <a:solidFill>
              <a:srgbClr val="64748B"/>
            </a:solidFill>
            <a:prstDash val="solid"/>
            <a:round/>
            <a:headEnd len="sm" w="sm" type="none"/>
            <a:tailEnd len="med" w="med" type="triangle"/>
          </a:ln>
        </p:spPr>
      </p:cxnSp>
      <p:sp>
        <p:nvSpPr>
          <p:cNvPr id="232" name="Google Shape;232;p20"/>
          <p:cNvSpPr/>
          <p:nvPr/>
        </p:nvSpPr>
        <p:spPr>
          <a:xfrm>
            <a:off x="2514600" y="3291840"/>
            <a:ext cx="4160400" cy="475500"/>
          </a:xfrm>
          <a:prstGeom prst="roundRect">
            <a:avLst>
              <a:gd fmla="val 15385" name="adj"/>
            </a:avLst>
          </a:prstGeom>
          <a:solidFill>
            <a:srgbClr val="DCFCE7"/>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 name="Google Shape;233;p20"/>
          <p:cNvPicPr preferRelativeResize="0"/>
          <p:nvPr/>
        </p:nvPicPr>
        <p:blipFill rotWithShape="1">
          <a:blip r:embed="rId9">
            <a:alphaModFix/>
          </a:blip>
          <a:srcRect b="0" l="0" r="0" t="0"/>
          <a:stretch/>
        </p:blipFill>
        <p:spPr>
          <a:xfrm>
            <a:off x="2642616" y="3401568"/>
            <a:ext cx="256032" cy="256032"/>
          </a:xfrm>
          <a:prstGeom prst="rect">
            <a:avLst/>
          </a:prstGeom>
          <a:noFill/>
          <a:ln>
            <a:noFill/>
          </a:ln>
        </p:spPr>
      </p:pic>
      <p:sp>
        <p:nvSpPr>
          <p:cNvPr id="234" name="Google Shape;234;p20"/>
          <p:cNvSpPr txBox="1"/>
          <p:nvPr/>
        </p:nvSpPr>
        <p:spPr>
          <a:xfrm>
            <a:off x="3017520" y="3291840"/>
            <a:ext cx="1371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 sz="1100" u="none" cap="none" strike="noStrike">
                <a:solidFill>
                  <a:srgbClr val="0F172A"/>
                </a:solidFill>
                <a:latin typeface="Calibri"/>
                <a:ea typeface="Calibri"/>
                <a:cs typeface="Calibri"/>
                <a:sym typeface="Calibri"/>
              </a:rPr>
              <a:t>Service layer</a:t>
            </a:r>
            <a:endParaRPr b="0" i="0" sz="1100" u="none" cap="none" strike="noStrike">
              <a:solidFill>
                <a:srgbClr val="0F172A"/>
              </a:solidFill>
              <a:latin typeface="Calibri"/>
              <a:ea typeface="Calibri"/>
              <a:cs typeface="Calibri"/>
              <a:sym typeface="Calibri"/>
            </a:endParaRPr>
          </a:p>
        </p:txBody>
      </p:sp>
      <p:sp>
        <p:nvSpPr>
          <p:cNvPr id="235" name="Google Shape;235;p20"/>
          <p:cNvSpPr txBox="1"/>
          <p:nvPr/>
        </p:nvSpPr>
        <p:spPr>
          <a:xfrm>
            <a:off x="4389120" y="3291840"/>
            <a:ext cx="1828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 sz="950" u="none" cap="none" strike="noStrike">
                <a:solidFill>
                  <a:srgbClr val="334155"/>
                </a:solidFill>
                <a:latin typeface="Calibri"/>
                <a:ea typeface="Calibri"/>
                <a:cs typeface="Calibri"/>
                <a:sym typeface="Calibri"/>
              </a:rPr>
              <a:t>Applies business rules, calculates gains</a:t>
            </a:r>
            <a:endParaRPr b="0" i="0" sz="950" u="none" cap="none" strike="noStrike">
              <a:solidFill>
                <a:srgbClr val="0F172A"/>
              </a:solidFill>
              <a:latin typeface="Calibri"/>
              <a:ea typeface="Calibri"/>
              <a:cs typeface="Calibri"/>
              <a:sym typeface="Calibri"/>
            </a:endParaRPr>
          </a:p>
        </p:txBody>
      </p:sp>
      <p:sp>
        <p:nvSpPr>
          <p:cNvPr id="236" name="Google Shape;236;p20"/>
          <p:cNvSpPr/>
          <p:nvPr/>
        </p:nvSpPr>
        <p:spPr>
          <a:xfrm>
            <a:off x="6291072" y="3392424"/>
            <a:ext cx="274200" cy="27420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
          <p:cNvSpPr txBox="1"/>
          <p:nvPr/>
        </p:nvSpPr>
        <p:spPr>
          <a:xfrm>
            <a:off x="6291072" y="3392424"/>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M</a:t>
            </a:r>
            <a:endParaRPr b="0" i="0" sz="1000" u="none" cap="none" strike="noStrike">
              <a:solidFill>
                <a:srgbClr val="0F172A"/>
              </a:solidFill>
              <a:latin typeface="Calibri"/>
              <a:ea typeface="Calibri"/>
              <a:cs typeface="Calibri"/>
              <a:sym typeface="Calibri"/>
            </a:endParaRPr>
          </a:p>
        </p:txBody>
      </p:sp>
      <p:cxnSp>
        <p:nvCxnSpPr>
          <p:cNvPr id="238" name="Google Shape;238;p20"/>
          <p:cNvCxnSpPr/>
          <p:nvPr/>
        </p:nvCxnSpPr>
        <p:spPr>
          <a:xfrm>
            <a:off x="2779776" y="3776472"/>
            <a:ext cx="0" cy="100500"/>
          </a:xfrm>
          <a:prstGeom prst="straightConnector1">
            <a:avLst/>
          </a:prstGeom>
          <a:noFill/>
          <a:ln cap="flat" cmpd="sng" w="19050">
            <a:solidFill>
              <a:srgbClr val="64748B"/>
            </a:solidFill>
            <a:prstDash val="solid"/>
            <a:round/>
            <a:headEnd len="sm" w="sm" type="none"/>
            <a:tailEnd len="med" w="med" type="triangle"/>
          </a:ln>
        </p:spPr>
      </p:cxnSp>
      <p:sp>
        <p:nvSpPr>
          <p:cNvPr id="239" name="Google Shape;239;p20"/>
          <p:cNvSpPr/>
          <p:nvPr/>
        </p:nvSpPr>
        <p:spPr>
          <a:xfrm>
            <a:off x="2514600" y="3886200"/>
            <a:ext cx="4160400" cy="475500"/>
          </a:xfrm>
          <a:prstGeom prst="roundRect">
            <a:avLst>
              <a:gd fmla="val 15385" name="adj"/>
            </a:avLst>
          </a:prstGeom>
          <a:solidFill>
            <a:srgbClr val="CCFBF1"/>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20"/>
          <p:cNvPicPr preferRelativeResize="0"/>
          <p:nvPr/>
        </p:nvPicPr>
        <p:blipFill rotWithShape="1">
          <a:blip r:embed="rId10">
            <a:alphaModFix/>
          </a:blip>
          <a:srcRect b="0" l="0" r="0" t="0"/>
          <a:stretch/>
        </p:blipFill>
        <p:spPr>
          <a:xfrm>
            <a:off x="2642616" y="3995928"/>
            <a:ext cx="256032" cy="256032"/>
          </a:xfrm>
          <a:prstGeom prst="rect">
            <a:avLst/>
          </a:prstGeom>
          <a:noFill/>
          <a:ln>
            <a:noFill/>
          </a:ln>
        </p:spPr>
      </p:pic>
      <p:sp>
        <p:nvSpPr>
          <p:cNvPr id="241" name="Google Shape;241;p20"/>
          <p:cNvSpPr txBox="1"/>
          <p:nvPr/>
        </p:nvSpPr>
        <p:spPr>
          <a:xfrm>
            <a:off x="3017520" y="3886200"/>
            <a:ext cx="1371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 sz="1100" u="none" cap="none" strike="noStrike">
                <a:solidFill>
                  <a:srgbClr val="0F172A"/>
                </a:solidFill>
                <a:latin typeface="Calibri"/>
                <a:ea typeface="Calibri"/>
                <a:cs typeface="Calibri"/>
                <a:sym typeface="Calibri"/>
              </a:rPr>
              <a:t>Data access layer</a:t>
            </a:r>
            <a:endParaRPr b="0" i="0" sz="1100" u="none" cap="none" strike="noStrike">
              <a:solidFill>
                <a:srgbClr val="0F172A"/>
              </a:solidFill>
              <a:latin typeface="Calibri"/>
              <a:ea typeface="Calibri"/>
              <a:cs typeface="Calibri"/>
              <a:sym typeface="Calibri"/>
            </a:endParaRPr>
          </a:p>
        </p:txBody>
      </p:sp>
      <p:sp>
        <p:nvSpPr>
          <p:cNvPr id="242" name="Google Shape;242;p20"/>
          <p:cNvSpPr txBox="1"/>
          <p:nvPr/>
        </p:nvSpPr>
        <p:spPr>
          <a:xfrm>
            <a:off x="4389120" y="3886200"/>
            <a:ext cx="1828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 sz="950" u="none" cap="none" strike="noStrike">
                <a:solidFill>
                  <a:srgbClr val="334155"/>
                </a:solidFill>
                <a:latin typeface="Calibri"/>
                <a:ea typeface="Calibri"/>
                <a:cs typeface="Calibri"/>
                <a:sym typeface="Calibri"/>
              </a:rPr>
              <a:t>Reads and writes the database</a:t>
            </a:r>
            <a:endParaRPr b="0" i="0" sz="950" u="none" cap="none" strike="noStrike">
              <a:solidFill>
                <a:srgbClr val="0F172A"/>
              </a:solidFill>
              <a:latin typeface="Calibri"/>
              <a:ea typeface="Calibri"/>
              <a:cs typeface="Calibri"/>
              <a:sym typeface="Calibri"/>
            </a:endParaRPr>
          </a:p>
        </p:txBody>
      </p:sp>
      <p:sp>
        <p:nvSpPr>
          <p:cNvPr id="243" name="Google Shape;243;p20"/>
          <p:cNvSpPr/>
          <p:nvPr/>
        </p:nvSpPr>
        <p:spPr>
          <a:xfrm>
            <a:off x="6291072" y="3986784"/>
            <a:ext cx="274200" cy="27420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0"/>
          <p:cNvSpPr txBox="1"/>
          <p:nvPr/>
        </p:nvSpPr>
        <p:spPr>
          <a:xfrm>
            <a:off x="6291072" y="3986784"/>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M</a:t>
            </a:r>
            <a:endParaRPr b="0" i="0" sz="1000" u="none" cap="none" strike="noStrike">
              <a:solidFill>
                <a:srgbClr val="0F172A"/>
              </a:solidFill>
              <a:latin typeface="Calibri"/>
              <a:ea typeface="Calibri"/>
              <a:cs typeface="Calibri"/>
              <a:sym typeface="Calibri"/>
            </a:endParaRPr>
          </a:p>
        </p:txBody>
      </p:sp>
      <p:sp>
        <p:nvSpPr>
          <p:cNvPr id="245" name="Google Shape;245;p20"/>
          <p:cNvSpPr/>
          <p:nvPr/>
        </p:nvSpPr>
        <p:spPr>
          <a:xfrm>
            <a:off x="2514600" y="4498848"/>
            <a:ext cx="4160400" cy="384000"/>
          </a:xfrm>
          <a:prstGeom prst="roundRect">
            <a:avLst>
              <a:gd fmla="val 19048"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6" name="Google Shape;246;p20"/>
          <p:cNvPicPr preferRelativeResize="0"/>
          <p:nvPr/>
        </p:nvPicPr>
        <p:blipFill rotWithShape="1">
          <a:blip r:embed="rId11">
            <a:alphaModFix/>
          </a:blip>
          <a:srcRect b="0" l="0" r="0" t="0"/>
          <a:stretch/>
        </p:blipFill>
        <p:spPr>
          <a:xfrm>
            <a:off x="2651760" y="4572000"/>
            <a:ext cx="237744" cy="237744"/>
          </a:xfrm>
          <a:prstGeom prst="rect">
            <a:avLst/>
          </a:prstGeom>
          <a:noFill/>
          <a:ln>
            <a:noFill/>
          </a:ln>
        </p:spPr>
      </p:pic>
      <p:sp>
        <p:nvSpPr>
          <p:cNvPr id="247" name="Google Shape;247;p20"/>
          <p:cNvSpPr txBox="1"/>
          <p:nvPr/>
        </p:nvSpPr>
        <p:spPr>
          <a:xfrm>
            <a:off x="3017520" y="4498848"/>
            <a:ext cx="35661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Spring container: </a:t>
            </a:r>
            <a:r>
              <a:rPr b="0" i="0" lang="en" sz="950" u="none" cap="none" strike="noStrike">
                <a:solidFill>
                  <a:srgbClr val="FFFFFF"/>
                </a:solidFill>
                <a:latin typeface="Calibri"/>
                <a:ea typeface="Calibri"/>
                <a:cs typeface="Calibri"/>
                <a:sym typeface="Calibri"/>
              </a:rPr>
              <a:t>creates each layer once and plugs it into the layer above (dependency injection)</a:t>
            </a:r>
            <a:endParaRPr b="0" i="0" sz="950" u="none" cap="none" strike="noStrike">
              <a:solidFill>
                <a:srgbClr val="0F172A"/>
              </a:solidFill>
              <a:latin typeface="Calibri"/>
              <a:ea typeface="Calibri"/>
              <a:cs typeface="Calibri"/>
              <a:sym typeface="Calibri"/>
            </a:endParaRPr>
          </a:p>
        </p:txBody>
      </p:sp>
      <p:sp>
        <p:nvSpPr>
          <p:cNvPr id="248" name="Google Shape;248;p20"/>
          <p:cNvSpPr/>
          <p:nvPr/>
        </p:nvSpPr>
        <p:spPr>
          <a:xfrm>
            <a:off x="7068312" y="1417320"/>
            <a:ext cx="1819692" cy="1051596"/>
          </a:xfrm>
          <a:prstGeom prst="cloud">
            <a:avLst/>
          </a:prstGeom>
          <a:solidFill>
            <a:srgbClr val="FFFFFF"/>
          </a:solidFill>
          <a:ln cap="flat" cmpd="sng" w="1905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0"/>
          <p:cNvSpPr txBox="1"/>
          <p:nvPr/>
        </p:nvSpPr>
        <p:spPr>
          <a:xfrm>
            <a:off x="7269480" y="1691640"/>
            <a:ext cx="14172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100"/>
              <a:buFont typeface="Calibri"/>
              <a:buNone/>
            </a:pPr>
            <a:r>
              <a:rPr b="1" i="0" lang="en" sz="1100" u="none" cap="none" strike="noStrike">
                <a:solidFill>
                  <a:srgbClr val="D97706"/>
                </a:solidFill>
                <a:latin typeface="Calibri"/>
                <a:ea typeface="Calibri"/>
                <a:cs typeface="Calibri"/>
                <a:sym typeface="Calibri"/>
              </a:rPr>
              <a:t>Twelve Data</a:t>
            </a:r>
            <a:endParaRPr b="0" i="0" sz="1100" u="none" cap="none" strike="noStrike">
              <a:solidFill>
                <a:srgbClr val="0F172A"/>
              </a:solidFill>
              <a:latin typeface="Calibri"/>
              <a:ea typeface="Calibri"/>
              <a:cs typeface="Calibri"/>
              <a:sym typeface="Calibri"/>
            </a:endParaRPr>
          </a:p>
        </p:txBody>
      </p:sp>
      <p:sp>
        <p:nvSpPr>
          <p:cNvPr id="250" name="Google Shape;250;p20"/>
          <p:cNvSpPr txBox="1"/>
          <p:nvPr/>
        </p:nvSpPr>
        <p:spPr>
          <a:xfrm>
            <a:off x="7360920" y="1901952"/>
            <a:ext cx="12345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 sz="850" u="none" cap="none" strike="noStrike">
                <a:solidFill>
                  <a:srgbClr val="64748B"/>
                </a:solidFill>
                <a:latin typeface="Calibri"/>
                <a:ea typeface="Calibri"/>
                <a:cs typeface="Calibri"/>
                <a:sym typeface="Calibri"/>
              </a:rPr>
              <a:t>external service:</a:t>
            </a:r>
            <a:endParaRPr b="0" i="0" sz="850" u="none" cap="none" strike="noStrike">
              <a:solidFill>
                <a:srgbClr val="0F172A"/>
              </a:solidFill>
              <a:latin typeface="Calibri"/>
              <a:ea typeface="Calibri"/>
              <a:cs typeface="Calibri"/>
              <a:sym typeface="Calibri"/>
            </a:endParaRPr>
          </a:p>
          <a:p>
            <a:pPr indent="0" lvl="0" marL="0" marR="0" rtl="0" algn="ctr">
              <a:spcBef>
                <a:spcPts val="0"/>
              </a:spcBef>
              <a:spcAft>
                <a:spcPts val="0"/>
              </a:spcAft>
              <a:buClr>
                <a:srgbClr val="64748B"/>
              </a:buClr>
              <a:buSzPts val="850"/>
              <a:buFont typeface="Calibri"/>
              <a:buNone/>
            </a:pPr>
            <a:r>
              <a:rPr b="0" i="0" lang="en" sz="850" u="none" cap="none" strike="noStrike">
                <a:solidFill>
                  <a:srgbClr val="64748B"/>
                </a:solidFill>
                <a:latin typeface="Calibri"/>
                <a:ea typeface="Calibri"/>
                <a:cs typeface="Calibri"/>
                <a:sym typeface="Calibri"/>
              </a:rPr>
              <a:t>live share prices</a:t>
            </a:r>
            <a:endParaRPr b="0" i="0" sz="850" u="none" cap="none" strike="noStrike">
              <a:solidFill>
                <a:srgbClr val="0F172A"/>
              </a:solidFill>
              <a:latin typeface="Calibri"/>
              <a:ea typeface="Calibri"/>
              <a:cs typeface="Calibri"/>
              <a:sym typeface="Calibri"/>
            </a:endParaRPr>
          </a:p>
        </p:txBody>
      </p:sp>
      <p:sp>
        <p:nvSpPr>
          <p:cNvPr id="251" name="Google Shape;251;p20"/>
          <p:cNvSpPr/>
          <p:nvPr/>
        </p:nvSpPr>
        <p:spPr>
          <a:xfrm>
            <a:off x="7223760" y="2788920"/>
            <a:ext cx="1508700" cy="1508700"/>
          </a:xfrm>
          <a:prstGeom prst="can">
            <a:avLst>
              <a:gd fmla="val 25000" name="adj"/>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2" name="Google Shape;252;p20"/>
          <p:cNvPicPr preferRelativeResize="0"/>
          <p:nvPr/>
        </p:nvPicPr>
        <p:blipFill rotWithShape="1">
          <a:blip r:embed="rId12">
            <a:alphaModFix/>
          </a:blip>
          <a:srcRect b="0" l="0" r="0" t="0"/>
          <a:stretch/>
        </p:blipFill>
        <p:spPr>
          <a:xfrm>
            <a:off x="7840980" y="3127248"/>
            <a:ext cx="274320" cy="274320"/>
          </a:xfrm>
          <a:prstGeom prst="rect">
            <a:avLst/>
          </a:prstGeom>
          <a:noFill/>
          <a:ln>
            <a:noFill/>
          </a:ln>
        </p:spPr>
      </p:pic>
      <p:sp>
        <p:nvSpPr>
          <p:cNvPr id="253" name="Google Shape;253;p20"/>
          <p:cNvSpPr txBox="1"/>
          <p:nvPr/>
        </p:nvSpPr>
        <p:spPr>
          <a:xfrm>
            <a:off x="7269480" y="3456432"/>
            <a:ext cx="14172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MySQL database</a:t>
            </a:r>
            <a:endParaRPr b="0" i="0" sz="1100" u="none" cap="none" strike="noStrike">
              <a:solidFill>
                <a:srgbClr val="0F172A"/>
              </a:solidFill>
              <a:latin typeface="Calibri"/>
              <a:ea typeface="Calibri"/>
              <a:cs typeface="Calibri"/>
              <a:sym typeface="Calibri"/>
            </a:endParaRPr>
          </a:p>
        </p:txBody>
      </p:sp>
      <p:sp>
        <p:nvSpPr>
          <p:cNvPr id="254" name="Google Shape;254;p20"/>
          <p:cNvSpPr txBox="1"/>
          <p:nvPr/>
        </p:nvSpPr>
        <p:spPr>
          <a:xfrm>
            <a:off x="7360920" y="3703320"/>
            <a:ext cx="1234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 sz="850" u="none" cap="none" strike="noStrike">
                <a:solidFill>
                  <a:srgbClr val="FFFFFF"/>
                </a:solidFill>
                <a:latin typeface="Calibri"/>
                <a:ea typeface="Calibri"/>
                <a:cs typeface="Calibri"/>
                <a:sym typeface="Calibri"/>
              </a:rPr>
              <a:t>stores users, stocks, holdings, watchlist, transactions</a:t>
            </a:r>
            <a:endParaRPr b="0" i="0" sz="850" u="none" cap="none" strike="noStrike">
              <a:solidFill>
                <a:srgbClr val="0F172A"/>
              </a:solidFill>
              <a:latin typeface="Calibri"/>
              <a:ea typeface="Calibri"/>
              <a:cs typeface="Calibri"/>
              <a:sym typeface="Calibri"/>
            </a:endParaRPr>
          </a:p>
        </p:txBody>
      </p:sp>
      <p:cxnSp>
        <p:nvCxnSpPr>
          <p:cNvPr id="255" name="Google Shape;255;p20"/>
          <p:cNvCxnSpPr/>
          <p:nvPr/>
        </p:nvCxnSpPr>
        <p:spPr>
          <a:xfrm>
            <a:off x="1938528" y="1746504"/>
            <a:ext cx="557700" cy="0"/>
          </a:xfrm>
          <a:prstGeom prst="straightConnector1">
            <a:avLst/>
          </a:prstGeom>
          <a:noFill/>
          <a:ln cap="flat" cmpd="sng" w="19050">
            <a:solidFill>
              <a:srgbClr val="64748B"/>
            </a:solidFill>
            <a:prstDash val="solid"/>
            <a:round/>
            <a:headEnd len="med" w="med" type="triangle"/>
            <a:tailEnd len="med" w="med" type="triangle"/>
          </a:ln>
        </p:spPr>
      </p:cxnSp>
      <p:sp>
        <p:nvSpPr>
          <p:cNvPr id="256" name="Google Shape;256;p20"/>
          <p:cNvSpPr txBox="1"/>
          <p:nvPr/>
        </p:nvSpPr>
        <p:spPr>
          <a:xfrm>
            <a:off x="1920240" y="1545336"/>
            <a:ext cx="411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request</a:t>
            </a:r>
            <a:endParaRPr b="0" i="0" sz="750" u="none" cap="none" strike="noStrike">
              <a:solidFill>
                <a:srgbClr val="0F172A"/>
              </a:solidFill>
              <a:latin typeface="Calibri"/>
              <a:ea typeface="Calibri"/>
              <a:cs typeface="Calibri"/>
              <a:sym typeface="Calibri"/>
            </a:endParaRPr>
          </a:p>
        </p:txBody>
      </p:sp>
      <p:sp>
        <p:nvSpPr>
          <p:cNvPr id="257" name="Google Shape;257;p20"/>
          <p:cNvSpPr txBox="1"/>
          <p:nvPr/>
        </p:nvSpPr>
        <p:spPr>
          <a:xfrm>
            <a:off x="1920240" y="1801368"/>
            <a:ext cx="411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JSON</a:t>
            </a:r>
            <a:endParaRPr b="0" i="0" sz="750" u="none" cap="none" strike="noStrike">
              <a:solidFill>
                <a:srgbClr val="0F172A"/>
              </a:solidFill>
              <a:latin typeface="Calibri"/>
              <a:ea typeface="Calibri"/>
              <a:cs typeface="Calibri"/>
              <a:sym typeface="Calibri"/>
            </a:endParaRPr>
          </a:p>
        </p:txBody>
      </p:sp>
      <p:cxnSp>
        <p:nvCxnSpPr>
          <p:cNvPr id="258" name="Google Shape;258;p20"/>
          <p:cNvCxnSpPr/>
          <p:nvPr/>
        </p:nvCxnSpPr>
        <p:spPr>
          <a:xfrm flipH="1" rot="10800000">
            <a:off x="6693408" y="2240184"/>
            <a:ext cx="530400" cy="1289400"/>
          </a:xfrm>
          <a:prstGeom prst="straightConnector1">
            <a:avLst/>
          </a:prstGeom>
          <a:noFill/>
          <a:ln cap="flat" cmpd="sng" w="19050">
            <a:solidFill>
              <a:srgbClr val="D97706"/>
            </a:solidFill>
            <a:prstDash val="solid"/>
            <a:round/>
            <a:headEnd len="med" w="med" type="triangle"/>
            <a:tailEnd len="med" w="med" type="triangle"/>
          </a:ln>
        </p:spPr>
      </p:cxnSp>
      <p:sp>
        <p:nvSpPr>
          <p:cNvPr id="259" name="Google Shape;259;p20"/>
          <p:cNvSpPr txBox="1"/>
          <p:nvPr/>
        </p:nvSpPr>
        <p:spPr>
          <a:xfrm>
            <a:off x="7132320" y="2523744"/>
            <a:ext cx="914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750"/>
              <a:buFont typeface="Calibri"/>
              <a:buNone/>
            </a:pPr>
            <a:r>
              <a:rPr b="0" i="0" lang="en" sz="750" u="none" cap="none" strike="noStrike">
                <a:solidFill>
                  <a:srgbClr val="D97706"/>
                </a:solidFill>
                <a:latin typeface="Calibri"/>
                <a:ea typeface="Calibri"/>
                <a:cs typeface="Calibri"/>
                <a:sym typeface="Calibri"/>
              </a:rPr>
              <a:t>fetches prices</a:t>
            </a:r>
            <a:endParaRPr b="0" i="0" sz="750" u="none" cap="none" strike="noStrike">
              <a:solidFill>
                <a:srgbClr val="0F172A"/>
              </a:solidFill>
              <a:latin typeface="Calibri"/>
              <a:ea typeface="Calibri"/>
              <a:cs typeface="Calibri"/>
              <a:sym typeface="Calibri"/>
            </a:endParaRPr>
          </a:p>
        </p:txBody>
      </p:sp>
      <p:cxnSp>
        <p:nvCxnSpPr>
          <p:cNvPr id="260" name="Google Shape;260;p20"/>
          <p:cNvCxnSpPr/>
          <p:nvPr/>
        </p:nvCxnSpPr>
        <p:spPr>
          <a:xfrm>
            <a:off x="6693408" y="4123944"/>
            <a:ext cx="512100" cy="0"/>
          </a:xfrm>
          <a:prstGeom prst="straightConnector1">
            <a:avLst/>
          </a:prstGeom>
          <a:noFill/>
          <a:ln cap="flat" cmpd="sng" w="19050">
            <a:solidFill>
              <a:srgbClr val="0F766E"/>
            </a:solidFill>
            <a:prstDash val="solid"/>
            <a:round/>
            <a:headEnd len="med" w="med" type="triangle"/>
            <a:tailEnd len="med" w="med" type="triangle"/>
          </a:ln>
        </p:spPr>
      </p:cxnSp>
      <p:sp>
        <p:nvSpPr>
          <p:cNvPr id="261" name="Google Shape;261;p20"/>
          <p:cNvSpPr txBox="1"/>
          <p:nvPr/>
        </p:nvSpPr>
        <p:spPr>
          <a:xfrm>
            <a:off x="6876288" y="4169664"/>
            <a:ext cx="3657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750"/>
              <a:buFont typeface="Calibri"/>
              <a:buNone/>
            </a:pPr>
            <a:r>
              <a:rPr b="0" i="0" lang="en" sz="750" u="none" cap="none" strike="noStrike">
                <a:solidFill>
                  <a:srgbClr val="0F766E"/>
                </a:solidFill>
                <a:latin typeface="Calibri"/>
                <a:ea typeface="Calibri"/>
                <a:cs typeface="Calibri"/>
                <a:sym typeface="Calibri"/>
              </a:rPr>
              <a:t>queries</a:t>
            </a:r>
            <a:endParaRPr b="0" i="0" sz="750" u="none" cap="none" strike="noStrike">
              <a:solidFill>
                <a:srgbClr val="0F172A"/>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65" name="Shape 265"/>
        <p:cNvGrpSpPr/>
        <p:nvPr/>
      </p:nvGrpSpPr>
      <p:grpSpPr>
        <a:xfrm>
          <a:off x="0" y="0"/>
          <a:ext cx="0" cy="0"/>
          <a:chOff x="0" y="0"/>
          <a:chExt cx="0" cy="0"/>
        </a:xfrm>
      </p:grpSpPr>
      <p:sp>
        <p:nvSpPr>
          <p:cNvPr id="266" name="Google Shape;266;p21"/>
          <p:cNvSpPr txBox="1"/>
          <p:nvPr/>
        </p:nvSpPr>
        <p:spPr>
          <a:xfrm>
            <a:off x="457200" y="304800"/>
            <a:ext cx="82296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rgbClr val="0F1B2D"/>
                </a:solidFill>
                <a:latin typeface="Cambria"/>
                <a:ea typeface="Cambria"/>
                <a:cs typeface="Cambria"/>
                <a:sym typeface="Cambria"/>
              </a:rPr>
              <a:t>Stock Live Prices</a:t>
            </a:r>
            <a:endParaRPr b="1" sz="3000">
              <a:solidFill>
                <a:srgbClr val="0F1B2D"/>
              </a:solidFill>
              <a:latin typeface="Cambria"/>
              <a:ea typeface="Cambria"/>
              <a:cs typeface="Cambria"/>
              <a:sym typeface="Cambria"/>
            </a:endParaRPr>
          </a:p>
        </p:txBody>
      </p:sp>
      <p:grpSp>
        <p:nvGrpSpPr>
          <p:cNvPr id="267" name="Google Shape;267;p21"/>
          <p:cNvGrpSpPr/>
          <p:nvPr/>
        </p:nvGrpSpPr>
        <p:grpSpPr>
          <a:xfrm>
            <a:off x="457200" y="1028700"/>
            <a:ext cx="4000500" cy="1790700"/>
            <a:chOff x="0" y="0"/>
            <a:chExt cx="4000500" cy="1790700"/>
          </a:xfrm>
        </p:grpSpPr>
        <p:sp>
          <p:nvSpPr>
            <p:cNvPr id="268" name="Google Shape;268;p21"/>
            <p:cNvSpPr/>
            <p:nvPr/>
          </p:nvSpPr>
          <p:spPr>
            <a:xfrm>
              <a:off x="0" y="0"/>
              <a:ext cx="4000500" cy="1790700"/>
            </a:xfrm>
            <a:prstGeom prst="roundRect">
              <a:avLst>
                <a:gd fmla="val 5319" name="adj"/>
              </a:avLst>
            </a:prstGeom>
            <a:solidFill>
              <a:srgbClr val="EEF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1"/>
            <p:cNvSpPr txBox="1"/>
            <p:nvPr/>
          </p:nvSpPr>
          <p:spPr>
            <a:xfrm>
              <a:off x="228600" y="190500"/>
              <a:ext cx="3543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73">
                  <a:solidFill>
                    <a:srgbClr val="0F1B2D"/>
                  </a:solidFill>
                  <a:latin typeface="Calibri"/>
                  <a:ea typeface="Calibri"/>
                  <a:cs typeface="Calibri"/>
                  <a:sym typeface="Calibri"/>
                </a:rPr>
                <a:t>We ask a market data service</a:t>
              </a:r>
              <a:endParaRPr b="1" sz="1573">
                <a:solidFill>
                  <a:srgbClr val="0F1B2D"/>
                </a:solidFill>
                <a:latin typeface="Calibri"/>
                <a:ea typeface="Calibri"/>
                <a:cs typeface="Calibri"/>
                <a:sym typeface="Calibri"/>
              </a:endParaRPr>
            </a:p>
          </p:txBody>
        </p:sp>
        <p:sp>
          <p:nvSpPr>
            <p:cNvPr id="270" name="Google Shape;270;p21"/>
            <p:cNvSpPr txBox="1"/>
            <p:nvPr/>
          </p:nvSpPr>
          <p:spPr>
            <a:xfrm>
              <a:off x="228600" y="533400"/>
              <a:ext cx="3543300" cy="10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1B2433"/>
                  </a:solidFill>
                  <a:latin typeface="Calibri"/>
                  <a:ea typeface="Calibri"/>
                  <a:cs typeface="Calibri"/>
                  <a:sym typeface="Calibri"/>
                </a:rPr>
                <a:t>Each price is kept in memory with the time we fetched it. Within 15 minutes we reuse it, so pages can load faster and we reduce API load.</a:t>
              </a:r>
              <a:endParaRPr b="0" sz="1350">
                <a:solidFill>
                  <a:srgbClr val="1B2433"/>
                </a:solidFill>
                <a:latin typeface="Calibri"/>
                <a:ea typeface="Calibri"/>
                <a:cs typeface="Calibri"/>
                <a:sym typeface="Calibri"/>
              </a:endParaRPr>
            </a:p>
          </p:txBody>
        </p:sp>
      </p:grpSp>
      <p:grpSp>
        <p:nvGrpSpPr>
          <p:cNvPr id="271" name="Google Shape;271;p21"/>
          <p:cNvGrpSpPr/>
          <p:nvPr/>
        </p:nvGrpSpPr>
        <p:grpSpPr>
          <a:xfrm>
            <a:off x="457200" y="3009900"/>
            <a:ext cx="4000500" cy="1790700"/>
            <a:chOff x="0" y="0"/>
            <a:chExt cx="4000500" cy="1790700"/>
          </a:xfrm>
        </p:grpSpPr>
        <p:sp>
          <p:nvSpPr>
            <p:cNvPr id="272" name="Google Shape;272;p21"/>
            <p:cNvSpPr/>
            <p:nvPr/>
          </p:nvSpPr>
          <p:spPr>
            <a:xfrm>
              <a:off x="0" y="0"/>
              <a:ext cx="4000500" cy="1790700"/>
            </a:xfrm>
            <a:prstGeom prst="roundRect">
              <a:avLst>
                <a:gd fmla="val 5319" name="adj"/>
              </a:avLst>
            </a:prstGeom>
            <a:solidFill>
              <a:srgbClr val="EEF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1"/>
            <p:cNvSpPr txBox="1"/>
            <p:nvPr/>
          </p:nvSpPr>
          <p:spPr>
            <a:xfrm>
              <a:off x="228600" y="190500"/>
              <a:ext cx="3543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73">
                  <a:solidFill>
                    <a:srgbClr val="0F1B2D"/>
                  </a:solidFill>
                  <a:latin typeface="Calibri"/>
                  <a:ea typeface="Calibri"/>
                  <a:cs typeface="Calibri"/>
                  <a:sym typeface="Calibri"/>
                </a:rPr>
                <a:t>We remember each price for 15 minutes</a:t>
              </a:r>
              <a:endParaRPr b="1" sz="1573">
                <a:solidFill>
                  <a:srgbClr val="0F1B2D"/>
                </a:solidFill>
                <a:latin typeface="Calibri"/>
                <a:ea typeface="Calibri"/>
                <a:cs typeface="Calibri"/>
                <a:sym typeface="Calibri"/>
              </a:endParaRPr>
            </a:p>
          </p:txBody>
        </p:sp>
        <p:sp>
          <p:nvSpPr>
            <p:cNvPr id="274" name="Google Shape;274;p21"/>
            <p:cNvSpPr txBox="1"/>
            <p:nvPr/>
          </p:nvSpPr>
          <p:spPr>
            <a:xfrm>
              <a:off x="228600" y="533400"/>
              <a:ext cx="3543300" cy="10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1B2433"/>
                  </a:solidFill>
                  <a:latin typeface="Calibri"/>
                  <a:ea typeface="Calibri"/>
                  <a:cs typeface="Calibri"/>
                  <a:sym typeface="Calibri"/>
                </a:rPr>
                <a:t>If the Service from the third party API is down, we just show the last price that was stored in cache. If there is no price stored in memory then we display to the user that prices are not available.</a:t>
              </a:r>
              <a:endParaRPr b="0" sz="1350">
                <a:solidFill>
                  <a:srgbClr val="1B2433"/>
                </a:solidFill>
                <a:latin typeface="Calibri"/>
                <a:ea typeface="Calibri"/>
                <a:cs typeface="Calibri"/>
                <a:sym typeface="Calibri"/>
              </a:endParaRPr>
            </a:p>
          </p:txBody>
        </p:sp>
      </p:grpSp>
      <p:grpSp>
        <p:nvGrpSpPr>
          <p:cNvPr id="275" name="Google Shape;275;p21"/>
          <p:cNvGrpSpPr/>
          <p:nvPr/>
        </p:nvGrpSpPr>
        <p:grpSpPr>
          <a:xfrm>
            <a:off x="4686300" y="1028700"/>
            <a:ext cx="4000500" cy="3771900"/>
            <a:chOff x="0" y="0"/>
            <a:chExt cx="4000500" cy="3771900"/>
          </a:xfrm>
        </p:grpSpPr>
        <p:sp>
          <p:nvSpPr>
            <p:cNvPr id="276" name="Google Shape;276;p21"/>
            <p:cNvSpPr/>
            <p:nvPr/>
          </p:nvSpPr>
          <p:spPr>
            <a:xfrm>
              <a:off x="0" y="0"/>
              <a:ext cx="4000500" cy="3771900"/>
            </a:xfrm>
            <a:prstGeom prst="roundRect">
              <a:avLst>
                <a:gd fmla="val 3030" name="adj"/>
              </a:avLst>
            </a:prstGeom>
            <a:solidFill>
              <a:srgbClr val="E9F2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228600" y="228600"/>
              <a:ext cx="35433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i="1" lang="en" sz="1573">
                  <a:solidFill>
                    <a:srgbClr val="0F1B2D"/>
                  </a:solidFill>
                  <a:latin typeface="Calibri"/>
                  <a:ea typeface="Calibri"/>
                  <a:cs typeface="Calibri"/>
                  <a:sym typeface="Calibri"/>
                </a:rPr>
                <a:t>What happens when you click get live price?</a:t>
              </a:r>
              <a:endParaRPr b="1" i="1" sz="1573">
                <a:solidFill>
                  <a:srgbClr val="0F1B2D"/>
                </a:solidFill>
                <a:latin typeface="Calibri"/>
                <a:ea typeface="Calibri"/>
                <a:cs typeface="Calibri"/>
                <a:sym typeface="Calibri"/>
              </a:endParaRPr>
            </a:p>
          </p:txBody>
        </p:sp>
        <p:grpSp>
          <p:nvGrpSpPr>
            <p:cNvPr id="278" name="Google Shape;278;p21"/>
            <p:cNvGrpSpPr/>
            <p:nvPr/>
          </p:nvGrpSpPr>
          <p:grpSpPr>
            <a:xfrm>
              <a:off x="228600" y="914400"/>
              <a:ext cx="3543300" cy="419100"/>
              <a:chOff x="0" y="0"/>
              <a:chExt cx="3543300" cy="419100"/>
            </a:xfrm>
          </p:grpSpPr>
          <p:sp>
            <p:nvSpPr>
              <p:cNvPr id="279" name="Google Shape;279;p21"/>
              <p:cNvSpPr/>
              <p:nvPr/>
            </p:nvSpPr>
            <p:spPr>
              <a:xfrm>
                <a:off x="0" y="0"/>
                <a:ext cx="304800" cy="3048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1"/>
              <p:cNvSpPr txBox="1"/>
              <p:nvPr/>
            </p:nvSpPr>
            <p:spPr>
              <a:xfrm>
                <a:off x="0" y="28575"/>
                <a:ext cx="3048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00">
                    <a:solidFill>
                      <a:srgbClr val="FFFFFF"/>
                    </a:solidFill>
                    <a:latin typeface="Cambria"/>
                    <a:ea typeface="Cambria"/>
                    <a:cs typeface="Cambria"/>
                    <a:sym typeface="Cambria"/>
                  </a:rPr>
                  <a:t>1</a:t>
                </a:r>
                <a:endParaRPr b="1" sz="1400">
                  <a:solidFill>
                    <a:srgbClr val="FFFFFF"/>
                  </a:solidFill>
                  <a:latin typeface="Cambria"/>
                  <a:ea typeface="Cambria"/>
                  <a:cs typeface="Cambria"/>
                  <a:sym typeface="Cambria"/>
                </a:endParaRPr>
              </a:p>
            </p:txBody>
          </p:sp>
          <p:sp>
            <p:nvSpPr>
              <p:cNvPr id="281" name="Google Shape;281;p21"/>
              <p:cNvSpPr txBox="1"/>
              <p:nvPr/>
            </p:nvSpPr>
            <p:spPr>
              <a:xfrm>
                <a:off x="419100" y="38100"/>
                <a:ext cx="31242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B2D"/>
                    </a:solidFill>
                    <a:latin typeface="Calibri"/>
                    <a:ea typeface="Calibri"/>
                    <a:cs typeface="Calibri"/>
                    <a:sym typeface="Calibri"/>
                  </a:rPr>
                  <a:t>The browser asks our server.</a:t>
                </a:r>
                <a:endParaRPr b="0" sz="1500">
                  <a:solidFill>
                    <a:srgbClr val="0F1B2D"/>
                  </a:solidFill>
                  <a:latin typeface="Calibri"/>
                  <a:ea typeface="Calibri"/>
                  <a:cs typeface="Calibri"/>
                  <a:sym typeface="Calibri"/>
                </a:endParaRPr>
              </a:p>
            </p:txBody>
          </p:sp>
        </p:grpSp>
        <p:grpSp>
          <p:nvGrpSpPr>
            <p:cNvPr id="282" name="Google Shape;282;p21"/>
            <p:cNvGrpSpPr/>
            <p:nvPr/>
          </p:nvGrpSpPr>
          <p:grpSpPr>
            <a:xfrm>
              <a:off x="228600" y="1581150"/>
              <a:ext cx="3543300" cy="476400"/>
              <a:chOff x="0" y="0"/>
              <a:chExt cx="3543300" cy="476400"/>
            </a:xfrm>
          </p:grpSpPr>
          <p:sp>
            <p:nvSpPr>
              <p:cNvPr id="283" name="Google Shape;283;p21"/>
              <p:cNvSpPr/>
              <p:nvPr/>
            </p:nvSpPr>
            <p:spPr>
              <a:xfrm>
                <a:off x="0" y="0"/>
                <a:ext cx="304800" cy="3048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1"/>
              <p:cNvSpPr txBox="1"/>
              <p:nvPr/>
            </p:nvSpPr>
            <p:spPr>
              <a:xfrm>
                <a:off x="0" y="28575"/>
                <a:ext cx="3048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00">
                    <a:solidFill>
                      <a:srgbClr val="FFFFFF"/>
                    </a:solidFill>
                    <a:latin typeface="Cambria"/>
                    <a:ea typeface="Cambria"/>
                    <a:cs typeface="Cambria"/>
                    <a:sym typeface="Cambria"/>
                  </a:rPr>
                  <a:t>2</a:t>
                </a:r>
                <a:endParaRPr b="1" sz="1400">
                  <a:solidFill>
                    <a:srgbClr val="FFFFFF"/>
                  </a:solidFill>
                  <a:latin typeface="Cambria"/>
                  <a:ea typeface="Cambria"/>
                  <a:cs typeface="Cambria"/>
                  <a:sym typeface="Cambria"/>
                </a:endParaRPr>
              </a:p>
            </p:txBody>
          </p:sp>
          <p:sp>
            <p:nvSpPr>
              <p:cNvPr id="285" name="Google Shape;285;p21"/>
              <p:cNvSpPr txBox="1"/>
              <p:nvPr/>
            </p:nvSpPr>
            <p:spPr>
              <a:xfrm>
                <a:off x="419100" y="0"/>
                <a:ext cx="31242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B2D"/>
                    </a:solidFill>
                    <a:latin typeface="Calibri"/>
                    <a:ea typeface="Calibri"/>
                    <a:cs typeface="Calibri"/>
                    <a:sym typeface="Calibri"/>
                  </a:rPr>
                  <a:t>Is the price fresh in memory? </a:t>
                </a:r>
                <a:r>
                  <a:rPr b="1" lang="en" sz="1500">
                    <a:solidFill>
                      <a:srgbClr val="15803D"/>
                    </a:solidFill>
                    <a:latin typeface="Calibri"/>
                    <a:ea typeface="Calibri"/>
                    <a:cs typeface="Calibri"/>
                    <a:sym typeface="Calibri"/>
                  </a:rPr>
                  <a:t>→ answer instantly 60x faster.</a:t>
                </a:r>
                <a:endParaRPr b="0" sz="1500">
                  <a:solidFill>
                    <a:srgbClr val="0F1B2D"/>
                  </a:solidFill>
                  <a:latin typeface="Calibri"/>
                  <a:ea typeface="Calibri"/>
                  <a:cs typeface="Calibri"/>
                  <a:sym typeface="Calibri"/>
                </a:endParaRPr>
              </a:p>
            </p:txBody>
          </p:sp>
        </p:grpSp>
        <p:grpSp>
          <p:nvGrpSpPr>
            <p:cNvPr id="286" name="Google Shape;286;p21"/>
            <p:cNvGrpSpPr/>
            <p:nvPr/>
          </p:nvGrpSpPr>
          <p:grpSpPr>
            <a:xfrm>
              <a:off x="228600" y="2247900"/>
              <a:ext cx="3543300" cy="419100"/>
              <a:chOff x="0" y="0"/>
              <a:chExt cx="3543300" cy="419100"/>
            </a:xfrm>
          </p:grpSpPr>
          <p:sp>
            <p:nvSpPr>
              <p:cNvPr id="287" name="Google Shape;287;p21"/>
              <p:cNvSpPr/>
              <p:nvPr/>
            </p:nvSpPr>
            <p:spPr>
              <a:xfrm>
                <a:off x="0" y="0"/>
                <a:ext cx="304800" cy="3048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1"/>
              <p:cNvSpPr txBox="1"/>
              <p:nvPr/>
            </p:nvSpPr>
            <p:spPr>
              <a:xfrm>
                <a:off x="0" y="28575"/>
                <a:ext cx="3048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00">
                    <a:solidFill>
                      <a:srgbClr val="FFFFFF"/>
                    </a:solidFill>
                    <a:latin typeface="Cambria"/>
                    <a:ea typeface="Cambria"/>
                    <a:cs typeface="Cambria"/>
                    <a:sym typeface="Cambria"/>
                  </a:rPr>
                  <a:t>3</a:t>
                </a:r>
                <a:endParaRPr b="1" sz="1400">
                  <a:solidFill>
                    <a:srgbClr val="FFFFFF"/>
                  </a:solidFill>
                  <a:latin typeface="Cambria"/>
                  <a:ea typeface="Cambria"/>
                  <a:cs typeface="Cambria"/>
                  <a:sym typeface="Cambria"/>
                </a:endParaRPr>
              </a:p>
            </p:txBody>
          </p:sp>
          <p:sp>
            <p:nvSpPr>
              <p:cNvPr id="289" name="Google Shape;289;p21"/>
              <p:cNvSpPr txBox="1"/>
              <p:nvPr/>
            </p:nvSpPr>
            <p:spPr>
              <a:xfrm>
                <a:off x="419100" y="38100"/>
                <a:ext cx="31242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B2D"/>
                    </a:solidFill>
                    <a:latin typeface="Calibri"/>
                    <a:ea typeface="Calibri"/>
                    <a:cs typeface="Calibri"/>
                    <a:sym typeface="Calibri"/>
                  </a:rPr>
                  <a:t>Not fresh? </a:t>
                </a:r>
                <a:r>
                  <a:rPr b="1" lang="en" sz="1500">
                    <a:solidFill>
                      <a:srgbClr val="D97706"/>
                    </a:solidFill>
                    <a:latin typeface="Calibri"/>
                    <a:ea typeface="Calibri"/>
                    <a:cs typeface="Calibri"/>
                    <a:sym typeface="Calibri"/>
                  </a:rPr>
                  <a:t>→ ask Twelve Data</a:t>
                </a:r>
                <a:endParaRPr b="0" sz="1500">
                  <a:solidFill>
                    <a:srgbClr val="0F1B2D"/>
                  </a:solidFill>
                  <a:latin typeface="Calibri"/>
                  <a:ea typeface="Calibri"/>
                  <a:cs typeface="Calibri"/>
                  <a:sym typeface="Calibri"/>
                </a:endParaRPr>
              </a:p>
            </p:txBody>
          </p:sp>
        </p:grpSp>
        <p:grpSp>
          <p:nvGrpSpPr>
            <p:cNvPr id="290" name="Google Shape;290;p21"/>
            <p:cNvGrpSpPr/>
            <p:nvPr/>
          </p:nvGrpSpPr>
          <p:grpSpPr>
            <a:xfrm>
              <a:off x="228600" y="2914650"/>
              <a:ext cx="3543300" cy="419100"/>
              <a:chOff x="0" y="0"/>
              <a:chExt cx="3543300" cy="419100"/>
            </a:xfrm>
          </p:grpSpPr>
          <p:sp>
            <p:nvSpPr>
              <p:cNvPr id="291" name="Google Shape;291;p21"/>
              <p:cNvSpPr/>
              <p:nvPr/>
            </p:nvSpPr>
            <p:spPr>
              <a:xfrm>
                <a:off x="0" y="0"/>
                <a:ext cx="304800" cy="3048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1"/>
              <p:cNvSpPr txBox="1"/>
              <p:nvPr/>
            </p:nvSpPr>
            <p:spPr>
              <a:xfrm>
                <a:off x="0" y="28575"/>
                <a:ext cx="3048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00">
                    <a:solidFill>
                      <a:srgbClr val="FFFFFF"/>
                    </a:solidFill>
                    <a:latin typeface="Cambria"/>
                    <a:ea typeface="Cambria"/>
                    <a:cs typeface="Cambria"/>
                    <a:sym typeface="Cambria"/>
                  </a:rPr>
                  <a:t>4</a:t>
                </a:r>
                <a:endParaRPr b="1" sz="1400">
                  <a:solidFill>
                    <a:srgbClr val="FFFFFF"/>
                  </a:solidFill>
                  <a:latin typeface="Cambria"/>
                  <a:ea typeface="Cambria"/>
                  <a:cs typeface="Cambria"/>
                  <a:sym typeface="Cambria"/>
                </a:endParaRPr>
              </a:p>
            </p:txBody>
          </p:sp>
          <p:sp>
            <p:nvSpPr>
              <p:cNvPr id="293" name="Google Shape;293;p21"/>
              <p:cNvSpPr txBox="1"/>
              <p:nvPr/>
            </p:nvSpPr>
            <p:spPr>
              <a:xfrm>
                <a:off x="419100" y="38100"/>
                <a:ext cx="31242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B2D"/>
                    </a:solidFill>
                    <a:latin typeface="Calibri"/>
                    <a:ea typeface="Calibri"/>
                    <a:cs typeface="Calibri"/>
                    <a:sym typeface="Calibri"/>
                  </a:rPr>
                  <a:t>Save it, then show it to the user</a:t>
                </a:r>
                <a:endParaRPr b="0" sz="1500">
                  <a:solidFill>
                    <a:srgbClr val="0F1B2D"/>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nvSpPr>
        <p:spPr>
          <a:xfrm>
            <a:off x="457200" y="27432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000">
                <a:solidFill>
                  <a:srgbClr val="0F1B2D"/>
                </a:solidFill>
                <a:latin typeface="Cambria"/>
                <a:ea typeface="Cambria"/>
                <a:cs typeface="Cambria"/>
                <a:sym typeface="Cambria"/>
              </a:rPr>
              <a:t>Portfolio Summary</a:t>
            </a:r>
            <a:endParaRPr b="1" sz="3000">
              <a:solidFill>
                <a:srgbClr val="0F1B2D"/>
              </a:solidFill>
              <a:latin typeface="Cambria"/>
              <a:ea typeface="Cambria"/>
              <a:cs typeface="Cambria"/>
              <a:sym typeface="Cambria"/>
            </a:endParaRPr>
          </a:p>
        </p:txBody>
      </p:sp>
      <p:sp>
        <p:nvSpPr>
          <p:cNvPr id="299" name="Google Shape;299;p22"/>
          <p:cNvSpPr/>
          <p:nvPr/>
        </p:nvSpPr>
        <p:spPr>
          <a:xfrm>
            <a:off x="457175" y="960115"/>
            <a:ext cx="1920300" cy="2011800"/>
          </a:xfrm>
          <a:prstGeom prst="roundRect">
            <a:avLst>
              <a:gd fmla="val 3810" name="adj"/>
            </a:avLst>
          </a:prstGeom>
          <a:solidFill>
            <a:srgbClr val="EEF2F6"/>
          </a:solidFill>
          <a:ln>
            <a:noFill/>
          </a:ln>
          <a:effectLst>
            <a:outerShdw blurRad="762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
          <p:cNvSpPr txBox="1"/>
          <p:nvPr/>
        </p:nvSpPr>
        <p:spPr>
          <a:xfrm>
            <a:off x="640055" y="1142995"/>
            <a:ext cx="1554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 sz="1600" u="none" cap="none" strike="noStrike">
                <a:solidFill>
                  <a:srgbClr val="475569"/>
                </a:solidFill>
                <a:latin typeface="Calibri"/>
                <a:ea typeface="Calibri"/>
                <a:cs typeface="Calibri"/>
                <a:sym typeface="Calibri"/>
              </a:rPr>
              <a:t>You paid</a:t>
            </a:r>
            <a:endParaRPr b="0" i="0" sz="1600" u="none" cap="none" strike="noStrike">
              <a:solidFill>
                <a:srgbClr val="1B2433"/>
              </a:solidFill>
              <a:latin typeface="Calibri"/>
              <a:ea typeface="Calibri"/>
              <a:cs typeface="Calibri"/>
              <a:sym typeface="Calibri"/>
            </a:endParaRPr>
          </a:p>
        </p:txBody>
      </p:sp>
      <p:sp>
        <p:nvSpPr>
          <p:cNvPr id="301" name="Google Shape;301;p22"/>
          <p:cNvSpPr txBox="1"/>
          <p:nvPr/>
        </p:nvSpPr>
        <p:spPr>
          <a:xfrm>
            <a:off x="640055" y="1554475"/>
            <a:ext cx="1554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2D"/>
              </a:buClr>
              <a:buSzPts val="3600"/>
              <a:buFont typeface="Cambria"/>
              <a:buNone/>
            </a:pPr>
            <a:r>
              <a:rPr b="1" i="0" lang="en" sz="3600" u="none" cap="none" strike="noStrike">
                <a:solidFill>
                  <a:srgbClr val="0F1B2D"/>
                </a:solidFill>
                <a:latin typeface="Cambria"/>
                <a:ea typeface="Cambria"/>
                <a:cs typeface="Cambria"/>
                <a:sym typeface="Cambria"/>
              </a:rPr>
              <a:t>$1,500</a:t>
            </a:r>
            <a:endParaRPr b="0" i="0" sz="3600" u="none" cap="none" strike="noStrike">
              <a:solidFill>
                <a:srgbClr val="1B2433"/>
              </a:solidFill>
              <a:latin typeface="Calibri"/>
              <a:ea typeface="Calibri"/>
              <a:cs typeface="Calibri"/>
              <a:sym typeface="Calibri"/>
            </a:endParaRPr>
          </a:p>
        </p:txBody>
      </p:sp>
      <p:sp>
        <p:nvSpPr>
          <p:cNvPr id="302" name="Google Shape;302;p22"/>
          <p:cNvSpPr txBox="1"/>
          <p:nvPr/>
        </p:nvSpPr>
        <p:spPr>
          <a:xfrm>
            <a:off x="640055" y="2423155"/>
            <a:ext cx="15546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 sz="1300" u="none" cap="none" strike="noStrike">
                <a:solidFill>
                  <a:srgbClr val="475569"/>
                </a:solidFill>
                <a:latin typeface="Calibri"/>
                <a:ea typeface="Calibri"/>
                <a:cs typeface="Calibri"/>
                <a:sym typeface="Calibri"/>
              </a:rPr>
              <a:t>10 shares × $150</a:t>
            </a:r>
            <a:endParaRPr b="0" i="0" sz="1300" u="none" cap="none" strike="noStrike">
              <a:solidFill>
                <a:srgbClr val="1B2433"/>
              </a:solidFill>
              <a:latin typeface="Calibri"/>
              <a:ea typeface="Calibri"/>
              <a:cs typeface="Calibri"/>
              <a:sym typeface="Calibri"/>
            </a:endParaRPr>
          </a:p>
        </p:txBody>
      </p:sp>
      <p:sp>
        <p:nvSpPr>
          <p:cNvPr id="303" name="Google Shape;303;p22"/>
          <p:cNvSpPr/>
          <p:nvPr/>
        </p:nvSpPr>
        <p:spPr>
          <a:xfrm>
            <a:off x="2560295" y="960115"/>
            <a:ext cx="1920300" cy="2011800"/>
          </a:xfrm>
          <a:prstGeom prst="roundRect">
            <a:avLst>
              <a:gd fmla="val 3810" name="adj"/>
            </a:avLst>
          </a:prstGeom>
          <a:solidFill>
            <a:srgbClr val="EEF2F6"/>
          </a:solidFill>
          <a:ln>
            <a:noFill/>
          </a:ln>
          <a:effectLst>
            <a:outerShdw blurRad="762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txBox="1"/>
          <p:nvPr/>
        </p:nvSpPr>
        <p:spPr>
          <a:xfrm>
            <a:off x="2743150" y="1142883"/>
            <a:ext cx="1554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 sz="1600" u="none" cap="none" strike="noStrike">
                <a:solidFill>
                  <a:srgbClr val="475569"/>
                </a:solidFill>
                <a:latin typeface="Calibri"/>
                <a:ea typeface="Calibri"/>
                <a:cs typeface="Calibri"/>
                <a:sym typeface="Calibri"/>
              </a:rPr>
              <a:t>Worth today</a:t>
            </a:r>
            <a:endParaRPr b="0" i="0" sz="1600" u="none" cap="none" strike="noStrike">
              <a:solidFill>
                <a:srgbClr val="1B2433"/>
              </a:solidFill>
              <a:latin typeface="Calibri"/>
              <a:ea typeface="Calibri"/>
              <a:cs typeface="Calibri"/>
              <a:sym typeface="Calibri"/>
            </a:endParaRPr>
          </a:p>
        </p:txBody>
      </p:sp>
      <p:sp>
        <p:nvSpPr>
          <p:cNvPr id="305" name="Google Shape;305;p22"/>
          <p:cNvSpPr txBox="1"/>
          <p:nvPr/>
        </p:nvSpPr>
        <p:spPr>
          <a:xfrm>
            <a:off x="2743150" y="1508725"/>
            <a:ext cx="1554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2D"/>
              </a:buClr>
              <a:buSzPts val="3600"/>
              <a:buFont typeface="Cambria"/>
              <a:buNone/>
            </a:pPr>
            <a:r>
              <a:rPr b="1" i="0" lang="en" sz="3600" u="none" cap="none" strike="noStrike">
                <a:solidFill>
                  <a:srgbClr val="0F1B2D"/>
                </a:solidFill>
                <a:latin typeface="Cambria"/>
                <a:ea typeface="Cambria"/>
                <a:cs typeface="Cambria"/>
                <a:sym typeface="Cambria"/>
              </a:rPr>
              <a:t>$1,800</a:t>
            </a:r>
            <a:endParaRPr b="0" i="0" sz="3600" u="none" cap="none" strike="noStrike">
              <a:solidFill>
                <a:srgbClr val="1B2433"/>
              </a:solidFill>
              <a:latin typeface="Calibri"/>
              <a:ea typeface="Calibri"/>
              <a:cs typeface="Calibri"/>
              <a:sym typeface="Calibri"/>
            </a:endParaRPr>
          </a:p>
        </p:txBody>
      </p:sp>
      <p:sp>
        <p:nvSpPr>
          <p:cNvPr id="306" name="Google Shape;306;p22"/>
          <p:cNvSpPr txBox="1"/>
          <p:nvPr/>
        </p:nvSpPr>
        <p:spPr>
          <a:xfrm>
            <a:off x="2743150" y="2388905"/>
            <a:ext cx="15546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 sz="1300" u="none" cap="none" strike="noStrike">
                <a:solidFill>
                  <a:srgbClr val="475569"/>
                </a:solidFill>
                <a:latin typeface="Calibri"/>
                <a:ea typeface="Calibri"/>
                <a:cs typeface="Calibri"/>
                <a:sym typeface="Calibri"/>
              </a:rPr>
              <a:t>10 shares × $180</a:t>
            </a:r>
            <a:endParaRPr b="0" i="0" sz="1300" u="none" cap="none" strike="noStrike">
              <a:solidFill>
                <a:srgbClr val="1B2433"/>
              </a:solidFill>
              <a:latin typeface="Calibri"/>
              <a:ea typeface="Calibri"/>
              <a:cs typeface="Calibri"/>
              <a:sym typeface="Calibri"/>
            </a:endParaRPr>
          </a:p>
        </p:txBody>
      </p:sp>
      <p:sp>
        <p:nvSpPr>
          <p:cNvPr id="307" name="Google Shape;307;p22"/>
          <p:cNvSpPr/>
          <p:nvPr/>
        </p:nvSpPr>
        <p:spPr>
          <a:xfrm>
            <a:off x="4663415" y="960115"/>
            <a:ext cx="1920300" cy="2011800"/>
          </a:xfrm>
          <a:prstGeom prst="roundRect">
            <a:avLst>
              <a:gd fmla="val 3810" name="adj"/>
            </a:avLst>
          </a:prstGeom>
          <a:solidFill>
            <a:srgbClr val="EEF2F6"/>
          </a:solidFill>
          <a:ln>
            <a:noFill/>
          </a:ln>
          <a:effectLst>
            <a:outerShdw blurRad="762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txBox="1"/>
          <p:nvPr/>
        </p:nvSpPr>
        <p:spPr>
          <a:xfrm>
            <a:off x="4846295" y="1142995"/>
            <a:ext cx="1554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 sz="1600" u="none" cap="none" strike="noStrike">
                <a:solidFill>
                  <a:srgbClr val="475569"/>
                </a:solidFill>
                <a:latin typeface="Calibri"/>
                <a:ea typeface="Calibri"/>
                <a:cs typeface="Calibri"/>
                <a:sym typeface="Calibri"/>
              </a:rPr>
              <a:t>Profit</a:t>
            </a:r>
            <a:endParaRPr b="0" i="0" sz="1600" u="none" cap="none" strike="noStrike">
              <a:solidFill>
                <a:srgbClr val="1B2433"/>
              </a:solidFill>
              <a:latin typeface="Calibri"/>
              <a:ea typeface="Calibri"/>
              <a:cs typeface="Calibri"/>
              <a:sym typeface="Calibri"/>
            </a:endParaRPr>
          </a:p>
        </p:txBody>
      </p:sp>
      <p:sp>
        <p:nvSpPr>
          <p:cNvPr id="309" name="Google Shape;309;p22"/>
          <p:cNvSpPr txBox="1"/>
          <p:nvPr/>
        </p:nvSpPr>
        <p:spPr>
          <a:xfrm>
            <a:off x="4846295" y="1554475"/>
            <a:ext cx="1554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803D"/>
              </a:buClr>
              <a:buSzPts val="3600"/>
              <a:buFont typeface="Cambria"/>
              <a:buNone/>
            </a:pPr>
            <a:r>
              <a:rPr b="1" i="0" lang="en" sz="3600" u="none" cap="none" strike="noStrike">
                <a:solidFill>
                  <a:srgbClr val="15803D"/>
                </a:solidFill>
                <a:latin typeface="Cambria"/>
                <a:ea typeface="Cambria"/>
                <a:cs typeface="Cambria"/>
                <a:sym typeface="Cambria"/>
              </a:rPr>
              <a:t>+$300</a:t>
            </a:r>
            <a:endParaRPr b="0" i="0" sz="3600" u="none" cap="none" strike="noStrike">
              <a:solidFill>
                <a:srgbClr val="1B2433"/>
              </a:solidFill>
              <a:latin typeface="Calibri"/>
              <a:ea typeface="Calibri"/>
              <a:cs typeface="Calibri"/>
              <a:sym typeface="Calibri"/>
            </a:endParaRPr>
          </a:p>
        </p:txBody>
      </p:sp>
      <p:sp>
        <p:nvSpPr>
          <p:cNvPr id="310" name="Google Shape;310;p22"/>
          <p:cNvSpPr txBox="1"/>
          <p:nvPr/>
        </p:nvSpPr>
        <p:spPr>
          <a:xfrm>
            <a:off x="4846295" y="2423155"/>
            <a:ext cx="15546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 sz="1300" u="none" cap="none" strike="noStrike">
                <a:solidFill>
                  <a:srgbClr val="475569"/>
                </a:solidFill>
                <a:latin typeface="Calibri"/>
                <a:ea typeface="Calibri"/>
                <a:cs typeface="Calibri"/>
                <a:sym typeface="Calibri"/>
              </a:rPr>
              <a:t>worth today − paid</a:t>
            </a:r>
            <a:endParaRPr b="0" i="0" sz="1300" u="none" cap="none" strike="noStrike">
              <a:solidFill>
                <a:srgbClr val="1B2433"/>
              </a:solidFill>
              <a:latin typeface="Calibri"/>
              <a:ea typeface="Calibri"/>
              <a:cs typeface="Calibri"/>
              <a:sym typeface="Calibri"/>
            </a:endParaRPr>
          </a:p>
        </p:txBody>
      </p:sp>
      <p:sp>
        <p:nvSpPr>
          <p:cNvPr id="311" name="Google Shape;311;p22"/>
          <p:cNvSpPr/>
          <p:nvPr/>
        </p:nvSpPr>
        <p:spPr>
          <a:xfrm>
            <a:off x="6766535" y="960115"/>
            <a:ext cx="1920300" cy="2011800"/>
          </a:xfrm>
          <a:prstGeom prst="roundRect">
            <a:avLst>
              <a:gd fmla="val 3810" name="adj"/>
            </a:avLst>
          </a:prstGeom>
          <a:solidFill>
            <a:srgbClr val="EEF2F6"/>
          </a:solidFill>
          <a:ln>
            <a:noFill/>
          </a:ln>
          <a:effectLst>
            <a:outerShdw blurRad="762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txBox="1"/>
          <p:nvPr/>
        </p:nvSpPr>
        <p:spPr>
          <a:xfrm>
            <a:off x="6949415" y="1142995"/>
            <a:ext cx="1554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 sz="1600" u="none" cap="none" strike="noStrike">
                <a:solidFill>
                  <a:srgbClr val="475569"/>
                </a:solidFill>
                <a:latin typeface="Calibri"/>
                <a:ea typeface="Calibri"/>
                <a:cs typeface="Calibri"/>
                <a:sym typeface="Calibri"/>
              </a:rPr>
              <a:t>Growth</a:t>
            </a:r>
            <a:endParaRPr b="0" i="0" sz="1600" u="none" cap="none" strike="noStrike">
              <a:solidFill>
                <a:srgbClr val="1B2433"/>
              </a:solidFill>
              <a:latin typeface="Calibri"/>
              <a:ea typeface="Calibri"/>
              <a:cs typeface="Calibri"/>
              <a:sym typeface="Calibri"/>
            </a:endParaRPr>
          </a:p>
        </p:txBody>
      </p:sp>
      <p:sp>
        <p:nvSpPr>
          <p:cNvPr id="313" name="Google Shape;313;p22"/>
          <p:cNvSpPr txBox="1"/>
          <p:nvPr/>
        </p:nvSpPr>
        <p:spPr>
          <a:xfrm>
            <a:off x="6949415" y="1554475"/>
            <a:ext cx="1554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803D"/>
              </a:buClr>
              <a:buSzPts val="3600"/>
              <a:buFont typeface="Cambria"/>
              <a:buNone/>
            </a:pPr>
            <a:r>
              <a:rPr b="1" i="0" lang="en" sz="3600" u="none" cap="none" strike="noStrike">
                <a:solidFill>
                  <a:srgbClr val="15803D"/>
                </a:solidFill>
                <a:latin typeface="Cambria"/>
                <a:ea typeface="Cambria"/>
                <a:cs typeface="Cambria"/>
                <a:sym typeface="Cambria"/>
              </a:rPr>
              <a:t>+20%</a:t>
            </a:r>
            <a:endParaRPr b="0" i="0" sz="3600" u="none" cap="none" strike="noStrike">
              <a:solidFill>
                <a:srgbClr val="1B2433"/>
              </a:solidFill>
              <a:latin typeface="Calibri"/>
              <a:ea typeface="Calibri"/>
              <a:cs typeface="Calibri"/>
              <a:sym typeface="Calibri"/>
            </a:endParaRPr>
          </a:p>
        </p:txBody>
      </p:sp>
      <p:sp>
        <p:nvSpPr>
          <p:cNvPr id="314" name="Google Shape;314;p22"/>
          <p:cNvSpPr txBox="1"/>
          <p:nvPr/>
        </p:nvSpPr>
        <p:spPr>
          <a:xfrm>
            <a:off x="6949415" y="2423155"/>
            <a:ext cx="15546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 sz="1300" u="none" cap="none" strike="noStrike">
                <a:solidFill>
                  <a:srgbClr val="475569"/>
                </a:solidFill>
                <a:latin typeface="Calibri"/>
                <a:ea typeface="Calibri"/>
                <a:cs typeface="Calibri"/>
                <a:sym typeface="Calibri"/>
              </a:rPr>
              <a:t>profit ÷ paid</a:t>
            </a:r>
            <a:endParaRPr b="0" i="0" sz="1300" u="none" cap="none" strike="noStrike">
              <a:solidFill>
                <a:srgbClr val="1B2433"/>
              </a:solidFill>
              <a:latin typeface="Calibri"/>
              <a:ea typeface="Calibri"/>
              <a:cs typeface="Calibri"/>
              <a:sym typeface="Calibri"/>
            </a:endParaRPr>
          </a:p>
        </p:txBody>
      </p:sp>
      <p:sp>
        <p:nvSpPr>
          <p:cNvPr id="315" name="Google Shape;315;p22"/>
          <p:cNvSpPr txBox="1"/>
          <p:nvPr/>
        </p:nvSpPr>
        <p:spPr>
          <a:xfrm>
            <a:off x="457200" y="3042930"/>
            <a:ext cx="8229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 sz="1300" u="none" cap="none" strike="noStrike">
                <a:solidFill>
                  <a:srgbClr val="475569"/>
                </a:solidFill>
                <a:latin typeface="Calibri"/>
                <a:ea typeface="Calibri"/>
                <a:cs typeface="Calibri"/>
                <a:sym typeface="Calibri"/>
              </a:rPr>
              <a:t>Example: someone who bought 10 shares at $150 each, now priced at $180</a:t>
            </a:r>
            <a:endParaRPr b="0" i="0" sz="1300" u="none" cap="none" strike="noStrike">
              <a:solidFill>
                <a:srgbClr val="1B2433"/>
              </a:solidFill>
              <a:latin typeface="Calibri"/>
              <a:ea typeface="Calibri"/>
              <a:cs typeface="Calibri"/>
              <a:sym typeface="Calibri"/>
            </a:endParaRPr>
          </a:p>
        </p:txBody>
      </p:sp>
      <p:sp>
        <p:nvSpPr>
          <p:cNvPr id="316" name="Google Shape;316;p22"/>
          <p:cNvSpPr/>
          <p:nvPr/>
        </p:nvSpPr>
        <p:spPr>
          <a:xfrm>
            <a:off x="457175" y="3317125"/>
            <a:ext cx="8461200" cy="1756200"/>
          </a:xfrm>
          <a:prstGeom prst="roundRect">
            <a:avLst>
              <a:gd fmla="val 2581" name="adj"/>
            </a:avLst>
          </a:prstGeom>
          <a:solidFill>
            <a:srgbClr val="EEF2F6"/>
          </a:solidFill>
          <a:ln>
            <a:noFill/>
          </a:ln>
          <a:effectLst>
            <a:outerShdw blurRad="762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txBox="1"/>
          <p:nvPr/>
        </p:nvSpPr>
        <p:spPr>
          <a:xfrm>
            <a:off x="712689" y="3489519"/>
            <a:ext cx="8078400" cy="150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2D"/>
              </a:buClr>
              <a:buSzPts val="1600"/>
              <a:buFont typeface="Calibri"/>
              <a:buNone/>
            </a:pPr>
            <a:r>
              <a:rPr b="1" i="1" lang="en" sz="1800">
                <a:solidFill>
                  <a:srgbClr val="0F1B2D"/>
                </a:solidFill>
                <a:latin typeface="Calibri"/>
                <a:ea typeface="Calibri"/>
                <a:cs typeface="Calibri"/>
                <a:sym typeface="Calibri"/>
              </a:rPr>
              <a:t>How does Portfolio Summary work?</a:t>
            </a:r>
            <a:endParaRPr b="1" i="1" sz="1800">
              <a:solidFill>
                <a:srgbClr val="0F1B2D"/>
              </a:solidFill>
              <a:latin typeface="Calibri"/>
              <a:ea typeface="Calibri"/>
              <a:cs typeface="Calibri"/>
              <a:sym typeface="Calibri"/>
            </a:endParaRPr>
          </a:p>
          <a:p>
            <a:pPr indent="-330200" lvl="0" marL="457200" marR="0" rtl="0" algn="l">
              <a:spcBef>
                <a:spcPts val="0"/>
              </a:spcBef>
              <a:spcAft>
                <a:spcPts val="0"/>
              </a:spcAft>
              <a:buClr>
                <a:srgbClr val="0F1B2D"/>
              </a:buClr>
              <a:buSzPts val="1600"/>
              <a:buFont typeface="Calibri"/>
              <a:buChar char="●"/>
            </a:pPr>
            <a:r>
              <a:rPr i="1" lang="en" sz="1600">
                <a:solidFill>
                  <a:srgbClr val="0F1B2D"/>
                </a:solidFill>
                <a:latin typeface="Calibri"/>
                <a:ea typeface="Calibri"/>
                <a:cs typeface="Calibri"/>
                <a:sym typeface="Calibri"/>
              </a:rPr>
              <a:t>The shares a user owns and the today’s prices from Twelve Data, these two are worked out in the service layer and our app just displays the numbers (Gain and Value)</a:t>
            </a:r>
            <a:endParaRPr i="1" sz="1600">
              <a:solidFill>
                <a:srgbClr val="0F1B2D"/>
              </a:solidFill>
              <a:latin typeface="Calibri"/>
              <a:ea typeface="Calibri"/>
              <a:cs typeface="Calibri"/>
              <a:sym typeface="Calibri"/>
            </a:endParaRPr>
          </a:p>
          <a:p>
            <a:pPr indent="-330200" lvl="0" marL="457200" marR="0" rtl="0" algn="l">
              <a:spcBef>
                <a:spcPts val="0"/>
              </a:spcBef>
              <a:spcAft>
                <a:spcPts val="0"/>
              </a:spcAft>
              <a:buClr>
                <a:srgbClr val="0F1B2D"/>
              </a:buClr>
              <a:buSzPts val="1600"/>
              <a:buFont typeface="Calibri"/>
              <a:buChar char="●"/>
            </a:pPr>
            <a:r>
              <a:rPr i="1" lang="en" sz="1600">
                <a:solidFill>
                  <a:srgbClr val="0F1B2D"/>
                </a:solidFill>
                <a:latin typeface="Calibri"/>
                <a:ea typeface="Calibri"/>
                <a:cs typeface="Calibri"/>
                <a:sym typeface="Calibri"/>
              </a:rPr>
              <a:t>We used BigDecimal and </a:t>
            </a:r>
            <a:r>
              <a:rPr i="1" lang="en" sz="1600">
                <a:solidFill>
                  <a:srgbClr val="0F1B2D"/>
                </a:solidFill>
                <a:latin typeface="Calibri"/>
                <a:ea typeface="Calibri"/>
                <a:cs typeface="Calibri"/>
                <a:sym typeface="Calibri"/>
              </a:rPr>
              <a:t>rounded</a:t>
            </a:r>
            <a:r>
              <a:rPr i="1" lang="en" sz="1600">
                <a:solidFill>
                  <a:srgbClr val="0F1B2D"/>
                </a:solidFill>
                <a:latin typeface="Calibri"/>
                <a:ea typeface="Calibri"/>
                <a:cs typeface="Calibri"/>
                <a:sym typeface="Calibri"/>
              </a:rPr>
              <a:t> our calculations only once so no money goes missing.</a:t>
            </a:r>
            <a:endParaRPr i="1" sz="1600">
              <a:solidFill>
                <a:srgbClr val="0F1B2D"/>
              </a:solidFill>
              <a:latin typeface="Calibri"/>
              <a:ea typeface="Calibri"/>
              <a:cs typeface="Calibri"/>
              <a:sym typeface="Calibri"/>
            </a:endParaRPr>
          </a:p>
          <a:p>
            <a:pPr indent="-330200" lvl="0" marL="457200" marR="0" rtl="0" algn="l">
              <a:spcBef>
                <a:spcPts val="0"/>
              </a:spcBef>
              <a:spcAft>
                <a:spcPts val="0"/>
              </a:spcAft>
              <a:buClr>
                <a:srgbClr val="0F1B2D"/>
              </a:buClr>
              <a:buSzPts val="1600"/>
              <a:buFont typeface="Calibri"/>
              <a:buChar char="●"/>
            </a:pPr>
            <a:r>
              <a:rPr i="1" lang="en" sz="1600">
                <a:solidFill>
                  <a:srgbClr val="0F1B2D"/>
                </a:solidFill>
                <a:latin typeface="Calibri"/>
                <a:ea typeface="Calibri"/>
                <a:cs typeface="Calibri"/>
                <a:sym typeface="Calibri"/>
              </a:rPr>
              <a:t>If a price is unavailable, that stock is left out of the totals and the page tells the user instead of guessing.</a:t>
            </a:r>
            <a:endParaRPr i="1" sz="1600">
              <a:solidFill>
                <a:srgbClr val="0F1B2D"/>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1" name="Shape 321"/>
        <p:cNvGrpSpPr/>
        <p:nvPr/>
      </p:nvGrpSpPr>
      <p:grpSpPr>
        <a:xfrm>
          <a:off x="0" y="0"/>
          <a:ext cx="0" cy="0"/>
          <a:chOff x="0" y="0"/>
          <a:chExt cx="0" cy="0"/>
        </a:xfrm>
      </p:grpSpPr>
      <p:sp>
        <p:nvSpPr>
          <p:cNvPr id="322" name="Google Shape;322;p23"/>
          <p:cNvSpPr txBox="1"/>
          <p:nvPr/>
        </p:nvSpPr>
        <p:spPr>
          <a:xfrm>
            <a:off x="457200" y="304800"/>
            <a:ext cx="8229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F2937"/>
                </a:solidFill>
                <a:latin typeface="Lato"/>
                <a:ea typeface="Lato"/>
                <a:cs typeface="Lato"/>
                <a:sym typeface="Lato"/>
              </a:rPr>
              <a:t>Holdings Management</a:t>
            </a:r>
            <a:endParaRPr b="1" sz="2400">
              <a:solidFill>
                <a:srgbClr val="1F2937"/>
              </a:solidFill>
              <a:latin typeface="Lato"/>
              <a:ea typeface="Lato"/>
              <a:cs typeface="Lato"/>
              <a:sym typeface="Lato"/>
            </a:endParaRPr>
          </a:p>
        </p:txBody>
      </p:sp>
      <p:grpSp>
        <p:nvGrpSpPr>
          <p:cNvPr id="323" name="Google Shape;323;p23"/>
          <p:cNvGrpSpPr/>
          <p:nvPr/>
        </p:nvGrpSpPr>
        <p:grpSpPr>
          <a:xfrm>
            <a:off x="457200" y="914400"/>
            <a:ext cx="4343400" cy="800100"/>
            <a:chOff x="0" y="0"/>
            <a:chExt cx="4343400" cy="800100"/>
          </a:xfrm>
        </p:grpSpPr>
        <p:sp>
          <p:nvSpPr>
            <p:cNvPr id="324" name="Google Shape;324;p23"/>
            <p:cNvSpPr/>
            <p:nvPr/>
          </p:nvSpPr>
          <p:spPr>
            <a:xfrm>
              <a:off x="0" y="0"/>
              <a:ext cx="43434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3"/>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3"/>
            <p:cNvSpPr txBox="1"/>
            <p:nvPr/>
          </p:nvSpPr>
          <p:spPr>
            <a:xfrm>
              <a:off x="152400" y="23145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account_balance_wallet</a:t>
              </a:r>
              <a:endParaRPr sz="1500">
                <a:solidFill>
                  <a:srgbClr val="FFFFFF"/>
                </a:solidFill>
                <a:latin typeface="Material Icons"/>
                <a:ea typeface="Material Icons"/>
                <a:cs typeface="Material Icons"/>
                <a:sym typeface="Material Icons"/>
              </a:endParaRPr>
            </a:p>
          </p:txBody>
        </p:sp>
        <p:sp>
          <p:nvSpPr>
            <p:cNvPr id="327" name="Google Shape;327;p23"/>
            <p:cNvSpPr txBox="1"/>
            <p:nvPr/>
          </p:nvSpPr>
          <p:spPr>
            <a:xfrm>
              <a:off x="685800" y="114300"/>
              <a:ext cx="3505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Add, view, update and remove stock holdings</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Store stock, quantity and average purchase price.</a:t>
              </a:r>
              <a:endParaRPr b="0" sz="950">
                <a:solidFill>
                  <a:srgbClr val="4B5563"/>
                </a:solidFill>
                <a:latin typeface="Lato"/>
                <a:ea typeface="Lato"/>
                <a:cs typeface="Lato"/>
                <a:sym typeface="Lato"/>
              </a:endParaRPr>
            </a:p>
          </p:txBody>
        </p:sp>
      </p:grpSp>
      <p:grpSp>
        <p:nvGrpSpPr>
          <p:cNvPr id="328" name="Google Shape;328;p23"/>
          <p:cNvGrpSpPr/>
          <p:nvPr/>
        </p:nvGrpSpPr>
        <p:grpSpPr>
          <a:xfrm>
            <a:off x="457200" y="1828800"/>
            <a:ext cx="4343400" cy="800100"/>
            <a:chOff x="0" y="0"/>
            <a:chExt cx="4343400" cy="800100"/>
          </a:xfrm>
        </p:grpSpPr>
        <p:sp>
          <p:nvSpPr>
            <p:cNvPr id="329" name="Google Shape;329;p23"/>
            <p:cNvSpPr/>
            <p:nvPr/>
          </p:nvSpPr>
          <p:spPr>
            <a:xfrm>
              <a:off x="0" y="0"/>
              <a:ext cx="43434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3"/>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3"/>
            <p:cNvSpPr txBox="1"/>
            <p:nvPr/>
          </p:nvSpPr>
          <p:spPr>
            <a:xfrm>
              <a:off x="152400" y="23145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calculate</a:t>
              </a:r>
              <a:endParaRPr sz="1500">
                <a:solidFill>
                  <a:srgbClr val="FFFFFF"/>
                </a:solidFill>
                <a:latin typeface="Material Icons"/>
                <a:ea typeface="Material Icons"/>
                <a:cs typeface="Material Icons"/>
                <a:sym typeface="Material Icons"/>
              </a:endParaRPr>
            </a:p>
          </p:txBody>
        </p:sp>
        <p:sp>
          <p:nvSpPr>
            <p:cNvPr id="332" name="Google Shape;332;p23"/>
            <p:cNvSpPr txBox="1"/>
            <p:nvPr/>
          </p:nvSpPr>
          <p:spPr>
            <a:xfrm>
              <a:off x="685800" y="114300"/>
              <a:ext cx="3505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Weighted Average Calculation</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Automatically calculate weighted average purchase price when buying additional shares.</a:t>
              </a:r>
              <a:endParaRPr b="0" sz="950">
                <a:solidFill>
                  <a:srgbClr val="4B5563"/>
                </a:solidFill>
                <a:latin typeface="Lato"/>
                <a:ea typeface="Lato"/>
                <a:cs typeface="Lato"/>
                <a:sym typeface="Lato"/>
              </a:endParaRPr>
            </a:p>
          </p:txBody>
        </p:sp>
      </p:grpSp>
      <p:grpSp>
        <p:nvGrpSpPr>
          <p:cNvPr id="333" name="Google Shape;333;p23"/>
          <p:cNvGrpSpPr/>
          <p:nvPr/>
        </p:nvGrpSpPr>
        <p:grpSpPr>
          <a:xfrm>
            <a:off x="457200" y="2743200"/>
            <a:ext cx="4343400" cy="1866900"/>
            <a:chOff x="0" y="0"/>
            <a:chExt cx="4343400" cy="1866900"/>
          </a:xfrm>
        </p:grpSpPr>
        <p:sp>
          <p:nvSpPr>
            <p:cNvPr id="334" name="Google Shape;334;p23"/>
            <p:cNvSpPr/>
            <p:nvPr/>
          </p:nvSpPr>
          <p:spPr>
            <a:xfrm>
              <a:off x="0" y="0"/>
              <a:ext cx="4343400" cy="1866900"/>
            </a:xfrm>
            <a:prstGeom prst="roundRect">
              <a:avLst>
                <a:gd fmla="val 612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3"/>
            <p:cNvSpPr/>
            <p:nvPr/>
          </p:nvSpPr>
          <p:spPr>
            <a:xfrm>
              <a:off x="152400" y="19050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3"/>
            <p:cNvSpPr txBox="1"/>
            <p:nvPr/>
          </p:nvSpPr>
          <p:spPr>
            <a:xfrm>
              <a:off x="152400" y="21240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api</a:t>
              </a:r>
              <a:endParaRPr sz="1500">
                <a:solidFill>
                  <a:srgbClr val="FFFFFF"/>
                </a:solidFill>
                <a:latin typeface="Material Icons"/>
                <a:ea typeface="Material Icons"/>
                <a:cs typeface="Material Icons"/>
                <a:sym typeface="Material Icons"/>
              </a:endParaRPr>
            </a:p>
          </p:txBody>
        </p:sp>
        <p:sp>
          <p:nvSpPr>
            <p:cNvPr id="337" name="Google Shape;337;p23"/>
            <p:cNvSpPr txBox="1"/>
            <p:nvPr/>
          </p:nvSpPr>
          <p:spPr>
            <a:xfrm>
              <a:off x="685800" y="152400"/>
              <a:ext cx="3505200" cy="1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REST API Architecture</a:t>
              </a:r>
              <a:endParaRPr b="1" sz="1200">
                <a:solidFill>
                  <a:srgbClr val="1F2937"/>
                </a:solidFill>
                <a:latin typeface="Lato"/>
                <a:ea typeface="Lato"/>
                <a:cs typeface="Lato"/>
                <a:sym typeface="Lato"/>
              </a:endParaRPr>
            </a:p>
            <a:p>
              <a:pPr indent="0" lvl="0" marL="0" rtl="0" algn="l">
                <a:spcBef>
                  <a:spcPts val="750"/>
                </a:spcBef>
                <a:spcAft>
                  <a:spcPts val="0"/>
                </a:spcAft>
                <a:buNone/>
              </a:pPr>
              <a:r>
                <a:rPr b="0" lang="en" sz="1000">
                  <a:solidFill>
                    <a:srgbClr val="4B5563"/>
                  </a:solidFill>
                  <a:latin typeface="Lato"/>
                  <a:ea typeface="Lato"/>
                  <a:cs typeface="Lato"/>
                  <a:sym typeface="Lato"/>
                </a:rPr>
                <a:t>Base Endpoint: </a:t>
              </a:r>
              <a:r>
                <a:rPr b="1" lang="en" sz="1000">
                  <a:solidFill>
                    <a:srgbClr val="188038"/>
                  </a:solidFill>
                  <a:latin typeface="Arial"/>
                  <a:ea typeface="Arial"/>
                  <a:cs typeface="Arial"/>
                  <a:sym typeface="Arial"/>
                </a:rPr>
                <a:t>/api/holdings</a:t>
              </a:r>
              <a:endParaRPr b="0" sz="1000">
                <a:solidFill>
                  <a:srgbClr val="4B5563"/>
                </a:solidFill>
                <a:latin typeface="Lato"/>
                <a:ea typeface="Lato"/>
                <a:cs typeface="Lato"/>
                <a:sym typeface="Lato"/>
              </a:endParaRPr>
            </a:p>
            <a:p>
              <a:pPr indent="0" lvl="0" marL="0" rtl="0" algn="l">
                <a:spcBef>
                  <a:spcPts val="750"/>
                </a:spcBef>
                <a:spcAft>
                  <a:spcPts val="0"/>
                </a:spcAft>
                <a:buNone/>
              </a:pPr>
              <a:r>
                <a:rPr b="0" lang="en" sz="1000">
                  <a:solidFill>
                    <a:srgbClr val="4B5563"/>
                  </a:solidFill>
                  <a:latin typeface="Lato"/>
                  <a:ea typeface="Lato"/>
                  <a:cs typeface="Lato"/>
                  <a:sym typeface="Lato"/>
                </a:rPr>
                <a:t>REST endpoints:</a:t>
              </a:r>
              <a:endParaRPr b="0" sz="1000">
                <a:solidFill>
                  <a:srgbClr val="4B5563"/>
                </a:solidFill>
                <a:latin typeface="Lato"/>
                <a:ea typeface="Lato"/>
                <a:cs typeface="Lato"/>
                <a:sym typeface="Lato"/>
              </a:endParaRPr>
            </a:p>
            <a:p>
              <a:pPr indent="0" lvl="0" marL="0" rtl="0" algn="l">
                <a:spcBef>
                  <a:spcPts val="0"/>
                </a:spcBef>
                <a:spcAft>
                  <a:spcPts val="0"/>
                </a:spcAft>
                <a:buNone/>
              </a:pPr>
              <a:r>
                <a:rPr b="1" lang="en" sz="950">
                  <a:solidFill>
                    <a:srgbClr val="188038"/>
                  </a:solidFill>
                  <a:latin typeface="Arial"/>
                  <a:ea typeface="Arial"/>
                  <a:cs typeface="Arial"/>
                  <a:sym typeface="Arial"/>
                </a:rPr>
                <a:t>GET POST PUT DELETE</a:t>
              </a:r>
              <a:endParaRPr b="1" sz="1200">
                <a:solidFill>
                  <a:srgbClr val="1F2937"/>
                </a:solidFill>
                <a:latin typeface="Lato"/>
                <a:ea typeface="Lato"/>
                <a:cs typeface="Lato"/>
                <a:sym typeface="Lato"/>
              </a:endParaRPr>
            </a:p>
          </p:txBody>
        </p:sp>
      </p:grpSp>
      <p:grpSp>
        <p:nvGrpSpPr>
          <p:cNvPr id="338" name="Google Shape;338;p23"/>
          <p:cNvGrpSpPr/>
          <p:nvPr/>
        </p:nvGrpSpPr>
        <p:grpSpPr>
          <a:xfrm>
            <a:off x="5029200" y="914400"/>
            <a:ext cx="3657600" cy="3695700"/>
            <a:chOff x="0" y="0"/>
            <a:chExt cx="3657600" cy="3695700"/>
          </a:xfrm>
        </p:grpSpPr>
        <p:sp>
          <p:nvSpPr>
            <p:cNvPr id="339" name="Google Shape;339;p23"/>
            <p:cNvSpPr/>
            <p:nvPr/>
          </p:nvSpPr>
          <p:spPr>
            <a:xfrm>
              <a:off x="0" y="0"/>
              <a:ext cx="3657600" cy="3695700"/>
            </a:xfrm>
            <a:prstGeom prst="roundRect">
              <a:avLst>
                <a:gd fmla="val 4166" name="adj"/>
              </a:avLst>
            </a:prstGeom>
            <a:solidFill>
              <a:srgbClr val="F3F4F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3"/>
            <p:cNvSpPr txBox="1"/>
            <p:nvPr/>
          </p:nvSpPr>
          <p:spPr>
            <a:xfrm>
              <a:off x="228600" y="190500"/>
              <a:ext cx="3200400" cy="4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F2937"/>
                  </a:solidFill>
                  <a:latin typeface="Lato"/>
                  <a:ea typeface="Lato"/>
                  <a:cs typeface="Lato"/>
                  <a:sym typeface="Lato"/>
                </a:rPr>
                <a:t>WEIGHTED AVERAGE PRICE</a:t>
              </a:r>
              <a:endParaRPr b="1" sz="1100">
                <a:solidFill>
                  <a:srgbClr val="1F2937"/>
                </a:solidFill>
                <a:latin typeface="Lato"/>
                <a:ea typeface="Lato"/>
                <a:cs typeface="Lato"/>
                <a:sym typeface="Lato"/>
              </a:endParaRPr>
            </a:p>
            <a:p>
              <a:pPr indent="0" lvl="0" marL="0" rtl="0" algn="l">
                <a:spcBef>
                  <a:spcPts val="150"/>
                </a:spcBef>
                <a:spcAft>
                  <a:spcPts val="0"/>
                </a:spcAft>
                <a:buNone/>
              </a:pPr>
              <a:r>
                <a:rPr b="0" lang="en" sz="850">
                  <a:solidFill>
                    <a:srgbClr val="6B7280"/>
                  </a:solidFill>
                  <a:latin typeface="Lato"/>
                  <a:ea typeface="Lato"/>
                  <a:cs typeface="Lato"/>
                  <a:sym typeface="Lato"/>
                </a:rPr>
                <a:t>Formula and step-by-step example breakdown</a:t>
              </a:r>
              <a:endParaRPr b="0" sz="850">
                <a:solidFill>
                  <a:srgbClr val="6B7280"/>
                </a:solidFill>
                <a:latin typeface="Lato"/>
                <a:ea typeface="Lato"/>
                <a:cs typeface="Lato"/>
                <a:sym typeface="Lato"/>
              </a:endParaRPr>
            </a:p>
          </p:txBody>
        </p:sp>
        <p:grpSp>
          <p:nvGrpSpPr>
            <p:cNvPr id="341" name="Google Shape;341;p23"/>
            <p:cNvGrpSpPr/>
            <p:nvPr/>
          </p:nvGrpSpPr>
          <p:grpSpPr>
            <a:xfrm>
              <a:off x="190500" y="647700"/>
              <a:ext cx="3276600" cy="2838600"/>
              <a:chOff x="0" y="0"/>
              <a:chExt cx="3276600" cy="2838600"/>
            </a:xfrm>
          </p:grpSpPr>
          <p:sp>
            <p:nvSpPr>
              <p:cNvPr id="342" name="Google Shape;342;p23"/>
              <p:cNvSpPr/>
              <p:nvPr/>
            </p:nvSpPr>
            <p:spPr>
              <a:xfrm>
                <a:off x="0" y="0"/>
                <a:ext cx="3276600" cy="2838600"/>
              </a:xfrm>
              <a:prstGeom prst="roundRect">
                <a:avLst>
                  <a:gd fmla="val 402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3"/>
              <p:cNvSpPr txBox="1"/>
              <p:nvPr/>
            </p:nvSpPr>
            <p:spPr>
              <a:xfrm>
                <a:off x="171450" y="152400"/>
                <a:ext cx="29337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F2937"/>
                    </a:solidFill>
                    <a:latin typeface="Lato"/>
                    <a:ea typeface="Lato"/>
                    <a:cs typeface="Lato"/>
                    <a:sym typeface="Lato"/>
                  </a:rPr>
                  <a:t>Purchases Overview:</a:t>
                </a:r>
                <a:endParaRPr b="1" sz="950">
                  <a:solidFill>
                    <a:srgbClr val="1F2937"/>
                  </a:solidFill>
                  <a:latin typeface="Lato"/>
                  <a:ea typeface="Lato"/>
                  <a:cs typeface="Lato"/>
                  <a:sym typeface="Lato"/>
                </a:endParaRPr>
              </a:p>
              <a:p>
                <a:pPr indent="0" lvl="0" marL="0" rtl="0" algn="l">
                  <a:spcBef>
                    <a:spcPts val="450"/>
                  </a:spcBef>
                  <a:spcAft>
                    <a:spcPts val="0"/>
                  </a:spcAft>
                  <a:buNone/>
                </a:pPr>
                <a:r>
                  <a:rPr lang="en" sz="950">
                    <a:solidFill>
                      <a:srgbClr val="4B5563"/>
                    </a:solidFill>
                    <a:latin typeface="Lato"/>
                    <a:ea typeface="Lato"/>
                    <a:cs typeface="Lato"/>
                    <a:sym typeface="Lato"/>
                  </a:rPr>
                  <a:t>• First purchase: 10 shares × £100 = £1,000</a:t>
                </a:r>
                <a:endParaRPr sz="950">
                  <a:solidFill>
                    <a:srgbClr val="4B5563"/>
                  </a:solidFill>
                  <a:latin typeface="Lato"/>
                  <a:ea typeface="Lato"/>
                  <a:cs typeface="Lato"/>
                  <a:sym typeface="Lato"/>
                </a:endParaRPr>
              </a:p>
              <a:p>
                <a:pPr indent="0" lvl="0" marL="0" rtl="0" algn="l">
                  <a:spcBef>
                    <a:spcPts val="300"/>
                  </a:spcBef>
                  <a:spcAft>
                    <a:spcPts val="0"/>
                  </a:spcAft>
                  <a:buNone/>
                </a:pPr>
                <a:r>
                  <a:rPr lang="en" sz="950">
                    <a:solidFill>
                      <a:srgbClr val="4B5563"/>
                    </a:solidFill>
                    <a:latin typeface="Lato"/>
                    <a:ea typeface="Lato"/>
                    <a:cs typeface="Lato"/>
                    <a:sym typeface="Lato"/>
                  </a:rPr>
                  <a:t>• Second purchase: 5 shares × £130 = £650</a:t>
                </a:r>
                <a:endParaRPr sz="950">
                  <a:solidFill>
                    <a:srgbClr val="4B5563"/>
                  </a:solidFill>
                  <a:latin typeface="Lato"/>
                  <a:ea typeface="Lato"/>
                  <a:cs typeface="Lato"/>
                  <a:sym typeface="Lato"/>
                </a:endParaRPr>
              </a:p>
              <a:p>
                <a:pPr indent="0" lvl="0" marL="0" rtl="0" algn="l">
                  <a:spcBef>
                    <a:spcPts val="900"/>
                  </a:spcBef>
                  <a:spcAft>
                    <a:spcPts val="0"/>
                  </a:spcAft>
                  <a:buNone/>
                </a:pPr>
                <a:r>
                  <a:rPr b="1" lang="en" sz="950">
                    <a:solidFill>
                      <a:srgbClr val="1F2937"/>
                    </a:solidFill>
                    <a:latin typeface="Lato"/>
                    <a:ea typeface="Lato"/>
                    <a:cs typeface="Lato"/>
                    <a:sym typeface="Lato"/>
                  </a:rPr>
                  <a:t>Calculation Formula:</a:t>
                </a:r>
                <a:endParaRPr b="1" sz="950">
                  <a:solidFill>
                    <a:srgbClr val="1F2937"/>
                  </a:solidFill>
                  <a:latin typeface="Lato"/>
                  <a:ea typeface="Lato"/>
                  <a:cs typeface="Lato"/>
                  <a:sym typeface="Lato"/>
                </a:endParaRPr>
              </a:p>
              <a:p>
                <a:pPr indent="0" lvl="0" marL="0" rtl="0" algn="l">
                  <a:spcBef>
                    <a:spcPts val="300"/>
                  </a:spcBef>
                  <a:spcAft>
                    <a:spcPts val="0"/>
                  </a:spcAft>
                  <a:buNone/>
                </a:pPr>
                <a:r>
                  <a:rPr i="1" lang="en" sz="950">
                    <a:solidFill>
                      <a:srgbClr val="6B7280"/>
                    </a:solidFill>
                    <a:latin typeface="Lato"/>
                    <a:ea typeface="Lato"/>
                    <a:cs typeface="Lato"/>
                    <a:sym typeface="Lato"/>
                  </a:rPr>
                  <a:t>Average Price = Total Cost ÷ Total Shares</a:t>
                </a:r>
                <a:endParaRPr i="1" sz="950">
                  <a:solidFill>
                    <a:srgbClr val="6B7280"/>
                  </a:solidFill>
                  <a:latin typeface="Lato"/>
                  <a:ea typeface="Lato"/>
                  <a:cs typeface="Lato"/>
                  <a:sym typeface="Lato"/>
                </a:endParaRPr>
              </a:p>
              <a:p>
                <a:pPr indent="0" lvl="0" marL="0" rtl="0" algn="l">
                  <a:spcBef>
                    <a:spcPts val="450"/>
                  </a:spcBef>
                  <a:spcAft>
                    <a:spcPts val="0"/>
                  </a:spcAft>
                  <a:buNone/>
                </a:pPr>
                <a:r>
                  <a:rPr b="1" lang="en" sz="950">
                    <a:solidFill>
                      <a:srgbClr val="1F2937"/>
                    </a:solidFill>
                    <a:latin typeface="Lato"/>
                    <a:ea typeface="Lato"/>
                    <a:cs typeface="Lato"/>
                    <a:sym typeface="Lato"/>
                  </a:rPr>
                  <a:t>(£1,000 + £650) ÷ (10 + 5) = £110</a:t>
                </a:r>
                <a:endParaRPr b="1" sz="950">
                  <a:solidFill>
                    <a:srgbClr val="1F2937"/>
                  </a:solidFill>
                  <a:latin typeface="Lato"/>
                  <a:ea typeface="Lato"/>
                  <a:cs typeface="Lato"/>
                  <a:sym typeface="Lato"/>
                </a:endParaRPr>
              </a:p>
            </p:txBody>
          </p:sp>
          <p:sp>
            <p:nvSpPr>
              <p:cNvPr id="344" name="Google Shape;344;p23"/>
              <p:cNvSpPr/>
              <p:nvPr/>
            </p:nvSpPr>
            <p:spPr>
              <a:xfrm>
                <a:off x="171450" y="2152650"/>
                <a:ext cx="2933700" cy="495300"/>
              </a:xfrm>
              <a:prstGeom prst="roundRect">
                <a:avLst>
                  <a:gd fmla="val 15384" name="adj"/>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3"/>
              <p:cNvSpPr txBox="1"/>
              <p:nvPr/>
            </p:nvSpPr>
            <p:spPr>
              <a:xfrm>
                <a:off x="247650" y="2209800"/>
                <a:ext cx="27813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03543F"/>
                    </a:solidFill>
                    <a:latin typeface="Lato"/>
                    <a:ea typeface="Lato"/>
                    <a:cs typeface="Lato"/>
                    <a:sym typeface="Lato"/>
                  </a:rPr>
                  <a:t>RESULT: 15 shares owned at an average purchase price of £110</a:t>
                </a:r>
                <a:endParaRPr b="1" sz="950">
                  <a:solidFill>
                    <a:srgbClr val="03543F"/>
                  </a:solidFill>
                  <a:latin typeface="Lato"/>
                  <a:ea typeface="Lato"/>
                  <a:cs typeface="Lato"/>
                  <a:sym typeface="Lato"/>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4"/>
          <p:cNvSpPr txBox="1"/>
          <p:nvPr/>
        </p:nvSpPr>
        <p:spPr>
          <a:xfrm>
            <a:off x="457200" y="26670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000">
                <a:solidFill>
                  <a:srgbClr val="0F1B2D"/>
                </a:solidFill>
                <a:latin typeface="Cambria"/>
                <a:ea typeface="Cambria"/>
                <a:cs typeface="Cambria"/>
                <a:sym typeface="Cambria"/>
              </a:rPr>
              <a:t>Watchlist</a:t>
            </a:r>
            <a:endParaRPr b="1" sz="3000">
              <a:solidFill>
                <a:srgbClr val="0F1B2D"/>
              </a:solidFill>
              <a:latin typeface="Cambria"/>
              <a:ea typeface="Cambria"/>
              <a:cs typeface="Cambria"/>
              <a:sym typeface="Cambria"/>
            </a:endParaRPr>
          </a:p>
        </p:txBody>
      </p:sp>
      <p:grpSp>
        <p:nvGrpSpPr>
          <p:cNvPr id="352" name="Google Shape;352;p24"/>
          <p:cNvGrpSpPr/>
          <p:nvPr/>
        </p:nvGrpSpPr>
        <p:grpSpPr>
          <a:xfrm>
            <a:off x="457200" y="1047750"/>
            <a:ext cx="3981600" cy="1714500"/>
            <a:chOff x="0" y="0"/>
            <a:chExt cx="3981600" cy="1714500"/>
          </a:xfrm>
        </p:grpSpPr>
        <p:sp>
          <p:nvSpPr>
            <p:cNvPr id="353" name="Google Shape;353;p24"/>
            <p:cNvSpPr/>
            <p:nvPr/>
          </p:nvSpPr>
          <p:spPr>
            <a:xfrm>
              <a:off x="0" y="0"/>
              <a:ext cx="3981600" cy="1714500"/>
            </a:xfrm>
            <a:prstGeom prst="roundRect">
              <a:avLst>
                <a:gd fmla="val 4444" name="adj"/>
              </a:avLst>
            </a:prstGeom>
            <a:solidFill>
              <a:srgbClr val="EEF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4"/>
            <p:cNvSpPr txBox="1"/>
            <p:nvPr/>
          </p:nvSpPr>
          <p:spPr>
            <a:xfrm>
              <a:off x="228600" y="190500"/>
              <a:ext cx="3524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B2D"/>
                  </a:solidFill>
                  <a:latin typeface="Calibri"/>
                  <a:ea typeface="Calibri"/>
                  <a:cs typeface="Calibri"/>
                  <a:sym typeface="Calibri"/>
                </a:rPr>
                <a:t>Track Without Buying</a:t>
              </a:r>
              <a:endParaRPr b="1" sz="1600">
                <a:solidFill>
                  <a:srgbClr val="0F1B2D"/>
                </a:solidFill>
                <a:latin typeface="Calibri"/>
                <a:ea typeface="Calibri"/>
                <a:cs typeface="Calibri"/>
                <a:sym typeface="Calibri"/>
              </a:endParaRPr>
            </a:p>
            <a:p>
              <a:pPr indent="0" lvl="0" marL="0" rtl="0" algn="l">
                <a:spcBef>
                  <a:spcPts val="600"/>
                </a:spcBef>
                <a:spcAft>
                  <a:spcPts val="0"/>
                </a:spcAft>
                <a:buNone/>
              </a:pPr>
              <a:r>
                <a:rPr b="0" lang="en" sz="1300">
                  <a:solidFill>
                    <a:srgbClr val="475569"/>
                  </a:solidFill>
                  <a:latin typeface="Calibri"/>
                  <a:ea typeface="Calibri"/>
                  <a:cs typeface="Calibri"/>
                  <a:sym typeface="Calibri"/>
                </a:rPr>
                <a:t>Track stocks without purchasing them. Add, view, and remove stocks from a personal watchlist.</a:t>
              </a:r>
              <a:endParaRPr b="0" sz="1300">
                <a:solidFill>
                  <a:srgbClr val="475569"/>
                </a:solidFill>
                <a:latin typeface="Calibri"/>
                <a:ea typeface="Calibri"/>
                <a:cs typeface="Calibri"/>
                <a:sym typeface="Calibri"/>
              </a:endParaRPr>
            </a:p>
          </p:txBody>
        </p:sp>
      </p:grpSp>
      <p:grpSp>
        <p:nvGrpSpPr>
          <p:cNvPr id="355" name="Google Shape;355;p24"/>
          <p:cNvGrpSpPr/>
          <p:nvPr/>
        </p:nvGrpSpPr>
        <p:grpSpPr>
          <a:xfrm>
            <a:off x="4705350" y="1047750"/>
            <a:ext cx="3981600" cy="1714500"/>
            <a:chOff x="0" y="0"/>
            <a:chExt cx="3981600" cy="1714500"/>
          </a:xfrm>
        </p:grpSpPr>
        <p:sp>
          <p:nvSpPr>
            <p:cNvPr id="356" name="Google Shape;356;p24"/>
            <p:cNvSpPr/>
            <p:nvPr/>
          </p:nvSpPr>
          <p:spPr>
            <a:xfrm>
              <a:off x="0" y="0"/>
              <a:ext cx="3981600" cy="1714500"/>
            </a:xfrm>
            <a:prstGeom prst="roundRect">
              <a:avLst>
                <a:gd fmla="val 4444" name="adj"/>
              </a:avLst>
            </a:prstGeom>
            <a:solidFill>
              <a:srgbClr val="EEF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4"/>
            <p:cNvSpPr txBox="1"/>
            <p:nvPr/>
          </p:nvSpPr>
          <p:spPr>
            <a:xfrm>
              <a:off x="228600" y="190500"/>
              <a:ext cx="3524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B2D"/>
                  </a:solidFill>
                  <a:latin typeface="Calibri"/>
                  <a:ea typeface="Calibri"/>
                  <a:cs typeface="Calibri"/>
                  <a:sym typeface="Calibri"/>
                </a:rPr>
                <a:t>Smart Features</a:t>
              </a:r>
              <a:endParaRPr b="1" sz="1600">
                <a:solidFill>
                  <a:srgbClr val="0F1B2D"/>
                </a:solidFill>
                <a:latin typeface="Calibri"/>
                <a:ea typeface="Calibri"/>
                <a:cs typeface="Calibri"/>
                <a:sym typeface="Calibri"/>
              </a:endParaRPr>
            </a:p>
            <a:p>
              <a:pPr indent="0" lvl="0" marL="0" rtl="0" algn="l">
                <a:spcBef>
                  <a:spcPts val="600"/>
                </a:spcBef>
                <a:spcAft>
                  <a:spcPts val="0"/>
                </a:spcAft>
                <a:buNone/>
              </a:pPr>
              <a:r>
                <a:rPr b="0" lang="en" sz="1300">
                  <a:solidFill>
                    <a:srgbClr val="475569"/>
                  </a:solidFill>
                  <a:latin typeface="Calibri"/>
                  <a:ea typeface="Calibri"/>
                  <a:cs typeface="Calibri"/>
                  <a:sym typeface="Calibri"/>
                </a:rPr>
                <a:t>Prevent duplicate watchlist entries. Automatically associate each watchlist item with the logged-in user.</a:t>
              </a:r>
              <a:endParaRPr b="0" sz="1300">
                <a:solidFill>
                  <a:srgbClr val="475569"/>
                </a:solidFill>
                <a:latin typeface="Calibri"/>
                <a:ea typeface="Calibri"/>
                <a:cs typeface="Calibri"/>
                <a:sym typeface="Calibri"/>
              </a:endParaRPr>
            </a:p>
          </p:txBody>
        </p:sp>
      </p:grpSp>
      <p:grpSp>
        <p:nvGrpSpPr>
          <p:cNvPr id="358" name="Google Shape;358;p24"/>
          <p:cNvGrpSpPr/>
          <p:nvPr/>
        </p:nvGrpSpPr>
        <p:grpSpPr>
          <a:xfrm>
            <a:off x="457200" y="2952750"/>
            <a:ext cx="8229600" cy="1714500"/>
            <a:chOff x="0" y="0"/>
            <a:chExt cx="8229600" cy="1714500"/>
          </a:xfrm>
        </p:grpSpPr>
        <p:sp>
          <p:nvSpPr>
            <p:cNvPr id="359" name="Google Shape;359;p24"/>
            <p:cNvSpPr/>
            <p:nvPr/>
          </p:nvSpPr>
          <p:spPr>
            <a:xfrm>
              <a:off x="0" y="0"/>
              <a:ext cx="8229600" cy="1714500"/>
            </a:xfrm>
            <a:prstGeom prst="roundRect">
              <a:avLst>
                <a:gd fmla="val 4444" name="adj"/>
              </a:avLst>
            </a:prstGeom>
            <a:solidFill>
              <a:srgbClr val="EEF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4"/>
            <p:cNvSpPr txBox="1"/>
            <p:nvPr/>
          </p:nvSpPr>
          <p:spPr>
            <a:xfrm>
              <a:off x="304800" y="228600"/>
              <a:ext cx="76200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F1B2D"/>
                  </a:solidFill>
                  <a:latin typeface="Calibri"/>
                  <a:ea typeface="Calibri"/>
                  <a:cs typeface="Calibri"/>
                  <a:sym typeface="Calibri"/>
                </a:rPr>
                <a:t>REST API Architecture</a:t>
              </a:r>
              <a:endParaRPr b="1" sz="1600">
                <a:solidFill>
                  <a:srgbClr val="0F1B2D"/>
                </a:solidFill>
                <a:latin typeface="Calibri"/>
                <a:ea typeface="Calibri"/>
                <a:cs typeface="Calibri"/>
                <a:sym typeface="Calibri"/>
              </a:endParaRPr>
            </a:p>
            <a:p>
              <a:pPr indent="0" lvl="0" marL="0" rtl="0" algn="l">
                <a:spcBef>
                  <a:spcPts val="900"/>
                </a:spcBef>
                <a:spcAft>
                  <a:spcPts val="0"/>
                </a:spcAft>
                <a:buNone/>
              </a:pPr>
              <a:r>
                <a:rPr b="0" lang="en" sz="1400">
                  <a:solidFill>
                    <a:srgbClr val="475569"/>
                  </a:solidFill>
                  <a:latin typeface="Calibri"/>
                  <a:ea typeface="Calibri"/>
                  <a:cs typeface="Calibri"/>
                  <a:sym typeface="Calibri"/>
                </a:rPr>
                <a:t>Base Endpoint: </a:t>
              </a:r>
              <a:r>
                <a:rPr b="1" lang="en" sz="1400">
                  <a:solidFill>
                    <a:srgbClr val="188038"/>
                  </a:solidFill>
                  <a:latin typeface="Arial"/>
                  <a:ea typeface="Arial"/>
                  <a:cs typeface="Arial"/>
                  <a:sym typeface="Arial"/>
                </a:rPr>
                <a:t>/api/watchlist</a:t>
              </a:r>
              <a:endParaRPr b="0" sz="1400">
                <a:solidFill>
                  <a:srgbClr val="475569"/>
                </a:solidFill>
                <a:latin typeface="Calibri"/>
                <a:ea typeface="Calibri"/>
                <a:cs typeface="Calibri"/>
                <a:sym typeface="Calibri"/>
              </a:endParaRPr>
            </a:p>
            <a:p>
              <a:pPr indent="0" lvl="0" marL="0" rtl="0" algn="l">
                <a:spcBef>
                  <a:spcPts val="1200"/>
                </a:spcBef>
                <a:spcAft>
                  <a:spcPts val="0"/>
                </a:spcAft>
                <a:buNone/>
              </a:pPr>
              <a:r>
                <a:rPr b="0" lang="en" sz="1400">
                  <a:solidFill>
                    <a:srgbClr val="475569"/>
                  </a:solidFill>
                  <a:latin typeface="Calibri"/>
                  <a:ea typeface="Calibri"/>
                  <a:cs typeface="Calibri"/>
                  <a:sym typeface="Calibri"/>
                </a:rPr>
                <a:t>Supported Methods: </a:t>
              </a:r>
              <a:r>
                <a:rPr b="1" lang="en" sz="1400">
                  <a:solidFill>
                    <a:srgbClr val="188038"/>
                  </a:solidFill>
                  <a:latin typeface="Arial"/>
                  <a:ea typeface="Arial"/>
                  <a:cs typeface="Arial"/>
                  <a:sym typeface="Arial"/>
                </a:rPr>
                <a:t>GET</a:t>
              </a:r>
              <a:r>
                <a:rPr b="0" lang="en" sz="1400">
                  <a:solidFill>
                    <a:srgbClr val="475569"/>
                  </a:solidFill>
                  <a:latin typeface="Calibri"/>
                  <a:ea typeface="Calibri"/>
                  <a:cs typeface="Calibri"/>
                  <a:sym typeface="Calibri"/>
                </a:rPr>
                <a:t>, </a:t>
              </a:r>
              <a:r>
                <a:rPr b="1" lang="en" sz="1400">
                  <a:solidFill>
                    <a:srgbClr val="188038"/>
                  </a:solidFill>
                  <a:latin typeface="Arial"/>
                  <a:ea typeface="Arial"/>
                  <a:cs typeface="Arial"/>
                  <a:sym typeface="Arial"/>
                </a:rPr>
                <a:t>POST</a:t>
              </a:r>
              <a:r>
                <a:rPr b="0" lang="en" sz="1400">
                  <a:solidFill>
                    <a:srgbClr val="475569"/>
                  </a:solidFill>
                  <a:latin typeface="Calibri"/>
                  <a:ea typeface="Calibri"/>
                  <a:cs typeface="Calibri"/>
                  <a:sym typeface="Calibri"/>
                </a:rPr>
                <a:t>, </a:t>
              </a:r>
              <a:r>
                <a:rPr b="1" lang="en" sz="1400">
                  <a:solidFill>
                    <a:srgbClr val="188038"/>
                  </a:solidFill>
                  <a:latin typeface="Arial"/>
                  <a:ea typeface="Arial"/>
                  <a:cs typeface="Arial"/>
                  <a:sym typeface="Arial"/>
                </a:rPr>
                <a:t>DELETE</a:t>
              </a:r>
              <a:endParaRPr b="0" sz="1400">
                <a:solidFill>
                  <a:srgbClr val="475569"/>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p:nvPr/>
        </p:nvSpPr>
        <p:spPr>
          <a:xfrm>
            <a:off x="0" y="0"/>
            <a:ext cx="9144000" cy="5143500"/>
          </a:xfrm>
          <a:prstGeom prst="rect">
            <a:avLst/>
          </a:prstGeom>
          <a:solidFill>
            <a:srgbClr val="FAFA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5"/>
          <p:cNvSpPr txBox="1"/>
          <p:nvPr/>
        </p:nvSpPr>
        <p:spPr>
          <a:xfrm>
            <a:off x="457200" y="3429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F2937"/>
                </a:solidFill>
                <a:latin typeface="Lato"/>
                <a:ea typeface="Lato"/>
                <a:cs typeface="Lato"/>
                <a:sym typeface="Lato"/>
              </a:rPr>
              <a:t>Transaction History</a:t>
            </a:r>
            <a:endParaRPr b="1" sz="2400">
              <a:solidFill>
                <a:srgbClr val="1F2937"/>
              </a:solidFill>
              <a:latin typeface="Lato"/>
              <a:ea typeface="Lato"/>
              <a:cs typeface="Lato"/>
              <a:sym typeface="Lato"/>
            </a:endParaRPr>
          </a:p>
        </p:txBody>
      </p:sp>
      <p:grpSp>
        <p:nvGrpSpPr>
          <p:cNvPr id="367" name="Google Shape;367;p25"/>
          <p:cNvGrpSpPr/>
          <p:nvPr/>
        </p:nvGrpSpPr>
        <p:grpSpPr>
          <a:xfrm>
            <a:off x="457200" y="990600"/>
            <a:ext cx="4762500" cy="800100"/>
            <a:chOff x="0" y="0"/>
            <a:chExt cx="4762500" cy="800100"/>
          </a:xfrm>
        </p:grpSpPr>
        <p:sp>
          <p:nvSpPr>
            <p:cNvPr id="368" name="Google Shape;368;p25"/>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5"/>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5"/>
            <p:cNvSpPr txBox="1"/>
            <p:nvPr/>
          </p:nvSpPr>
          <p:spPr>
            <a:xfrm>
              <a:off x="228600" y="285750"/>
              <a:ext cx="2286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receipt_long</a:t>
              </a:r>
              <a:endParaRPr sz="1500">
                <a:solidFill>
                  <a:srgbClr val="FFFFFF"/>
                </a:solidFill>
                <a:latin typeface="Material Icons"/>
                <a:ea typeface="Material Icons"/>
                <a:cs typeface="Material Icons"/>
                <a:sym typeface="Material Icons"/>
              </a:endParaRPr>
            </a:p>
          </p:txBody>
        </p:sp>
        <p:sp>
          <p:nvSpPr>
            <p:cNvPr id="371" name="Google Shape;371;p25"/>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Every trade is recorded automatically</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00">
                  <a:solidFill>
                    <a:srgbClr val="4B5563"/>
                  </a:solidFill>
                  <a:latin typeface="Lato"/>
                  <a:ea typeface="Lato"/>
                  <a:cs typeface="Lato"/>
                  <a:sym typeface="Lato"/>
                </a:rPr>
                <a:t>When you buy a stock (add a holding), the server saves a transaction with the stock, quantity, price, and exact timestamp.</a:t>
              </a:r>
              <a:endParaRPr b="0" sz="900">
                <a:solidFill>
                  <a:srgbClr val="4B5563"/>
                </a:solidFill>
                <a:latin typeface="Lato"/>
                <a:ea typeface="Lato"/>
                <a:cs typeface="Lato"/>
                <a:sym typeface="Lato"/>
              </a:endParaRPr>
            </a:p>
          </p:txBody>
        </p:sp>
      </p:grpSp>
      <p:grpSp>
        <p:nvGrpSpPr>
          <p:cNvPr id="372" name="Google Shape;372;p25"/>
          <p:cNvGrpSpPr/>
          <p:nvPr/>
        </p:nvGrpSpPr>
        <p:grpSpPr>
          <a:xfrm>
            <a:off x="457200" y="1905000"/>
            <a:ext cx="4762500" cy="800100"/>
            <a:chOff x="0" y="0"/>
            <a:chExt cx="4762500" cy="800100"/>
          </a:xfrm>
        </p:grpSpPr>
        <p:sp>
          <p:nvSpPr>
            <p:cNvPr id="373" name="Google Shape;373;p25"/>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5"/>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5"/>
            <p:cNvSpPr txBox="1"/>
            <p:nvPr/>
          </p:nvSpPr>
          <p:spPr>
            <a:xfrm>
              <a:off x="228600" y="285750"/>
              <a:ext cx="2286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history</a:t>
              </a:r>
              <a:endParaRPr sz="1500">
                <a:solidFill>
                  <a:srgbClr val="FFFFFF"/>
                </a:solidFill>
                <a:latin typeface="Material Icons"/>
                <a:ea typeface="Material Icons"/>
                <a:cs typeface="Material Icons"/>
                <a:sym typeface="Material Icons"/>
              </a:endParaRPr>
            </a:p>
          </p:txBody>
        </p:sp>
        <p:sp>
          <p:nvSpPr>
            <p:cNvPr id="376" name="Google Shape;376;p25"/>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A full history, newest first</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00">
                  <a:solidFill>
                    <a:srgbClr val="4B5563"/>
                  </a:solidFill>
                  <a:latin typeface="Lato"/>
                  <a:ea typeface="Lato"/>
                  <a:cs typeface="Lato"/>
                  <a:sym typeface="Lato"/>
                </a:rPr>
                <a:t>The Transactions page lists every BUY and SELL, with the total value of each trade worked out for you.</a:t>
              </a:r>
              <a:endParaRPr b="0" sz="900">
                <a:solidFill>
                  <a:srgbClr val="4B5563"/>
                </a:solidFill>
                <a:latin typeface="Lato"/>
                <a:ea typeface="Lato"/>
                <a:cs typeface="Lato"/>
                <a:sym typeface="Lato"/>
              </a:endParaRPr>
            </a:p>
          </p:txBody>
        </p:sp>
      </p:grpSp>
      <p:grpSp>
        <p:nvGrpSpPr>
          <p:cNvPr id="377" name="Google Shape;377;p25"/>
          <p:cNvGrpSpPr/>
          <p:nvPr/>
        </p:nvGrpSpPr>
        <p:grpSpPr>
          <a:xfrm>
            <a:off x="457200" y="2819400"/>
            <a:ext cx="4762500" cy="800100"/>
            <a:chOff x="0" y="0"/>
            <a:chExt cx="4762500" cy="800100"/>
          </a:xfrm>
        </p:grpSpPr>
        <p:sp>
          <p:nvSpPr>
            <p:cNvPr id="378" name="Google Shape;378;p25"/>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5"/>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5"/>
            <p:cNvSpPr txBox="1"/>
            <p:nvPr/>
          </p:nvSpPr>
          <p:spPr>
            <a:xfrm>
              <a:off x="228600" y="285750"/>
              <a:ext cx="2286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lock</a:t>
              </a:r>
              <a:endParaRPr sz="1500">
                <a:solidFill>
                  <a:srgbClr val="FFFFFF"/>
                </a:solidFill>
                <a:latin typeface="Material Icons"/>
                <a:ea typeface="Material Icons"/>
                <a:cs typeface="Material Icons"/>
                <a:sym typeface="Material Icons"/>
              </a:endParaRPr>
            </a:p>
          </p:txBody>
        </p:sp>
        <p:sp>
          <p:nvSpPr>
            <p:cNvPr id="381" name="Google Shape;381;p25"/>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Private to each user</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00">
                  <a:solidFill>
                    <a:srgbClr val="4B5563"/>
                  </a:solidFill>
                  <a:latin typeface="Lato"/>
                  <a:ea typeface="Lato"/>
                  <a:cs typeface="Lato"/>
                  <a:sym typeface="Lato"/>
                </a:rPr>
                <a:t>Fetched via </a:t>
              </a:r>
              <a:r>
                <a:rPr b="0" lang="en" sz="825">
                  <a:solidFill>
                    <a:srgbClr val="4B5563"/>
                  </a:solidFill>
                  <a:highlight>
                    <a:srgbClr val="E5E7EB"/>
                  </a:highlight>
                  <a:latin typeface="Arial"/>
                  <a:ea typeface="Arial"/>
                  <a:cs typeface="Arial"/>
                  <a:sym typeface="Arial"/>
                </a:rPr>
                <a:t>GET /api/transactions</a:t>
              </a:r>
              <a:r>
                <a:rPr b="0" lang="en" sz="900">
                  <a:solidFill>
                    <a:srgbClr val="4B5563"/>
                  </a:solidFill>
                  <a:latin typeface="Lato"/>
                  <a:ea typeface="Lato"/>
                  <a:cs typeface="Lato"/>
                  <a:sym typeface="Lato"/>
                </a:rPr>
                <a:t>. The server verifies your session user ID so you only see your own trades.</a:t>
              </a:r>
              <a:endParaRPr b="0" sz="900">
                <a:solidFill>
                  <a:srgbClr val="4B5563"/>
                </a:solidFill>
                <a:latin typeface="Lato"/>
                <a:ea typeface="Lato"/>
                <a:cs typeface="Lato"/>
                <a:sym typeface="Lato"/>
              </a:endParaRPr>
            </a:p>
          </p:txBody>
        </p:sp>
      </p:grpSp>
      <p:grpSp>
        <p:nvGrpSpPr>
          <p:cNvPr id="382" name="Google Shape;382;p25"/>
          <p:cNvGrpSpPr/>
          <p:nvPr/>
        </p:nvGrpSpPr>
        <p:grpSpPr>
          <a:xfrm>
            <a:off x="457200" y="3733800"/>
            <a:ext cx="4762500" cy="800100"/>
            <a:chOff x="0" y="0"/>
            <a:chExt cx="4762500" cy="800100"/>
          </a:xfrm>
        </p:grpSpPr>
        <p:sp>
          <p:nvSpPr>
            <p:cNvPr id="383" name="Google Shape;383;p25"/>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5"/>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5"/>
            <p:cNvSpPr txBox="1"/>
            <p:nvPr/>
          </p:nvSpPr>
          <p:spPr>
            <a:xfrm>
              <a:off x="228600" y="285750"/>
              <a:ext cx="2286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sync</a:t>
              </a:r>
              <a:endParaRPr sz="1500">
                <a:solidFill>
                  <a:srgbClr val="FFFFFF"/>
                </a:solidFill>
                <a:latin typeface="Material Icons"/>
                <a:ea typeface="Material Icons"/>
                <a:cs typeface="Material Icons"/>
                <a:sym typeface="Material Icons"/>
              </a:endParaRPr>
            </a:p>
          </p:txBody>
        </p:sp>
        <p:sp>
          <p:nvSpPr>
            <p:cNvPr id="386" name="Google Shape;386;p25"/>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Part of the holdings flow</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00">
                  <a:solidFill>
                    <a:srgbClr val="4B5563"/>
                  </a:solidFill>
                  <a:latin typeface="Lato"/>
                  <a:ea typeface="Lato"/>
                  <a:cs typeface="Lato"/>
                  <a:sym typeface="Lato"/>
                </a:rPr>
                <a:t>The holdings service records the transaction as part of the same action, keeping your history and holdings perfectly in sync.</a:t>
              </a:r>
              <a:endParaRPr b="0" sz="900">
                <a:solidFill>
                  <a:srgbClr val="4B5563"/>
                </a:solidFill>
                <a:latin typeface="Lato"/>
                <a:ea typeface="Lato"/>
                <a:cs typeface="Lato"/>
                <a:sym typeface="Lato"/>
              </a:endParaRPr>
            </a:p>
          </p:txBody>
        </p:sp>
      </p:grpSp>
      <p:grpSp>
        <p:nvGrpSpPr>
          <p:cNvPr id="387" name="Google Shape;387;p25"/>
          <p:cNvGrpSpPr/>
          <p:nvPr/>
        </p:nvGrpSpPr>
        <p:grpSpPr>
          <a:xfrm>
            <a:off x="5448300" y="990600"/>
            <a:ext cx="3238500" cy="3543300"/>
            <a:chOff x="0" y="0"/>
            <a:chExt cx="3238500" cy="3543300"/>
          </a:xfrm>
        </p:grpSpPr>
        <p:sp>
          <p:nvSpPr>
            <p:cNvPr id="388" name="Google Shape;388;p25"/>
            <p:cNvSpPr/>
            <p:nvPr/>
          </p:nvSpPr>
          <p:spPr>
            <a:xfrm>
              <a:off x="0" y="0"/>
              <a:ext cx="3238500" cy="3543300"/>
            </a:xfrm>
            <a:prstGeom prst="roundRect">
              <a:avLst>
                <a:gd fmla="val 4705" name="adj"/>
              </a:avLst>
            </a:prstGeom>
            <a:solidFill>
              <a:srgbClr val="F3F4F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5"/>
            <p:cNvSpPr txBox="1"/>
            <p:nvPr/>
          </p:nvSpPr>
          <p:spPr>
            <a:xfrm>
              <a:off x="228600" y="228600"/>
              <a:ext cx="2781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1F2937"/>
                  </a:solidFill>
                  <a:latin typeface="Lato"/>
                  <a:ea typeface="Lato"/>
                  <a:cs typeface="Lato"/>
                  <a:sym typeface="Lato"/>
                </a:rPr>
                <a:t>An example row</a:t>
              </a:r>
              <a:endParaRPr b="1" sz="1050">
                <a:solidFill>
                  <a:srgbClr val="1F2937"/>
                </a:solidFill>
                <a:latin typeface="Lato"/>
                <a:ea typeface="Lato"/>
                <a:cs typeface="Lato"/>
                <a:sym typeface="Lato"/>
              </a:endParaRPr>
            </a:p>
            <a:p>
              <a:pPr indent="0" lvl="0" marL="0" rtl="0" algn="l">
                <a:spcBef>
                  <a:spcPts val="150"/>
                </a:spcBef>
                <a:spcAft>
                  <a:spcPts val="0"/>
                </a:spcAft>
                <a:buNone/>
              </a:pPr>
              <a:r>
                <a:rPr b="0" lang="en" sz="900">
                  <a:solidFill>
                    <a:srgbClr val="6B7280"/>
                  </a:solidFill>
                  <a:latin typeface="Lato"/>
                  <a:ea typeface="Lato"/>
                  <a:cs typeface="Lato"/>
                  <a:sym typeface="Lato"/>
                </a:rPr>
                <a:t>What one transaction looks like</a:t>
              </a:r>
              <a:endParaRPr b="0" sz="900">
                <a:solidFill>
                  <a:srgbClr val="6B7280"/>
                </a:solidFill>
                <a:latin typeface="Lato"/>
                <a:ea typeface="Lato"/>
                <a:cs typeface="Lato"/>
                <a:sym typeface="Lato"/>
              </a:endParaRPr>
            </a:p>
          </p:txBody>
        </p:sp>
        <p:grpSp>
          <p:nvGrpSpPr>
            <p:cNvPr id="390" name="Google Shape;390;p25"/>
            <p:cNvGrpSpPr/>
            <p:nvPr/>
          </p:nvGrpSpPr>
          <p:grpSpPr>
            <a:xfrm>
              <a:off x="228600" y="762000"/>
              <a:ext cx="2781300" cy="2324100"/>
              <a:chOff x="0" y="0"/>
              <a:chExt cx="2781300" cy="2324100"/>
            </a:xfrm>
          </p:grpSpPr>
          <p:sp>
            <p:nvSpPr>
              <p:cNvPr id="391" name="Google Shape;391;p25"/>
              <p:cNvSpPr/>
              <p:nvPr/>
            </p:nvSpPr>
            <p:spPr>
              <a:xfrm>
                <a:off x="0" y="0"/>
                <a:ext cx="2781300" cy="2324100"/>
              </a:xfrm>
              <a:prstGeom prst="roundRect">
                <a:avLst>
                  <a:gd fmla="val 491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5"/>
              <p:cNvSpPr/>
              <p:nvPr/>
            </p:nvSpPr>
            <p:spPr>
              <a:xfrm>
                <a:off x="190500" y="190500"/>
                <a:ext cx="495300" cy="228600"/>
              </a:xfrm>
              <a:prstGeom prst="roundRect">
                <a:avLst>
                  <a:gd fmla="val 25000" name="adj"/>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5"/>
              <p:cNvSpPr txBox="1"/>
              <p:nvPr/>
            </p:nvSpPr>
            <p:spPr>
              <a:xfrm>
                <a:off x="190500" y="228600"/>
                <a:ext cx="495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3543F"/>
                    </a:solidFill>
                    <a:latin typeface="Lato"/>
                    <a:ea typeface="Lato"/>
                    <a:cs typeface="Lato"/>
                    <a:sym typeface="Lato"/>
                  </a:rPr>
                  <a:t>BUY</a:t>
                </a:r>
                <a:endParaRPr b="1" sz="900">
                  <a:solidFill>
                    <a:srgbClr val="03543F"/>
                  </a:solidFill>
                  <a:latin typeface="Lato"/>
                  <a:ea typeface="Lato"/>
                  <a:cs typeface="Lato"/>
                  <a:sym typeface="Lato"/>
                </a:endParaRPr>
              </a:p>
            </p:txBody>
          </p:sp>
          <p:sp>
            <p:nvSpPr>
              <p:cNvPr id="394" name="Google Shape;394;p25"/>
              <p:cNvSpPr txBox="1"/>
              <p:nvPr/>
            </p:nvSpPr>
            <p:spPr>
              <a:xfrm>
                <a:off x="1238250" y="228600"/>
                <a:ext cx="13527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6B7280"/>
                    </a:solidFill>
                    <a:latin typeface="Lato"/>
                    <a:ea typeface="Lato"/>
                    <a:cs typeface="Lato"/>
                    <a:sym typeface="Lato"/>
                  </a:rPr>
                  <a:t>8 Oct 2026, 21:30</a:t>
                </a:r>
                <a:endParaRPr b="0" sz="900">
                  <a:solidFill>
                    <a:srgbClr val="6B7280"/>
                  </a:solidFill>
                  <a:latin typeface="Lato"/>
                  <a:ea typeface="Lato"/>
                  <a:cs typeface="Lato"/>
                  <a:sym typeface="Lato"/>
                </a:endParaRPr>
              </a:p>
            </p:txBody>
          </p:sp>
          <p:cxnSp>
            <p:nvCxnSpPr>
              <p:cNvPr id="395" name="Google Shape;395;p25"/>
              <p:cNvCxnSpPr/>
              <p:nvPr/>
            </p:nvCxnSpPr>
            <p:spPr>
              <a:xfrm>
                <a:off x="190500" y="571500"/>
                <a:ext cx="2400300" cy="0"/>
              </a:xfrm>
              <a:prstGeom prst="straightConnector1">
                <a:avLst/>
              </a:prstGeom>
              <a:solidFill>
                <a:srgbClr val="FFFFFF"/>
              </a:solidFill>
              <a:ln cap="flat" cmpd="sng" w="9525">
                <a:solidFill>
                  <a:srgbClr val="F3F4F6"/>
                </a:solidFill>
                <a:prstDash val="solid"/>
                <a:round/>
                <a:headEnd len="sm" w="sm" type="none"/>
                <a:tailEnd len="sm" w="sm" type="none"/>
              </a:ln>
            </p:spPr>
          </p:cxnSp>
          <p:sp>
            <p:nvSpPr>
              <p:cNvPr id="396" name="Google Shape;396;p25"/>
              <p:cNvSpPr txBox="1"/>
              <p:nvPr/>
            </p:nvSpPr>
            <p:spPr>
              <a:xfrm>
                <a:off x="190500" y="723900"/>
                <a:ext cx="95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6B7280"/>
                    </a:solidFill>
                    <a:latin typeface="Lato"/>
                    <a:ea typeface="Lato"/>
                    <a:cs typeface="Lato"/>
                    <a:sym typeface="Lato"/>
                  </a:rPr>
                  <a:t>Stock</a:t>
                </a:r>
                <a:endParaRPr b="0" sz="900">
                  <a:solidFill>
                    <a:srgbClr val="6B7280"/>
                  </a:solidFill>
                  <a:latin typeface="Lato"/>
                  <a:ea typeface="Lato"/>
                  <a:cs typeface="Lato"/>
                  <a:sym typeface="Lato"/>
                </a:endParaRPr>
              </a:p>
            </p:txBody>
          </p:sp>
          <p:sp>
            <p:nvSpPr>
              <p:cNvPr id="397" name="Google Shape;397;p25"/>
              <p:cNvSpPr txBox="1"/>
              <p:nvPr/>
            </p:nvSpPr>
            <p:spPr>
              <a:xfrm>
                <a:off x="1143000" y="723900"/>
                <a:ext cx="14478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1F2937"/>
                    </a:solidFill>
                    <a:latin typeface="Lato"/>
                    <a:ea typeface="Lato"/>
                    <a:cs typeface="Lato"/>
                    <a:sym typeface="Lato"/>
                  </a:rPr>
                  <a:t>GOOGL</a:t>
                </a:r>
                <a:endParaRPr b="1" sz="900">
                  <a:solidFill>
                    <a:srgbClr val="1F2937"/>
                  </a:solidFill>
                  <a:latin typeface="Lato"/>
                  <a:ea typeface="Lato"/>
                  <a:cs typeface="Lato"/>
                  <a:sym typeface="Lato"/>
                </a:endParaRPr>
              </a:p>
            </p:txBody>
          </p:sp>
          <p:sp>
            <p:nvSpPr>
              <p:cNvPr id="398" name="Google Shape;398;p25"/>
              <p:cNvSpPr txBox="1"/>
              <p:nvPr/>
            </p:nvSpPr>
            <p:spPr>
              <a:xfrm>
                <a:off x="190500" y="1104900"/>
                <a:ext cx="95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6B7280"/>
                    </a:solidFill>
                    <a:latin typeface="Lato"/>
                    <a:ea typeface="Lato"/>
                    <a:cs typeface="Lato"/>
                    <a:sym typeface="Lato"/>
                  </a:rPr>
                  <a:t>Quantity</a:t>
                </a:r>
                <a:endParaRPr b="0" sz="900">
                  <a:solidFill>
                    <a:srgbClr val="6B7280"/>
                  </a:solidFill>
                  <a:latin typeface="Lato"/>
                  <a:ea typeface="Lato"/>
                  <a:cs typeface="Lato"/>
                  <a:sym typeface="Lato"/>
                </a:endParaRPr>
              </a:p>
            </p:txBody>
          </p:sp>
          <p:sp>
            <p:nvSpPr>
              <p:cNvPr id="399" name="Google Shape;399;p25"/>
              <p:cNvSpPr txBox="1"/>
              <p:nvPr/>
            </p:nvSpPr>
            <p:spPr>
              <a:xfrm>
                <a:off x="1143000" y="1104900"/>
                <a:ext cx="14478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1F2937"/>
                    </a:solidFill>
                    <a:latin typeface="Lato"/>
                    <a:ea typeface="Lato"/>
                    <a:cs typeface="Lato"/>
                    <a:sym typeface="Lato"/>
                  </a:rPr>
                  <a:t>5 × $150.00</a:t>
                </a:r>
                <a:endParaRPr b="1" sz="900">
                  <a:solidFill>
                    <a:srgbClr val="1F2937"/>
                  </a:solidFill>
                  <a:latin typeface="Lato"/>
                  <a:ea typeface="Lato"/>
                  <a:cs typeface="Lato"/>
                  <a:sym typeface="Lato"/>
                </a:endParaRPr>
              </a:p>
            </p:txBody>
          </p:sp>
          <p:cxnSp>
            <p:nvCxnSpPr>
              <p:cNvPr id="400" name="Google Shape;400;p25"/>
              <p:cNvCxnSpPr/>
              <p:nvPr/>
            </p:nvCxnSpPr>
            <p:spPr>
              <a:xfrm>
                <a:off x="190500" y="1485900"/>
                <a:ext cx="2400300" cy="0"/>
              </a:xfrm>
              <a:prstGeom prst="straightConnector1">
                <a:avLst/>
              </a:prstGeom>
              <a:solidFill>
                <a:srgbClr val="FFFFFF"/>
              </a:solidFill>
              <a:ln cap="flat" cmpd="sng" w="9525">
                <a:solidFill>
                  <a:srgbClr val="F3F4F6"/>
                </a:solidFill>
                <a:prstDash val="solid"/>
                <a:round/>
                <a:headEnd len="sm" w="sm" type="none"/>
                <a:tailEnd len="sm" w="sm" type="none"/>
              </a:ln>
            </p:spPr>
          </p:cxnSp>
          <p:sp>
            <p:nvSpPr>
              <p:cNvPr id="401" name="Google Shape;401;p25"/>
              <p:cNvSpPr txBox="1"/>
              <p:nvPr/>
            </p:nvSpPr>
            <p:spPr>
              <a:xfrm>
                <a:off x="190500" y="1676400"/>
                <a:ext cx="952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Total</a:t>
                </a:r>
                <a:endParaRPr b="1" sz="1200">
                  <a:solidFill>
                    <a:srgbClr val="1F2937"/>
                  </a:solidFill>
                  <a:latin typeface="Lato"/>
                  <a:ea typeface="Lato"/>
                  <a:cs typeface="Lato"/>
                  <a:sym typeface="Lato"/>
                </a:endParaRPr>
              </a:p>
            </p:txBody>
          </p:sp>
          <p:sp>
            <p:nvSpPr>
              <p:cNvPr id="402" name="Google Shape;402;p25"/>
              <p:cNvSpPr txBox="1"/>
              <p:nvPr/>
            </p:nvSpPr>
            <p:spPr>
              <a:xfrm>
                <a:off x="1143000" y="1657350"/>
                <a:ext cx="1447800" cy="266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1500">
                    <a:solidFill>
                      <a:srgbClr val="1F7A5C"/>
                    </a:solidFill>
                    <a:latin typeface="Lato"/>
                    <a:ea typeface="Lato"/>
                    <a:cs typeface="Lato"/>
                    <a:sym typeface="Lato"/>
                  </a:rPr>
                  <a:t>$750.00</a:t>
                </a:r>
                <a:endParaRPr b="1" sz="1500">
                  <a:solidFill>
                    <a:srgbClr val="1F7A5C"/>
                  </a:solidFill>
                  <a:latin typeface="Lato"/>
                  <a:ea typeface="Lato"/>
                  <a:cs typeface="Lato"/>
                  <a:sym typeface="Lato"/>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6"/>
          <p:cNvSpPr txBox="1"/>
          <p:nvPr/>
        </p:nvSpPr>
        <p:spPr>
          <a:xfrm>
            <a:off x="457200" y="27432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000">
                <a:solidFill>
                  <a:srgbClr val="0F1B2D"/>
                </a:solidFill>
                <a:latin typeface="Cambria"/>
                <a:ea typeface="Cambria"/>
                <a:cs typeface="Cambria"/>
                <a:sym typeface="Cambria"/>
              </a:rPr>
              <a:t>How four people built one app together</a:t>
            </a:r>
            <a:endParaRPr b="1" sz="3000">
              <a:solidFill>
                <a:srgbClr val="0F1B2D"/>
              </a:solidFill>
              <a:latin typeface="Cambria"/>
              <a:ea typeface="Cambria"/>
              <a:cs typeface="Cambria"/>
              <a:sym typeface="Cambria"/>
            </a:endParaRPr>
          </a:p>
        </p:txBody>
      </p:sp>
      <p:sp>
        <p:nvSpPr>
          <p:cNvPr id="408" name="Google Shape;408;p26"/>
          <p:cNvSpPr/>
          <p:nvPr/>
        </p:nvSpPr>
        <p:spPr>
          <a:xfrm>
            <a:off x="960120" y="1280160"/>
            <a:ext cx="777300" cy="777300"/>
          </a:xfrm>
          <a:prstGeom prst="ellipse">
            <a:avLst/>
          </a:prstGeom>
          <a:solidFill>
            <a:srgbClr val="6D28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9" name="Google Shape;409;p26"/>
          <p:cNvPicPr preferRelativeResize="0"/>
          <p:nvPr/>
        </p:nvPicPr>
        <p:blipFill rotWithShape="1">
          <a:blip r:embed="rId3">
            <a:alphaModFix/>
          </a:blip>
          <a:srcRect b="0" l="0" r="0" t="0"/>
          <a:stretch/>
        </p:blipFill>
        <p:spPr>
          <a:xfrm>
            <a:off x="1154430" y="1474470"/>
            <a:ext cx="388620" cy="388620"/>
          </a:xfrm>
          <a:prstGeom prst="rect">
            <a:avLst/>
          </a:prstGeom>
          <a:noFill/>
          <a:ln>
            <a:noFill/>
          </a:ln>
        </p:spPr>
      </p:pic>
      <p:sp>
        <p:nvSpPr>
          <p:cNvPr id="410" name="Google Shape;410;p26"/>
          <p:cNvSpPr txBox="1"/>
          <p:nvPr/>
        </p:nvSpPr>
        <p:spPr>
          <a:xfrm>
            <a:off x="411480" y="2194560"/>
            <a:ext cx="18744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Own copy</a:t>
            </a:r>
            <a:endParaRPr b="0" i="0" sz="1700" u="none" cap="none" strike="noStrike">
              <a:solidFill>
                <a:srgbClr val="1B2433"/>
              </a:solidFill>
              <a:latin typeface="Calibri"/>
              <a:ea typeface="Calibri"/>
              <a:cs typeface="Calibri"/>
              <a:sym typeface="Calibri"/>
            </a:endParaRPr>
          </a:p>
        </p:txBody>
      </p:sp>
      <p:sp>
        <p:nvSpPr>
          <p:cNvPr id="411" name="Google Shape;411;p26"/>
          <p:cNvSpPr txBox="1"/>
          <p:nvPr/>
        </p:nvSpPr>
        <p:spPr>
          <a:xfrm>
            <a:off x="457200" y="2560320"/>
            <a:ext cx="1783200" cy="1097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Each person works on their own copy, so nobody breaks anyone else's work</a:t>
            </a:r>
            <a:endParaRPr b="0" i="0" sz="1300" u="none" cap="none" strike="noStrike">
              <a:solidFill>
                <a:srgbClr val="1B2433"/>
              </a:solidFill>
              <a:latin typeface="Calibri"/>
              <a:ea typeface="Calibri"/>
              <a:cs typeface="Calibri"/>
              <a:sym typeface="Calibri"/>
            </a:endParaRPr>
          </a:p>
        </p:txBody>
      </p:sp>
      <p:cxnSp>
        <p:nvCxnSpPr>
          <p:cNvPr id="412" name="Google Shape;412;p26"/>
          <p:cNvCxnSpPr/>
          <p:nvPr/>
        </p:nvCxnSpPr>
        <p:spPr>
          <a:xfrm>
            <a:off x="1828800" y="1664208"/>
            <a:ext cx="1097400" cy="0"/>
          </a:xfrm>
          <a:prstGeom prst="straightConnector1">
            <a:avLst/>
          </a:prstGeom>
          <a:noFill/>
          <a:ln cap="flat" cmpd="sng" w="22225">
            <a:solidFill>
              <a:srgbClr val="475569"/>
            </a:solidFill>
            <a:prstDash val="solid"/>
            <a:round/>
            <a:headEnd len="sm" w="sm" type="none"/>
            <a:tailEnd len="med" w="med" type="triangle"/>
          </a:ln>
        </p:spPr>
      </p:cxnSp>
      <p:sp>
        <p:nvSpPr>
          <p:cNvPr id="413" name="Google Shape;413;p26"/>
          <p:cNvSpPr/>
          <p:nvPr/>
        </p:nvSpPr>
        <p:spPr>
          <a:xfrm>
            <a:off x="3108960" y="1280160"/>
            <a:ext cx="777300" cy="7773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4" name="Google Shape;414;p26"/>
          <p:cNvPicPr preferRelativeResize="0"/>
          <p:nvPr/>
        </p:nvPicPr>
        <p:blipFill rotWithShape="1">
          <a:blip r:embed="rId4">
            <a:alphaModFix/>
          </a:blip>
          <a:srcRect b="0" l="0" r="0" t="0"/>
          <a:stretch/>
        </p:blipFill>
        <p:spPr>
          <a:xfrm>
            <a:off x="3303270" y="1474470"/>
            <a:ext cx="388620" cy="388620"/>
          </a:xfrm>
          <a:prstGeom prst="rect">
            <a:avLst/>
          </a:prstGeom>
          <a:noFill/>
          <a:ln>
            <a:noFill/>
          </a:ln>
        </p:spPr>
      </p:pic>
      <p:sp>
        <p:nvSpPr>
          <p:cNvPr id="415" name="Google Shape;415;p26"/>
          <p:cNvSpPr txBox="1"/>
          <p:nvPr/>
        </p:nvSpPr>
        <p:spPr>
          <a:xfrm>
            <a:off x="2560320" y="2194560"/>
            <a:ext cx="18744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Peer review</a:t>
            </a:r>
            <a:endParaRPr b="0" i="0" sz="1700" u="none" cap="none" strike="noStrike">
              <a:solidFill>
                <a:srgbClr val="1B2433"/>
              </a:solidFill>
              <a:latin typeface="Calibri"/>
              <a:ea typeface="Calibri"/>
              <a:cs typeface="Calibri"/>
              <a:sym typeface="Calibri"/>
            </a:endParaRPr>
          </a:p>
        </p:txBody>
      </p:sp>
      <p:sp>
        <p:nvSpPr>
          <p:cNvPr id="416" name="Google Shape;416;p26"/>
          <p:cNvSpPr txBox="1"/>
          <p:nvPr/>
        </p:nvSpPr>
        <p:spPr>
          <a:xfrm>
            <a:off x="2606040" y="2560320"/>
            <a:ext cx="1783200" cy="1097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A teammate checks every change before it is accepted</a:t>
            </a:r>
            <a:endParaRPr b="0" i="0" sz="1300" u="none" cap="none" strike="noStrike">
              <a:solidFill>
                <a:srgbClr val="1B2433"/>
              </a:solidFill>
              <a:latin typeface="Calibri"/>
              <a:ea typeface="Calibri"/>
              <a:cs typeface="Calibri"/>
              <a:sym typeface="Calibri"/>
            </a:endParaRPr>
          </a:p>
        </p:txBody>
      </p:sp>
      <p:cxnSp>
        <p:nvCxnSpPr>
          <p:cNvPr id="417" name="Google Shape;417;p26"/>
          <p:cNvCxnSpPr/>
          <p:nvPr/>
        </p:nvCxnSpPr>
        <p:spPr>
          <a:xfrm>
            <a:off x="3977640" y="1664208"/>
            <a:ext cx="1097400" cy="0"/>
          </a:xfrm>
          <a:prstGeom prst="straightConnector1">
            <a:avLst/>
          </a:prstGeom>
          <a:noFill/>
          <a:ln cap="flat" cmpd="sng" w="22225">
            <a:solidFill>
              <a:srgbClr val="475569"/>
            </a:solidFill>
            <a:prstDash val="solid"/>
            <a:round/>
            <a:headEnd len="sm" w="sm" type="none"/>
            <a:tailEnd len="med" w="med" type="triangle"/>
          </a:ln>
        </p:spPr>
      </p:cxnSp>
      <p:sp>
        <p:nvSpPr>
          <p:cNvPr id="418" name="Google Shape;418;p26"/>
          <p:cNvSpPr/>
          <p:nvPr/>
        </p:nvSpPr>
        <p:spPr>
          <a:xfrm>
            <a:off x="5257800" y="1280160"/>
            <a:ext cx="777300" cy="77730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9" name="Google Shape;419;p26"/>
          <p:cNvPicPr preferRelativeResize="0"/>
          <p:nvPr/>
        </p:nvPicPr>
        <p:blipFill rotWithShape="1">
          <a:blip r:embed="rId5">
            <a:alphaModFix/>
          </a:blip>
          <a:srcRect b="0" l="0" r="0" t="0"/>
          <a:stretch/>
        </p:blipFill>
        <p:spPr>
          <a:xfrm>
            <a:off x="5452110" y="1474470"/>
            <a:ext cx="388620" cy="388620"/>
          </a:xfrm>
          <a:prstGeom prst="rect">
            <a:avLst/>
          </a:prstGeom>
          <a:noFill/>
          <a:ln>
            <a:noFill/>
          </a:ln>
        </p:spPr>
      </p:pic>
      <p:sp>
        <p:nvSpPr>
          <p:cNvPr id="420" name="Google Shape;420;p26"/>
          <p:cNvSpPr txBox="1"/>
          <p:nvPr/>
        </p:nvSpPr>
        <p:spPr>
          <a:xfrm>
            <a:off x="4709160" y="2194560"/>
            <a:ext cx="18744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Automatic checks</a:t>
            </a:r>
            <a:endParaRPr b="0" i="0" sz="1700" u="none" cap="none" strike="noStrike">
              <a:solidFill>
                <a:srgbClr val="1B2433"/>
              </a:solidFill>
              <a:latin typeface="Calibri"/>
              <a:ea typeface="Calibri"/>
              <a:cs typeface="Calibri"/>
              <a:sym typeface="Calibri"/>
            </a:endParaRPr>
          </a:p>
        </p:txBody>
      </p:sp>
      <p:sp>
        <p:nvSpPr>
          <p:cNvPr id="421" name="Google Shape;421;p26"/>
          <p:cNvSpPr txBox="1"/>
          <p:nvPr/>
        </p:nvSpPr>
        <p:spPr>
          <a:xfrm>
            <a:off x="4754880" y="2560320"/>
            <a:ext cx="1783200" cy="1097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Tests run by themselves on every change</a:t>
            </a:r>
            <a:endParaRPr b="0" i="0" sz="1300" u="none" cap="none" strike="noStrike">
              <a:solidFill>
                <a:srgbClr val="1B2433"/>
              </a:solidFill>
              <a:latin typeface="Calibri"/>
              <a:ea typeface="Calibri"/>
              <a:cs typeface="Calibri"/>
              <a:sym typeface="Calibri"/>
            </a:endParaRPr>
          </a:p>
        </p:txBody>
      </p:sp>
      <p:cxnSp>
        <p:nvCxnSpPr>
          <p:cNvPr id="422" name="Google Shape;422;p26"/>
          <p:cNvCxnSpPr/>
          <p:nvPr/>
        </p:nvCxnSpPr>
        <p:spPr>
          <a:xfrm>
            <a:off x="6126480" y="1664208"/>
            <a:ext cx="1097400" cy="0"/>
          </a:xfrm>
          <a:prstGeom prst="straightConnector1">
            <a:avLst/>
          </a:prstGeom>
          <a:noFill/>
          <a:ln cap="flat" cmpd="sng" w="22225">
            <a:solidFill>
              <a:srgbClr val="475569"/>
            </a:solidFill>
            <a:prstDash val="solid"/>
            <a:round/>
            <a:headEnd len="sm" w="sm" type="none"/>
            <a:tailEnd len="med" w="med" type="triangle"/>
          </a:ln>
        </p:spPr>
      </p:cxnSp>
      <p:sp>
        <p:nvSpPr>
          <p:cNvPr id="423" name="Google Shape;423;p26"/>
          <p:cNvSpPr/>
          <p:nvPr/>
        </p:nvSpPr>
        <p:spPr>
          <a:xfrm>
            <a:off x="7406640" y="1280160"/>
            <a:ext cx="777300" cy="77730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4" name="Google Shape;424;p26"/>
          <p:cNvPicPr preferRelativeResize="0"/>
          <p:nvPr/>
        </p:nvPicPr>
        <p:blipFill rotWithShape="1">
          <a:blip r:embed="rId6">
            <a:alphaModFix/>
          </a:blip>
          <a:srcRect b="0" l="0" r="0" t="0"/>
          <a:stretch/>
        </p:blipFill>
        <p:spPr>
          <a:xfrm>
            <a:off x="7600950" y="1474470"/>
            <a:ext cx="388620" cy="388620"/>
          </a:xfrm>
          <a:prstGeom prst="rect">
            <a:avLst/>
          </a:prstGeom>
          <a:noFill/>
          <a:ln>
            <a:noFill/>
          </a:ln>
        </p:spPr>
      </p:pic>
      <p:sp>
        <p:nvSpPr>
          <p:cNvPr id="425" name="Google Shape;425;p26"/>
          <p:cNvSpPr txBox="1"/>
          <p:nvPr/>
        </p:nvSpPr>
        <p:spPr>
          <a:xfrm>
            <a:off x="6858000" y="2194560"/>
            <a:ext cx="18744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B2D"/>
              </a:buClr>
              <a:buSzPts val="1700"/>
              <a:buFont typeface="Calibri"/>
              <a:buNone/>
            </a:pPr>
            <a:r>
              <a:rPr b="1" i="0" lang="en" sz="1700" u="none" cap="none" strike="noStrike">
                <a:solidFill>
                  <a:srgbClr val="0F1B2D"/>
                </a:solidFill>
                <a:latin typeface="Calibri"/>
                <a:ea typeface="Calibri"/>
                <a:cs typeface="Calibri"/>
                <a:sym typeface="Calibri"/>
              </a:rPr>
              <a:t>Combine</a:t>
            </a:r>
            <a:endParaRPr b="0" i="0" sz="1700" u="none" cap="none" strike="noStrike">
              <a:solidFill>
                <a:srgbClr val="1B2433"/>
              </a:solidFill>
              <a:latin typeface="Calibri"/>
              <a:ea typeface="Calibri"/>
              <a:cs typeface="Calibri"/>
              <a:sym typeface="Calibri"/>
            </a:endParaRPr>
          </a:p>
        </p:txBody>
      </p:sp>
      <p:sp>
        <p:nvSpPr>
          <p:cNvPr id="426" name="Google Shape;426;p26"/>
          <p:cNvSpPr txBox="1"/>
          <p:nvPr/>
        </p:nvSpPr>
        <p:spPr>
          <a:xfrm>
            <a:off x="6903720" y="2560320"/>
            <a:ext cx="1783200" cy="1097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433"/>
              </a:buClr>
              <a:buSzPts val="1300"/>
              <a:buFont typeface="Calibri"/>
              <a:buNone/>
            </a:pPr>
            <a:r>
              <a:rPr b="0" i="0" lang="en" sz="1300" u="none" cap="none" strike="noStrike">
                <a:solidFill>
                  <a:srgbClr val="1B2433"/>
                </a:solidFill>
                <a:latin typeface="Calibri"/>
                <a:ea typeface="Calibri"/>
                <a:cs typeface="Calibri"/>
                <a:sym typeface="Calibri"/>
              </a:rPr>
              <a:t>Only then is the change added to the main version</a:t>
            </a:r>
            <a:endParaRPr b="0" i="0" sz="1300" u="none" cap="none" strike="noStrike">
              <a:solidFill>
                <a:srgbClr val="1B2433"/>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30" name="Shape 430"/>
        <p:cNvGrpSpPr/>
        <p:nvPr/>
      </p:nvGrpSpPr>
      <p:grpSpPr>
        <a:xfrm>
          <a:off x="0" y="0"/>
          <a:ext cx="0" cy="0"/>
          <a:chOff x="0" y="0"/>
          <a:chExt cx="0" cy="0"/>
        </a:xfrm>
      </p:grpSpPr>
      <p:sp>
        <p:nvSpPr>
          <p:cNvPr id="431" name="Google Shape;431;p27"/>
          <p:cNvSpPr txBox="1"/>
          <p:nvPr/>
        </p:nvSpPr>
        <p:spPr>
          <a:xfrm>
            <a:off x="457200" y="3429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F2937"/>
                </a:solidFill>
                <a:latin typeface="Lato"/>
                <a:ea typeface="Lato"/>
                <a:cs typeface="Lato"/>
                <a:sym typeface="Lato"/>
              </a:rPr>
              <a:t>Single-Page Application</a:t>
            </a:r>
            <a:endParaRPr b="1" sz="2400">
              <a:solidFill>
                <a:srgbClr val="1F2937"/>
              </a:solidFill>
              <a:latin typeface="Lato"/>
              <a:ea typeface="Lato"/>
              <a:cs typeface="Lato"/>
              <a:sym typeface="Lato"/>
            </a:endParaRPr>
          </a:p>
        </p:txBody>
      </p:sp>
      <p:grpSp>
        <p:nvGrpSpPr>
          <p:cNvPr id="432" name="Google Shape;432;p27"/>
          <p:cNvGrpSpPr/>
          <p:nvPr/>
        </p:nvGrpSpPr>
        <p:grpSpPr>
          <a:xfrm>
            <a:off x="457200" y="952500"/>
            <a:ext cx="4762500" cy="800100"/>
            <a:chOff x="0" y="0"/>
            <a:chExt cx="4762500" cy="800100"/>
          </a:xfrm>
        </p:grpSpPr>
        <p:sp>
          <p:nvSpPr>
            <p:cNvPr id="433" name="Google Shape;433;p27"/>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7"/>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7"/>
            <p:cNvSpPr txBox="1"/>
            <p:nvPr/>
          </p:nvSpPr>
          <p:spPr>
            <a:xfrm>
              <a:off x="228600" y="30765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web</a:t>
              </a:r>
              <a:endParaRPr sz="1500">
                <a:solidFill>
                  <a:srgbClr val="FFFFFF"/>
                </a:solidFill>
                <a:latin typeface="Material Icons"/>
                <a:ea typeface="Material Icons"/>
                <a:cs typeface="Material Icons"/>
                <a:sym typeface="Material Icons"/>
              </a:endParaRPr>
            </a:p>
          </p:txBody>
        </p:sp>
        <p:sp>
          <p:nvSpPr>
            <p:cNvPr id="436" name="Google Shape;436;p27"/>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Frontend Stack</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HTML, CSS, and jQuery with zero page reloads for a seamless experience.</a:t>
              </a:r>
              <a:endParaRPr b="0" sz="950">
                <a:solidFill>
                  <a:srgbClr val="4B5563"/>
                </a:solidFill>
                <a:latin typeface="Lato"/>
                <a:ea typeface="Lato"/>
                <a:cs typeface="Lato"/>
                <a:sym typeface="Lato"/>
              </a:endParaRPr>
            </a:p>
          </p:txBody>
        </p:sp>
      </p:grpSp>
      <p:grpSp>
        <p:nvGrpSpPr>
          <p:cNvPr id="437" name="Google Shape;437;p27"/>
          <p:cNvGrpSpPr/>
          <p:nvPr/>
        </p:nvGrpSpPr>
        <p:grpSpPr>
          <a:xfrm>
            <a:off x="457200" y="1866900"/>
            <a:ext cx="4762500" cy="800100"/>
            <a:chOff x="0" y="0"/>
            <a:chExt cx="4762500" cy="800100"/>
          </a:xfrm>
        </p:grpSpPr>
        <p:sp>
          <p:nvSpPr>
            <p:cNvPr id="438" name="Google Shape;438;p27"/>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27"/>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7"/>
            <p:cNvSpPr txBox="1"/>
            <p:nvPr/>
          </p:nvSpPr>
          <p:spPr>
            <a:xfrm>
              <a:off x="228600" y="30765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api</a:t>
              </a:r>
              <a:endParaRPr sz="1500">
                <a:solidFill>
                  <a:srgbClr val="FFFFFF"/>
                </a:solidFill>
                <a:latin typeface="Material Icons"/>
                <a:ea typeface="Material Icons"/>
                <a:cs typeface="Material Icons"/>
                <a:sym typeface="Material Icons"/>
              </a:endParaRPr>
            </a:p>
          </p:txBody>
        </p:sp>
        <p:sp>
          <p:nvSpPr>
            <p:cNvPr id="441" name="Google Shape;441;p27"/>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REST API Communication</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Communicates directly with our REST API to send requests and display JSON responses dynamically.</a:t>
              </a:r>
              <a:endParaRPr b="0" sz="950">
                <a:solidFill>
                  <a:srgbClr val="4B5563"/>
                </a:solidFill>
                <a:latin typeface="Lato"/>
                <a:ea typeface="Lato"/>
                <a:cs typeface="Lato"/>
                <a:sym typeface="Lato"/>
              </a:endParaRPr>
            </a:p>
          </p:txBody>
        </p:sp>
      </p:grpSp>
      <p:grpSp>
        <p:nvGrpSpPr>
          <p:cNvPr id="442" name="Google Shape;442;p27"/>
          <p:cNvGrpSpPr/>
          <p:nvPr/>
        </p:nvGrpSpPr>
        <p:grpSpPr>
          <a:xfrm>
            <a:off x="457200" y="2781300"/>
            <a:ext cx="4762500" cy="800100"/>
            <a:chOff x="0" y="0"/>
            <a:chExt cx="4762500" cy="800100"/>
          </a:xfrm>
        </p:grpSpPr>
        <p:sp>
          <p:nvSpPr>
            <p:cNvPr id="443" name="Google Shape;443;p27"/>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27"/>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7"/>
            <p:cNvSpPr txBox="1"/>
            <p:nvPr/>
          </p:nvSpPr>
          <p:spPr>
            <a:xfrm>
              <a:off x="228600" y="30765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sentiment_satisfied_alt</a:t>
              </a:r>
              <a:endParaRPr sz="1500">
                <a:solidFill>
                  <a:srgbClr val="FFFFFF"/>
                </a:solidFill>
                <a:latin typeface="Material Icons"/>
                <a:ea typeface="Material Icons"/>
                <a:cs typeface="Material Icons"/>
                <a:sym typeface="Material Icons"/>
              </a:endParaRPr>
            </a:p>
          </p:txBody>
        </p:sp>
        <p:sp>
          <p:nvSpPr>
            <p:cNvPr id="446" name="Google Shape;446;p27"/>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Beginner-Friendly UI</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Features a ☰ menu, page hints, and clear green/red indicators for financial gains and losses.</a:t>
              </a:r>
              <a:endParaRPr b="0" sz="950">
                <a:solidFill>
                  <a:srgbClr val="4B5563"/>
                </a:solidFill>
                <a:latin typeface="Lato"/>
                <a:ea typeface="Lato"/>
                <a:cs typeface="Lato"/>
                <a:sym typeface="Lato"/>
              </a:endParaRPr>
            </a:p>
          </p:txBody>
        </p:sp>
      </p:grpSp>
      <p:grpSp>
        <p:nvGrpSpPr>
          <p:cNvPr id="447" name="Google Shape;447;p27"/>
          <p:cNvGrpSpPr/>
          <p:nvPr/>
        </p:nvGrpSpPr>
        <p:grpSpPr>
          <a:xfrm>
            <a:off x="457200" y="3695700"/>
            <a:ext cx="4762500" cy="800100"/>
            <a:chOff x="0" y="0"/>
            <a:chExt cx="4762500" cy="800100"/>
          </a:xfrm>
        </p:grpSpPr>
        <p:sp>
          <p:nvSpPr>
            <p:cNvPr id="448" name="Google Shape;448;p27"/>
            <p:cNvSpPr/>
            <p:nvPr/>
          </p:nvSpPr>
          <p:spPr>
            <a:xfrm>
              <a:off x="0" y="0"/>
              <a:ext cx="4762500" cy="800100"/>
            </a:xfrm>
            <a:prstGeom prst="roundRect">
              <a:avLst>
                <a:gd fmla="val 1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7"/>
            <p:cNvSpPr/>
            <p:nvPr/>
          </p:nvSpPr>
          <p:spPr>
            <a:xfrm>
              <a:off x="152400" y="20955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7"/>
            <p:cNvSpPr txBox="1"/>
            <p:nvPr/>
          </p:nvSpPr>
          <p:spPr>
            <a:xfrm>
              <a:off x="228600" y="30765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500">
                  <a:solidFill>
                    <a:srgbClr val="FFFFFF"/>
                  </a:solidFill>
                  <a:latin typeface="Material Icons"/>
                  <a:ea typeface="Material Icons"/>
                  <a:cs typeface="Material Icons"/>
                  <a:sym typeface="Material Icons"/>
                </a:rPr>
                <a:t>error_outline</a:t>
              </a:r>
              <a:endParaRPr sz="1500">
                <a:solidFill>
                  <a:srgbClr val="FFFFFF"/>
                </a:solidFill>
                <a:latin typeface="Material Icons"/>
                <a:ea typeface="Material Icons"/>
                <a:cs typeface="Material Icons"/>
                <a:sym typeface="Material Icons"/>
              </a:endParaRPr>
            </a:p>
          </p:txBody>
        </p:sp>
        <p:sp>
          <p:nvSpPr>
            <p:cNvPr id="451" name="Google Shape;451;p27"/>
            <p:cNvSpPr txBox="1"/>
            <p:nvPr/>
          </p:nvSpPr>
          <p:spPr>
            <a:xfrm>
              <a:off x="685800" y="133350"/>
              <a:ext cx="39243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F2937"/>
                  </a:solidFill>
                  <a:latin typeface="Lato"/>
                  <a:ea typeface="Lato"/>
                  <a:cs typeface="Lato"/>
                  <a:sym typeface="Lato"/>
                </a:rPr>
                <a:t>Friendly Error Handling</a:t>
              </a:r>
              <a:endParaRPr b="1" sz="1200">
                <a:solidFill>
                  <a:srgbClr val="1F2937"/>
                </a:solidFill>
                <a:latin typeface="Lato"/>
                <a:ea typeface="Lato"/>
                <a:cs typeface="Lato"/>
                <a:sym typeface="Lato"/>
              </a:endParaRPr>
            </a:p>
            <a:p>
              <a:pPr indent="0" lvl="0" marL="0" rtl="0" algn="l">
                <a:spcBef>
                  <a:spcPts val="300"/>
                </a:spcBef>
                <a:spcAft>
                  <a:spcPts val="0"/>
                </a:spcAft>
                <a:buNone/>
              </a:pPr>
              <a:r>
                <a:rPr b="0" lang="en" sz="950">
                  <a:solidFill>
                    <a:srgbClr val="4B5563"/>
                  </a:solidFill>
                  <a:latin typeface="Lato"/>
                  <a:ea typeface="Lato"/>
                  <a:cs typeface="Lato"/>
                  <a:sym typeface="Lato"/>
                </a:rPr>
                <a:t>Server messages and errors are presented clearly without app crashes or cryptic failures.</a:t>
              </a:r>
              <a:endParaRPr b="0" sz="950">
                <a:solidFill>
                  <a:srgbClr val="4B5563"/>
                </a:solidFill>
                <a:latin typeface="Lato"/>
                <a:ea typeface="Lato"/>
                <a:cs typeface="Lato"/>
                <a:sym typeface="Lato"/>
              </a:endParaRPr>
            </a:p>
          </p:txBody>
        </p:sp>
      </p:grpSp>
      <p:grpSp>
        <p:nvGrpSpPr>
          <p:cNvPr id="452" name="Google Shape;452;p27"/>
          <p:cNvGrpSpPr/>
          <p:nvPr/>
        </p:nvGrpSpPr>
        <p:grpSpPr>
          <a:xfrm>
            <a:off x="5448300" y="952500"/>
            <a:ext cx="3238500" cy="3543300"/>
            <a:chOff x="0" y="0"/>
            <a:chExt cx="3238500" cy="3543300"/>
          </a:xfrm>
        </p:grpSpPr>
        <p:sp>
          <p:nvSpPr>
            <p:cNvPr id="453" name="Google Shape;453;p27"/>
            <p:cNvSpPr/>
            <p:nvPr/>
          </p:nvSpPr>
          <p:spPr>
            <a:xfrm>
              <a:off x="0" y="0"/>
              <a:ext cx="3238500" cy="3543300"/>
            </a:xfrm>
            <a:prstGeom prst="roundRect">
              <a:avLst>
                <a:gd fmla="val 4705" name="adj"/>
              </a:avLst>
            </a:prstGeom>
            <a:solidFill>
              <a:srgbClr val="F3F4F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7"/>
            <p:cNvSpPr txBox="1"/>
            <p:nvPr/>
          </p:nvSpPr>
          <p:spPr>
            <a:xfrm>
              <a:off x="228600" y="228600"/>
              <a:ext cx="2781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F2937"/>
                  </a:solidFill>
                  <a:latin typeface="Lato"/>
                  <a:ea typeface="Lato"/>
                  <a:cs typeface="Lato"/>
                  <a:sym typeface="Lato"/>
                </a:rPr>
                <a:t>When you click "Buy"</a:t>
              </a:r>
              <a:endParaRPr b="1" sz="1100">
                <a:solidFill>
                  <a:srgbClr val="1F2937"/>
                </a:solidFill>
                <a:latin typeface="Lato"/>
                <a:ea typeface="Lato"/>
                <a:cs typeface="Lato"/>
                <a:sym typeface="Lato"/>
              </a:endParaRPr>
            </a:p>
            <a:p>
              <a:pPr indent="0" lvl="0" marL="0" rtl="0" algn="l">
                <a:spcBef>
                  <a:spcPts val="150"/>
                </a:spcBef>
                <a:spcAft>
                  <a:spcPts val="0"/>
                </a:spcAft>
                <a:buNone/>
              </a:pPr>
              <a:r>
                <a:rPr b="0" lang="en" sz="900">
                  <a:solidFill>
                    <a:srgbClr val="6B7280"/>
                  </a:solidFill>
                  <a:latin typeface="Lato"/>
                  <a:ea typeface="Lato"/>
                  <a:cs typeface="Lato"/>
                  <a:sym typeface="Lato"/>
                </a:rPr>
                <a:t>How a trade request is processed</a:t>
              </a:r>
              <a:endParaRPr b="0" sz="900">
                <a:solidFill>
                  <a:srgbClr val="6B7280"/>
                </a:solidFill>
                <a:latin typeface="Lato"/>
                <a:ea typeface="Lato"/>
                <a:cs typeface="Lato"/>
                <a:sym typeface="Lato"/>
              </a:endParaRPr>
            </a:p>
          </p:txBody>
        </p:sp>
        <p:grpSp>
          <p:nvGrpSpPr>
            <p:cNvPr id="455" name="Google Shape;455;p27"/>
            <p:cNvGrpSpPr/>
            <p:nvPr/>
          </p:nvGrpSpPr>
          <p:grpSpPr>
            <a:xfrm>
              <a:off x="228600" y="723900"/>
              <a:ext cx="2781300" cy="2400300"/>
              <a:chOff x="0" y="0"/>
              <a:chExt cx="2781300" cy="2400300"/>
            </a:xfrm>
          </p:grpSpPr>
          <p:sp>
            <p:nvSpPr>
              <p:cNvPr id="456" name="Google Shape;456;p27"/>
              <p:cNvSpPr/>
              <p:nvPr/>
            </p:nvSpPr>
            <p:spPr>
              <a:xfrm>
                <a:off x="0" y="0"/>
                <a:ext cx="2781300" cy="2400300"/>
              </a:xfrm>
              <a:prstGeom prst="roundRect">
                <a:avLst>
                  <a:gd fmla="val 4761"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7"/>
              <p:cNvSpPr/>
              <p:nvPr/>
            </p:nvSpPr>
            <p:spPr>
              <a:xfrm>
                <a:off x="190500" y="190500"/>
                <a:ext cx="228600" cy="228600"/>
              </a:xfrm>
              <a:prstGeom prst="ellipse">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27"/>
              <p:cNvSpPr txBox="1"/>
              <p:nvPr/>
            </p:nvSpPr>
            <p:spPr>
              <a:xfrm>
                <a:off x="190500" y="1905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F7A5C"/>
                    </a:solidFill>
                    <a:latin typeface="Lato"/>
                    <a:ea typeface="Lato"/>
                    <a:cs typeface="Lato"/>
                    <a:sym typeface="Lato"/>
                  </a:rPr>
                  <a:t>1</a:t>
                </a:r>
                <a:endParaRPr b="1" sz="1000">
                  <a:solidFill>
                    <a:srgbClr val="1F7A5C"/>
                  </a:solidFill>
                  <a:latin typeface="Lato"/>
                  <a:ea typeface="Lato"/>
                  <a:cs typeface="Lato"/>
                  <a:sym typeface="Lato"/>
                </a:endParaRPr>
              </a:p>
            </p:txBody>
          </p:sp>
          <p:sp>
            <p:nvSpPr>
              <p:cNvPr id="459" name="Google Shape;459;p27"/>
              <p:cNvSpPr txBox="1"/>
              <p:nvPr/>
            </p:nvSpPr>
            <p:spPr>
              <a:xfrm>
                <a:off x="495300" y="2095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1F2937"/>
                    </a:solidFill>
                    <a:latin typeface="Lato"/>
                    <a:ea typeface="Lato"/>
                    <a:cs typeface="Lato"/>
                    <a:sym typeface="Lato"/>
                  </a:rPr>
                  <a:t>The form checks your input</a:t>
                </a:r>
                <a:endParaRPr b="0" sz="950">
                  <a:solidFill>
                    <a:srgbClr val="1F2937"/>
                  </a:solidFill>
                  <a:latin typeface="Lato"/>
                  <a:ea typeface="Lato"/>
                  <a:cs typeface="Lato"/>
                  <a:sym typeface="Lato"/>
                </a:endParaRPr>
              </a:p>
            </p:txBody>
          </p:sp>
          <p:cxnSp>
            <p:nvCxnSpPr>
              <p:cNvPr id="460" name="Google Shape;460;p27"/>
              <p:cNvCxnSpPr/>
              <p:nvPr/>
            </p:nvCxnSpPr>
            <p:spPr>
              <a:xfrm>
                <a:off x="190500" y="552450"/>
                <a:ext cx="2400300" cy="0"/>
              </a:xfrm>
              <a:prstGeom prst="straightConnector1">
                <a:avLst/>
              </a:prstGeom>
              <a:solidFill>
                <a:srgbClr val="FFFFFF"/>
              </a:solidFill>
              <a:ln cap="flat" cmpd="sng" w="9525">
                <a:solidFill>
                  <a:srgbClr val="F3F4F6"/>
                </a:solidFill>
                <a:prstDash val="solid"/>
                <a:round/>
                <a:headEnd len="sm" w="sm" type="none"/>
                <a:tailEnd len="sm" w="sm" type="none"/>
              </a:ln>
            </p:spPr>
          </p:cxnSp>
          <p:sp>
            <p:nvSpPr>
              <p:cNvPr id="461" name="Google Shape;461;p27"/>
              <p:cNvSpPr/>
              <p:nvPr/>
            </p:nvSpPr>
            <p:spPr>
              <a:xfrm>
                <a:off x="190500" y="685800"/>
                <a:ext cx="228600" cy="228600"/>
              </a:xfrm>
              <a:prstGeom prst="ellipse">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7"/>
              <p:cNvSpPr txBox="1"/>
              <p:nvPr/>
            </p:nvSpPr>
            <p:spPr>
              <a:xfrm>
                <a:off x="190500" y="6858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F7A5C"/>
                    </a:solidFill>
                    <a:latin typeface="Lato"/>
                    <a:ea typeface="Lato"/>
                    <a:cs typeface="Lato"/>
                    <a:sym typeface="Lato"/>
                  </a:rPr>
                  <a:t>2</a:t>
                </a:r>
                <a:endParaRPr b="1" sz="1000">
                  <a:solidFill>
                    <a:srgbClr val="1F7A5C"/>
                  </a:solidFill>
                  <a:latin typeface="Lato"/>
                  <a:ea typeface="Lato"/>
                  <a:cs typeface="Lato"/>
                  <a:sym typeface="Lato"/>
                </a:endParaRPr>
              </a:p>
            </p:txBody>
          </p:sp>
          <p:sp>
            <p:nvSpPr>
              <p:cNvPr id="463" name="Google Shape;463;p27"/>
              <p:cNvSpPr txBox="1"/>
              <p:nvPr/>
            </p:nvSpPr>
            <p:spPr>
              <a:xfrm>
                <a:off x="495300" y="7048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1F2937"/>
                    </a:solidFill>
                    <a:latin typeface="Lato"/>
                    <a:ea typeface="Lato"/>
                    <a:cs typeface="Lato"/>
                    <a:sym typeface="Lato"/>
                  </a:rPr>
                  <a:t>It sends </a:t>
                </a:r>
                <a:r>
                  <a:rPr b="1" lang="en" sz="850">
                    <a:solidFill>
                      <a:srgbClr val="1F7A5C"/>
                    </a:solidFill>
                    <a:latin typeface="Arial"/>
                    <a:ea typeface="Arial"/>
                    <a:cs typeface="Arial"/>
                    <a:sym typeface="Arial"/>
                  </a:rPr>
                  <a:t>POST /api/holdings</a:t>
                </a:r>
                <a:endParaRPr b="0" sz="950">
                  <a:solidFill>
                    <a:srgbClr val="1F2937"/>
                  </a:solidFill>
                  <a:latin typeface="Lato"/>
                  <a:ea typeface="Lato"/>
                  <a:cs typeface="Lato"/>
                  <a:sym typeface="Lato"/>
                </a:endParaRPr>
              </a:p>
            </p:txBody>
          </p:sp>
          <p:cxnSp>
            <p:nvCxnSpPr>
              <p:cNvPr id="464" name="Google Shape;464;p27"/>
              <p:cNvCxnSpPr/>
              <p:nvPr/>
            </p:nvCxnSpPr>
            <p:spPr>
              <a:xfrm>
                <a:off x="190500" y="1047750"/>
                <a:ext cx="2400300" cy="0"/>
              </a:xfrm>
              <a:prstGeom prst="straightConnector1">
                <a:avLst/>
              </a:prstGeom>
              <a:solidFill>
                <a:srgbClr val="FFFFFF"/>
              </a:solidFill>
              <a:ln cap="flat" cmpd="sng" w="9525">
                <a:solidFill>
                  <a:srgbClr val="F3F4F6"/>
                </a:solidFill>
                <a:prstDash val="solid"/>
                <a:round/>
                <a:headEnd len="sm" w="sm" type="none"/>
                <a:tailEnd len="sm" w="sm" type="none"/>
              </a:ln>
            </p:spPr>
          </p:cxnSp>
          <p:sp>
            <p:nvSpPr>
              <p:cNvPr id="465" name="Google Shape;465;p27"/>
              <p:cNvSpPr/>
              <p:nvPr/>
            </p:nvSpPr>
            <p:spPr>
              <a:xfrm>
                <a:off x="190500" y="1181100"/>
                <a:ext cx="228600" cy="228600"/>
              </a:xfrm>
              <a:prstGeom prst="ellipse">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7"/>
              <p:cNvSpPr txBox="1"/>
              <p:nvPr/>
            </p:nvSpPr>
            <p:spPr>
              <a:xfrm>
                <a:off x="190500" y="11811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F7A5C"/>
                    </a:solidFill>
                    <a:latin typeface="Lato"/>
                    <a:ea typeface="Lato"/>
                    <a:cs typeface="Lato"/>
                    <a:sym typeface="Lato"/>
                  </a:rPr>
                  <a:t>3</a:t>
                </a:r>
                <a:endParaRPr b="1" sz="1000">
                  <a:solidFill>
                    <a:srgbClr val="1F7A5C"/>
                  </a:solidFill>
                  <a:latin typeface="Lato"/>
                  <a:ea typeface="Lato"/>
                  <a:cs typeface="Lato"/>
                  <a:sym typeface="Lato"/>
                </a:endParaRPr>
              </a:p>
            </p:txBody>
          </p:sp>
          <p:sp>
            <p:nvSpPr>
              <p:cNvPr id="467" name="Google Shape;467;p27"/>
              <p:cNvSpPr txBox="1"/>
              <p:nvPr/>
            </p:nvSpPr>
            <p:spPr>
              <a:xfrm>
                <a:off x="495300" y="12001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1F2937"/>
                    </a:solidFill>
                    <a:latin typeface="Lato"/>
                    <a:ea typeface="Lato"/>
                    <a:cs typeface="Lato"/>
                    <a:sym typeface="Lato"/>
                  </a:rPr>
                  <a:t>The server saves it and replies</a:t>
                </a:r>
                <a:endParaRPr b="0" sz="950">
                  <a:solidFill>
                    <a:srgbClr val="1F2937"/>
                  </a:solidFill>
                  <a:latin typeface="Lato"/>
                  <a:ea typeface="Lato"/>
                  <a:cs typeface="Lato"/>
                  <a:sym typeface="Lato"/>
                </a:endParaRPr>
              </a:p>
            </p:txBody>
          </p:sp>
          <p:cxnSp>
            <p:nvCxnSpPr>
              <p:cNvPr id="468" name="Google Shape;468;p27"/>
              <p:cNvCxnSpPr/>
              <p:nvPr/>
            </p:nvCxnSpPr>
            <p:spPr>
              <a:xfrm>
                <a:off x="190500" y="1543050"/>
                <a:ext cx="2400300" cy="0"/>
              </a:xfrm>
              <a:prstGeom prst="straightConnector1">
                <a:avLst/>
              </a:prstGeom>
              <a:solidFill>
                <a:srgbClr val="FFFFFF"/>
              </a:solidFill>
              <a:ln cap="flat" cmpd="sng" w="9525">
                <a:solidFill>
                  <a:srgbClr val="F3F4F6"/>
                </a:solidFill>
                <a:prstDash val="solid"/>
                <a:round/>
                <a:headEnd len="sm" w="sm" type="none"/>
                <a:tailEnd len="sm" w="sm" type="none"/>
              </a:ln>
            </p:spPr>
          </p:cxnSp>
          <p:sp>
            <p:nvSpPr>
              <p:cNvPr id="469" name="Google Shape;469;p27"/>
              <p:cNvSpPr/>
              <p:nvPr/>
            </p:nvSpPr>
            <p:spPr>
              <a:xfrm>
                <a:off x="190500" y="1676400"/>
                <a:ext cx="228600" cy="228600"/>
              </a:xfrm>
              <a:prstGeom prst="ellipse">
                <a:avLst/>
              </a:prstGeom>
              <a:solidFill>
                <a:srgbClr val="DEF7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7"/>
              <p:cNvSpPr txBox="1"/>
              <p:nvPr/>
            </p:nvSpPr>
            <p:spPr>
              <a:xfrm>
                <a:off x="190500" y="16764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F7A5C"/>
                    </a:solidFill>
                    <a:latin typeface="Lato"/>
                    <a:ea typeface="Lato"/>
                    <a:cs typeface="Lato"/>
                    <a:sym typeface="Lato"/>
                  </a:rPr>
                  <a:t>4</a:t>
                </a:r>
                <a:endParaRPr b="1" sz="1000">
                  <a:solidFill>
                    <a:srgbClr val="1F7A5C"/>
                  </a:solidFill>
                  <a:latin typeface="Lato"/>
                  <a:ea typeface="Lato"/>
                  <a:cs typeface="Lato"/>
                  <a:sym typeface="Lato"/>
                </a:endParaRPr>
              </a:p>
            </p:txBody>
          </p:sp>
          <p:sp>
            <p:nvSpPr>
              <p:cNvPr id="471" name="Google Shape;471;p27"/>
              <p:cNvSpPr txBox="1"/>
              <p:nvPr/>
            </p:nvSpPr>
            <p:spPr>
              <a:xfrm>
                <a:off x="495300" y="16954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1F2937"/>
                    </a:solidFill>
                    <a:latin typeface="Lato"/>
                    <a:ea typeface="Lato"/>
                    <a:cs typeface="Lato"/>
                    <a:sym typeface="Lato"/>
                  </a:rPr>
                  <a:t>The page updates</a:t>
                </a:r>
                <a:endParaRPr b="0" sz="950">
                  <a:solidFill>
                    <a:srgbClr val="1F2937"/>
                  </a:solidFill>
                  <a:latin typeface="Lato"/>
                  <a:ea typeface="Lato"/>
                  <a:cs typeface="Lato"/>
                  <a:sym typeface="Lato"/>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F35"/>
        </a:solidFill>
      </p:bgPr>
    </p:bg>
    <p:spTree>
      <p:nvGrpSpPr>
        <p:cNvPr id="475" name="Shape 475"/>
        <p:cNvGrpSpPr/>
        <p:nvPr/>
      </p:nvGrpSpPr>
      <p:grpSpPr>
        <a:xfrm>
          <a:off x="0" y="0"/>
          <a:ext cx="0" cy="0"/>
          <a:chOff x="0" y="0"/>
          <a:chExt cx="0" cy="0"/>
        </a:xfrm>
      </p:grpSpPr>
      <p:sp>
        <p:nvSpPr>
          <p:cNvPr id="476" name="Google Shape;476;p28"/>
          <p:cNvSpPr txBox="1"/>
          <p:nvPr/>
        </p:nvSpPr>
        <p:spPr>
          <a:xfrm>
            <a:off x="640080" y="1417320"/>
            <a:ext cx="78639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rgbClr val="FFFFFF"/>
                </a:solidFill>
                <a:latin typeface="Lato"/>
                <a:ea typeface="Lato"/>
                <a:cs typeface="Lato"/>
                <a:sym typeface="Lato"/>
              </a:rPr>
              <a:t>Demo</a:t>
            </a:r>
            <a:endParaRPr b="1" sz="6000">
              <a:solidFill>
                <a:srgbClr val="FFFFFF"/>
              </a:solidFill>
              <a:latin typeface="Lato"/>
              <a:ea typeface="Lato"/>
              <a:cs typeface="Lato"/>
              <a:sym typeface="Lato"/>
            </a:endParaRPr>
          </a:p>
        </p:txBody>
      </p:sp>
      <p:sp>
        <p:nvSpPr>
          <p:cNvPr id="477" name="Google Shape;477;p28"/>
          <p:cNvSpPr txBox="1"/>
          <p:nvPr/>
        </p:nvSpPr>
        <p:spPr>
          <a:xfrm>
            <a:off x="640080" y="2697480"/>
            <a:ext cx="78639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CFE3DA"/>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81" name="Shape 481"/>
        <p:cNvGrpSpPr/>
        <p:nvPr/>
      </p:nvGrpSpPr>
      <p:grpSpPr>
        <a:xfrm>
          <a:off x="0" y="0"/>
          <a:ext cx="0" cy="0"/>
          <a:chOff x="0" y="0"/>
          <a:chExt cx="0" cy="0"/>
        </a:xfrm>
      </p:grpSpPr>
      <p:sp>
        <p:nvSpPr>
          <p:cNvPr id="482" name="Google Shape;482;p29"/>
          <p:cNvSpPr txBox="1"/>
          <p:nvPr/>
        </p:nvSpPr>
        <p:spPr>
          <a:xfrm>
            <a:off x="389125" y="128010"/>
            <a:ext cx="82296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rgbClr val="1F2937"/>
                </a:solidFill>
                <a:latin typeface="Lato"/>
                <a:ea typeface="Lato"/>
                <a:cs typeface="Lato"/>
                <a:sym typeface="Lato"/>
              </a:rPr>
              <a:t>Lessons learned</a:t>
            </a:r>
            <a:endParaRPr b="1" sz="3600">
              <a:solidFill>
                <a:srgbClr val="1F2937"/>
              </a:solidFill>
              <a:latin typeface="Lato"/>
              <a:ea typeface="Lato"/>
              <a:cs typeface="Lato"/>
              <a:sym typeface="Lato"/>
            </a:endParaRPr>
          </a:p>
        </p:txBody>
      </p:sp>
      <p:sp>
        <p:nvSpPr>
          <p:cNvPr id="483" name="Google Shape;483;p29"/>
          <p:cNvSpPr/>
          <p:nvPr/>
        </p:nvSpPr>
        <p:spPr>
          <a:xfrm>
            <a:off x="457200" y="1325880"/>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1</a:t>
            </a:r>
            <a:endParaRPr b="1" sz="1600">
              <a:solidFill>
                <a:srgbClr val="FFFFFF"/>
              </a:solidFill>
              <a:latin typeface="Lato"/>
              <a:ea typeface="Lato"/>
              <a:cs typeface="Lato"/>
              <a:sym typeface="Lato"/>
            </a:endParaRPr>
          </a:p>
        </p:txBody>
      </p:sp>
      <p:sp>
        <p:nvSpPr>
          <p:cNvPr id="484" name="Google Shape;484;p29"/>
          <p:cNvSpPr txBox="1"/>
          <p:nvPr/>
        </p:nvSpPr>
        <p:spPr>
          <a:xfrm>
            <a:off x="1188720" y="1216152"/>
            <a:ext cx="74982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Agree on API contracts early</a:t>
            </a:r>
            <a:endParaRPr b="1" sz="2000">
              <a:solidFill>
                <a:srgbClr val="1F2937"/>
              </a:solidFill>
              <a:latin typeface="Lato"/>
              <a:ea typeface="Lato"/>
              <a:cs typeface="Lato"/>
              <a:sym typeface="Lato"/>
            </a:endParaRPr>
          </a:p>
        </p:txBody>
      </p:sp>
      <p:sp>
        <p:nvSpPr>
          <p:cNvPr id="485" name="Google Shape;485;p29"/>
          <p:cNvSpPr txBox="1"/>
          <p:nvPr/>
        </p:nvSpPr>
        <p:spPr>
          <a:xfrm>
            <a:off x="1188720" y="1596308"/>
            <a:ext cx="7498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Some endpoints used /api and others /api/v1, so the front end broke. Agreeing on URLs first avoids this.</a:t>
            </a:r>
            <a:endParaRPr>
              <a:solidFill>
                <a:srgbClr val="5B6470"/>
              </a:solidFill>
              <a:latin typeface="Lato"/>
              <a:ea typeface="Lato"/>
              <a:cs typeface="Lato"/>
              <a:sym typeface="Lato"/>
            </a:endParaRPr>
          </a:p>
        </p:txBody>
      </p:sp>
      <p:sp>
        <p:nvSpPr>
          <p:cNvPr id="486" name="Google Shape;486;p29"/>
          <p:cNvSpPr/>
          <p:nvPr/>
        </p:nvSpPr>
        <p:spPr>
          <a:xfrm>
            <a:off x="457200" y="2185416"/>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2</a:t>
            </a:r>
            <a:endParaRPr b="1" sz="1600">
              <a:solidFill>
                <a:srgbClr val="FFFFFF"/>
              </a:solidFill>
              <a:latin typeface="Lato"/>
              <a:ea typeface="Lato"/>
              <a:cs typeface="Lato"/>
              <a:sym typeface="Lato"/>
            </a:endParaRPr>
          </a:p>
        </p:txBody>
      </p:sp>
      <p:sp>
        <p:nvSpPr>
          <p:cNvPr id="487" name="Google Shape;487;p29"/>
          <p:cNvSpPr txBox="1"/>
          <p:nvPr/>
        </p:nvSpPr>
        <p:spPr>
          <a:xfrm>
            <a:off x="1188720" y="2075688"/>
            <a:ext cx="74982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Integrate early and often</a:t>
            </a:r>
            <a:endParaRPr b="1" sz="2000">
              <a:solidFill>
                <a:srgbClr val="1F2937"/>
              </a:solidFill>
              <a:latin typeface="Lato"/>
              <a:ea typeface="Lato"/>
              <a:cs typeface="Lato"/>
              <a:sym typeface="Lato"/>
            </a:endParaRPr>
          </a:p>
        </p:txBody>
      </p:sp>
      <p:sp>
        <p:nvSpPr>
          <p:cNvPr id="488" name="Google Shape;488;p29"/>
          <p:cNvSpPr txBox="1"/>
          <p:nvPr/>
        </p:nvSpPr>
        <p:spPr>
          <a:xfrm>
            <a:off x="1188720" y="2523744"/>
            <a:ext cx="7498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We combined our work late, and found bugs the night before. Merging smaller pieces more often would have caught them sooner.</a:t>
            </a:r>
            <a:endParaRPr>
              <a:solidFill>
                <a:srgbClr val="5B6470"/>
              </a:solidFill>
              <a:latin typeface="Lato"/>
              <a:ea typeface="Lato"/>
              <a:cs typeface="Lato"/>
              <a:sym typeface="Lato"/>
            </a:endParaRPr>
          </a:p>
        </p:txBody>
      </p:sp>
      <p:sp>
        <p:nvSpPr>
          <p:cNvPr id="489" name="Google Shape;489;p29"/>
          <p:cNvSpPr/>
          <p:nvPr/>
        </p:nvSpPr>
        <p:spPr>
          <a:xfrm>
            <a:off x="457200" y="3044952"/>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3</a:t>
            </a:r>
            <a:endParaRPr b="1" sz="1600">
              <a:solidFill>
                <a:srgbClr val="FFFFFF"/>
              </a:solidFill>
              <a:latin typeface="Lato"/>
              <a:ea typeface="Lato"/>
              <a:cs typeface="Lato"/>
              <a:sym typeface="Lato"/>
            </a:endParaRPr>
          </a:p>
        </p:txBody>
      </p:sp>
      <p:sp>
        <p:nvSpPr>
          <p:cNvPr id="490" name="Google Shape;490;p29"/>
          <p:cNvSpPr txBox="1"/>
          <p:nvPr/>
        </p:nvSpPr>
        <p:spPr>
          <a:xfrm>
            <a:off x="1188720" y="3044949"/>
            <a:ext cx="74982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Let CI catch it</a:t>
            </a:r>
            <a:endParaRPr b="1" sz="2000">
              <a:solidFill>
                <a:srgbClr val="1F2937"/>
              </a:solidFill>
              <a:latin typeface="Lato"/>
              <a:ea typeface="Lato"/>
              <a:cs typeface="Lato"/>
              <a:sym typeface="Lato"/>
            </a:endParaRPr>
          </a:p>
        </p:txBody>
      </p:sp>
      <p:sp>
        <p:nvSpPr>
          <p:cNvPr id="491" name="Google Shape;491;p29"/>
          <p:cNvSpPr txBox="1"/>
          <p:nvPr/>
        </p:nvSpPr>
        <p:spPr>
          <a:xfrm>
            <a:off x="1188720" y="3383293"/>
            <a:ext cx="7498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Every pull request automatically builds and runs our tests, so broken code never reaches main.</a:t>
            </a:r>
            <a:endParaRPr>
              <a:solidFill>
                <a:srgbClr val="5B6470"/>
              </a:solidFill>
              <a:latin typeface="Lato"/>
              <a:ea typeface="Lato"/>
              <a:cs typeface="Lato"/>
              <a:sym typeface="Lato"/>
            </a:endParaRPr>
          </a:p>
        </p:txBody>
      </p:sp>
      <p:sp>
        <p:nvSpPr>
          <p:cNvPr id="492" name="Google Shape;492;p29"/>
          <p:cNvSpPr/>
          <p:nvPr/>
        </p:nvSpPr>
        <p:spPr>
          <a:xfrm>
            <a:off x="457200" y="3904488"/>
            <a:ext cx="502800" cy="502800"/>
          </a:xfrm>
          <a:prstGeom prst="ellipse">
            <a:avLst/>
          </a:prstGeom>
          <a:solidFill>
            <a:srgbClr val="1F7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4</a:t>
            </a:r>
            <a:endParaRPr b="1" sz="1600">
              <a:solidFill>
                <a:srgbClr val="FFFFFF"/>
              </a:solidFill>
              <a:latin typeface="Lato"/>
              <a:ea typeface="Lato"/>
              <a:cs typeface="Lato"/>
              <a:sym typeface="Lato"/>
            </a:endParaRPr>
          </a:p>
        </p:txBody>
      </p:sp>
      <p:sp>
        <p:nvSpPr>
          <p:cNvPr id="493" name="Google Shape;493;p29"/>
          <p:cNvSpPr txBox="1"/>
          <p:nvPr/>
        </p:nvSpPr>
        <p:spPr>
          <a:xfrm>
            <a:off x="1188720" y="3794760"/>
            <a:ext cx="74982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1F2937"/>
                </a:solidFill>
                <a:latin typeface="Lato"/>
                <a:ea typeface="Lato"/>
                <a:cs typeface="Lato"/>
                <a:sym typeface="Lato"/>
              </a:rPr>
              <a:t>Plan for third-party limits</a:t>
            </a:r>
            <a:endParaRPr b="1" sz="2000">
              <a:solidFill>
                <a:srgbClr val="1F2937"/>
              </a:solidFill>
              <a:latin typeface="Lato"/>
              <a:ea typeface="Lato"/>
              <a:cs typeface="Lato"/>
              <a:sym typeface="Lato"/>
            </a:endParaRPr>
          </a:p>
        </p:txBody>
      </p:sp>
      <p:sp>
        <p:nvSpPr>
          <p:cNvPr id="494" name="Google Shape;494;p29"/>
          <p:cNvSpPr txBox="1"/>
          <p:nvPr/>
        </p:nvSpPr>
        <p:spPr>
          <a:xfrm>
            <a:off x="1188720" y="4242816"/>
            <a:ext cx="7498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B6470"/>
                </a:solidFill>
                <a:latin typeface="Lato"/>
                <a:ea typeface="Lato"/>
                <a:cs typeface="Lato"/>
                <a:sym typeface="Lato"/>
              </a:rPr>
              <a:t>The free price API limits how often we can call it, so we cache prices and have a backup if it goes down.</a:t>
            </a:r>
            <a:endParaRPr>
              <a:solidFill>
                <a:srgbClr val="5B6470"/>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98" name="Shape 498"/>
        <p:cNvGrpSpPr/>
        <p:nvPr/>
      </p:nvGrpSpPr>
      <p:grpSpPr>
        <a:xfrm>
          <a:off x="0" y="0"/>
          <a:ext cx="0" cy="0"/>
          <a:chOff x="0" y="0"/>
          <a:chExt cx="0" cy="0"/>
        </a:xfrm>
      </p:grpSpPr>
      <p:sp>
        <p:nvSpPr>
          <p:cNvPr id="499" name="Google Shape;499;p30"/>
          <p:cNvSpPr txBox="1"/>
          <p:nvPr/>
        </p:nvSpPr>
        <p:spPr>
          <a:xfrm>
            <a:off x="457200" y="285750"/>
            <a:ext cx="82296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1F2937"/>
                </a:solidFill>
                <a:latin typeface="Lato"/>
                <a:ea typeface="Lato"/>
                <a:cs typeface="Lato"/>
                <a:sym typeface="Lato"/>
              </a:rPr>
              <a:t>If we had more time</a:t>
            </a:r>
            <a:endParaRPr b="1" sz="3200">
              <a:solidFill>
                <a:srgbClr val="1F2937"/>
              </a:solidFill>
              <a:latin typeface="Lato"/>
              <a:ea typeface="Lato"/>
              <a:cs typeface="Lato"/>
              <a:sym typeface="Lato"/>
            </a:endParaRPr>
          </a:p>
        </p:txBody>
      </p:sp>
      <p:grpSp>
        <p:nvGrpSpPr>
          <p:cNvPr id="500" name="Google Shape;500;p30"/>
          <p:cNvGrpSpPr/>
          <p:nvPr/>
        </p:nvGrpSpPr>
        <p:grpSpPr>
          <a:xfrm>
            <a:off x="457200" y="1000125"/>
            <a:ext cx="8153400" cy="609600"/>
            <a:chOff x="0" y="0"/>
            <a:chExt cx="8153400" cy="609600"/>
          </a:xfrm>
        </p:grpSpPr>
        <p:sp>
          <p:nvSpPr>
            <p:cNvPr id="501" name="Google Shape;501;p30"/>
            <p:cNvSpPr/>
            <p:nvPr/>
          </p:nvSpPr>
          <p:spPr>
            <a:xfrm>
              <a:off x="0" y="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30"/>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1</a:t>
              </a:r>
              <a:endParaRPr b="1" sz="1600">
                <a:solidFill>
                  <a:srgbClr val="FFFFFF"/>
                </a:solidFill>
                <a:latin typeface="Lato"/>
                <a:ea typeface="Lato"/>
                <a:cs typeface="Lato"/>
                <a:sym typeface="Lato"/>
              </a:endParaRPr>
            </a:p>
          </p:txBody>
        </p:sp>
        <p:sp>
          <p:nvSpPr>
            <p:cNvPr id="503" name="Google Shape;503;p30"/>
            <p:cNvSpPr txBox="1"/>
            <p:nvPr/>
          </p:nvSpPr>
          <p:spPr>
            <a:xfrm>
              <a:off x="533400" y="0"/>
              <a:ext cx="7620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Lato"/>
                  <a:ea typeface="Lato"/>
                  <a:cs typeface="Lato"/>
                  <a:sym typeface="Lato"/>
                </a:rPr>
                <a:t>Portfolio charts over time</a:t>
              </a:r>
              <a:endParaRPr b="1" sz="1500">
                <a:solidFill>
                  <a:srgbClr val="1F2937"/>
                </a:solidFill>
                <a:latin typeface="Lato"/>
                <a:ea typeface="Lato"/>
                <a:cs typeface="Lato"/>
                <a:sym typeface="Lato"/>
              </a:endParaRPr>
            </a:p>
          </p:txBody>
        </p:sp>
        <p:sp>
          <p:nvSpPr>
            <p:cNvPr id="504" name="Google Shape;504;p30"/>
            <p:cNvSpPr txBox="1"/>
            <p:nvPr/>
          </p:nvSpPr>
          <p:spPr>
            <a:xfrm>
              <a:off x="533400" y="2286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Lato"/>
                  <a:ea typeface="Lato"/>
                  <a:cs typeface="Lato"/>
                  <a:sym typeface="Lato"/>
                </a:rPr>
                <a:t>Save daily values to show how your portfolio has grown, not just today's total.</a:t>
              </a:r>
              <a:endParaRPr b="0" sz="1100">
                <a:solidFill>
                  <a:srgbClr val="4B5563"/>
                </a:solidFill>
                <a:latin typeface="Lato"/>
                <a:ea typeface="Lato"/>
                <a:cs typeface="Lato"/>
                <a:sym typeface="Lato"/>
              </a:endParaRPr>
            </a:p>
          </p:txBody>
        </p:sp>
      </p:grpSp>
      <p:grpSp>
        <p:nvGrpSpPr>
          <p:cNvPr id="505" name="Google Shape;505;p30"/>
          <p:cNvGrpSpPr/>
          <p:nvPr/>
        </p:nvGrpSpPr>
        <p:grpSpPr>
          <a:xfrm>
            <a:off x="457200" y="1762125"/>
            <a:ext cx="8153400" cy="609600"/>
            <a:chOff x="0" y="0"/>
            <a:chExt cx="8153400" cy="609600"/>
          </a:xfrm>
        </p:grpSpPr>
        <p:sp>
          <p:nvSpPr>
            <p:cNvPr id="506" name="Google Shape;506;p30"/>
            <p:cNvSpPr/>
            <p:nvPr/>
          </p:nvSpPr>
          <p:spPr>
            <a:xfrm>
              <a:off x="0" y="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p30"/>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2</a:t>
              </a:r>
              <a:endParaRPr b="1" sz="1600">
                <a:solidFill>
                  <a:srgbClr val="FFFFFF"/>
                </a:solidFill>
                <a:latin typeface="Lato"/>
                <a:ea typeface="Lato"/>
                <a:cs typeface="Lato"/>
                <a:sym typeface="Lato"/>
              </a:endParaRPr>
            </a:p>
          </p:txBody>
        </p:sp>
        <p:sp>
          <p:nvSpPr>
            <p:cNvPr id="508" name="Google Shape;508;p30"/>
            <p:cNvSpPr txBox="1"/>
            <p:nvPr/>
          </p:nvSpPr>
          <p:spPr>
            <a:xfrm>
              <a:off x="533400" y="0"/>
              <a:ext cx="7620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Lato"/>
                  <a:ea typeface="Lato"/>
                  <a:cs typeface="Lato"/>
                  <a:sym typeface="Lato"/>
                </a:rPr>
                <a:t>Real-time prices and alerts</a:t>
              </a:r>
              <a:endParaRPr b="1" sz="1500">
                <a:solidFill>
                  <a:srgbClr val="1F2937"/>
                </a:solidFill>
                <a:latin typeface="Lato"/>
                <a:ea typeface="Lato"/>
                <a:cs typeface="Lato"/>
                <a:sym typeface="Lato"/>
              </a:endParaRPr>
            </a:p>
          </p:txBody>
        </p:sp>
        <p:sp>
          <p:nvSpPr>
            <p:cNvPr id="509" name="Google Shape;509;p30"/>
            <p:cNvSpPr txBox="1"/>
            <p:nvPr/>
          </p:nvSpPr>
          <p:spPr>
            <a:xfrm>
              <a:off x="533400" y="2286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Lato"/>
                  <a:ea typeface="Lato"/>
                  <a:cs typeface="Lato"/>
                  <a:sym typeface="Lato"/>
                </a:rPr>
                <a:t>Push live updates to the page, and notify users when a stock hits a target price.</a:t>
              </a:r>
              <a:endParaRPr b="0" sz="1100">
                <a:solidFill>
                  <a:srgbClr val="4B5563"/>
                </a:solidFill>
                <a:latin typeface="Lato"/>
                <a:ea typeface="Lato"/>
                <a:cs typeface="Lato"/>
                <a:sym typeface="Lato"/>
              </a:endParaRPr>
            </a:p>
          </p:txBody>
        </p:sp>
      </p:grpSp>
      <p:grpSp>
        <p:nvGrpSpPr>
          <p:cNvPr id="510" name="Google Shape;510;p30"/>
          <p:cNvGrpSpPr/>
          <p:nvPr/>
        </p:nvGrpSpPr>
        <p:grpSpPr>
          <a:xfrm>
            <a:off x="457200" y="2524125"/>
            <a:ext cx="8153400" cy="609600"/>
            <a:chOff x="0" y="0"/>
            <a:chExt cx="8153400" cy="609600"/>
          </a:xfrm>
        </p:grpSpPr>
        <p:sp>
          <p:nvSpPr>
            <p:cNvPr id="511" name="Google Shape;511;p30"/>
            <p:cNvSpPr/>
            <p:nvPr/>
          </p:nvSpPr>
          <p:spPr>
            <a:xfrm>
              <a:off x="0" y="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30"/>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3</a:t>
              </a:r>
              <a:endParaRPr b="1" sz="1600">
                <a:solidFill>
                  <a:srgbClr val="FFFFFF"/>
                </a:solidFill>
                <a:latin typeface="Lato"/>
                <a:ea typeface="Lato"/>
                <a:cs typeface="Lato"/>
                <a:sym typeface="Lato"/>
              </a:endParaRPr>
            </a:p>
          </p:txBody>
        </p:sp>
        <p:sp>
          <p:nvSpPr>
            <p:cNvPr id="513" name="Google Shape;513;p30"/>
            <p:cNvSpPr txBox="1"/>
            <p:nvPr/>
          </p:nvSpPr>
          <p:spPr>
            <a:xfrm>
              <a:off x="533400" y="0"/>
              <a:ext cx="7620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Lato"/>
                  <a:ea typeface="Lato"/>
                  <a:cs typeface="Lato"/>
                  <a:sym typeface="Lato"/>
                </a:rPr>
                <a:t>Stronger security</a:t>
              </a:r>
              <a:endParaRPr b="1" sz="1500">
                <a:solidFill>
                  <a:srgbClr val="1F2937"/>
                </a:solidFill>
                <a:latin typeface="Lato"/>
                <a:ea typeface="Lato"/>
                <a:cs typeface="Lato"/>
                <a:sym typeface="Lato"/>
              </a:endParaRPr>
            </a:p>
          </p:txBody>
        </p:sp>
        <p:sp>
          <p:nvSpPr>
            <p:cNvPr id="514" name="Google Shape;514;p30"/>
            <p:cNvSpPr txBox="1"/>
            <p:nvPr/>
          </p:nvSpPr>
          <p:spPr>
            <a:xfrm>
              <a:off x="533400" y="2286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Lato"/>
                  <a:ea typeface="Lato"/>
                  <a:cs typeface="Lato"/>
                  <a:sym typeface="Lato"/>
                </a:rPr>
                <a:t>Move to Spring Security with roles, add limits on repeated login attempts, and add CSRF protection.</a:t>
              </a:r>
              <a:endParaRPr b="0" sz="1100">
                <a:solidFill>
                  <a:srgbClr val="4B5563"/>
                </a:solidFill>
                <a:latin typeface="Lato"/>
                <a:ea typeface="Lato"/>
                <a:cs typeface="Lato"/>
                <a:sym typeface="Lato"/>
              </a:endParaRPr>
            </a:p>
          </p:txBody>
        </p:sp>
      </p:grpSp>
      <p:grpSp>
        <p:nvGrpSpPr>
          <p:cNvPr id="515" name="Google Shape;515;p30"/>
          <p:cNvGrpSpPr/>
          <p:nvPr/>
        </p:nvGrpSpPr>
        <p:grpSpPr>
          <a:xfrm>
            <a:off x="457200" y="3286125"/>
            <a:ext cx="8153400" cy="609600"/>
            <a:chOff x="0" y="0"/>
            <a:chExt cx="8153400" cy="609600"/>
          </a:xfrm>
        </p:grpSpPr>
        <p:sp>
          <p:nvSpPr>
            <p:cNvPr id="516" name="Google Shape;516;p30"/>
            <p:cNvSpPr/>
            <p:nvPr/>
          </p:nvSpPr>
          <p:spPr>
            <a:xfrm>
              <a:off x="0" y="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30"/>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4</a:t>
              </a:r>
              <a:endParaRPr b="1" sz="1600">
                <a:solidFill>
                  <a:srgbClr val="FFFFFF"/>
                </a:solidFill>
                <a:latin typeface="Lato"/>
                <a:ea typeface="Lato"/>
                <a:cs typeface="Lato"/>
                <a:sym typeface="Lato"/>
              </a:endParaRPr>
            </a:p>
          </p:txBody>
        </p:sp>
        <p:sp>
          <p:nvSpPr>
            <p:cNvPr id="518" name="Google Shape;518;p30"/>
            <p:cNvSpPr txBox="1"/>
            <p:nvPr/>
          </p:nvSpPr>
          <p:spPr>
            <a:xfrm>
              <a:off x="533400" y="0"/>
              <a:ext cx="7620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Lato"/>
                  <a:ea typeface="Lato"/>
                  <a:cs typeface="Lato"/>
                  <a:sym typeface="Lato"/>
                </a:rPr>
                <a:t>One consistent API</a:t>
              </a:r>
              <a:endParaRPr b="1" sz="1500">
                <a:solidFill>
                  <a:srgbClr val="1F2937"/>
                </a:solidFill>
                <a:latin typeface="Lato"/>
                <a:ea typeface="Lato"/>
                <a:cs typeface="Lato"/>
                <a:sym typeface="Lato"/>
              </a:endParaRPr>
            </a:p>
          </p:txBody>
        </p:sp>
        <p:sp>
          <p:nvSpPr>
            <p:cNvPr id="519" name="Google Shape;519;p30"/>
            <p:cNvSpPr txBox="1"/>
            <p:nvPr/>
          </p:nvSpPr>
          <p:spPr>
            <a:xfrm>
              <a:off x="533400" y="2286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Lato"/>
                  <a:ea typeface="Lato"/>
                  <a:cs typeface="Lato"/>
                  <a:sym typeface="Lato"/>
                </a:rPr>
                <a:t>Put every endpoint under /api/v1, with shared request and response rules for every feature.</a:t>
              </a:r>
              <a:endParaRPr b="0" sz="1100">
                <a:solidFill>
                  <a:srgbClr val="4B5563"/>
                </a:solidFill>
                <a:latin typeface="Lato"/>
                <a:ea typeface="Lato"/>
                <a:cs typeface="Lato"/>
                <a:sym typeface="Lato"/>
              </a:endParaRPr>
            </a:p>
          </p:txBody>
        </p:sp>
      </p:grpSp>
      <p:grpSp>
        <p:nvGrpSpPr>
          <p:cNvPr id="520" name="Google Shape;520;p30"/>
          <p:cNvGrpSpPr/>
          <p:nvPr/>
        </p:nvGrpSpPr>
        <p:grpSpPr>
          <a:xfrm>
            <a:off x="457200" y="4048125"/>
            <a:ext cx="8153400" cy="609600"/>
            <a:chOff x="0" y="0"/>
            <a:chExt cx="8153400" cy="609600"/>
          </a:xfrm>
        </p:grpSpPr>
        <p:sp>
          <p:nvSpPr>
            <p:cNvPr id="521" name="Google Shape;521;p30"/>
            <p:cNvSpPr/>
            <p:nvPr/>
          </p:nvSpPr>
          <p:spPr>
            <a:xfrm>
              <a:off x="0" y="0"/>
              <a:ext cx="381000" cy="381000"/>
            </a:xfrm>
            <a:prstGeom prst="ellipse">
              <a:avLst/>
            </a:prstGeom>
            <a:solidFill>
              <a:srgbClr val="1F7A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30"/>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FFFF"/>
                  </a:solidFill>
                  <a:latin typeface="Lato"/>
                  <a:ea typeface="Lato"/>
                  <a:cs typeface="Lato"/>
                  <a:sym typeface="Lato"/>
                </a:rPr>
                <a:t>5</a:t>
              </a:r>
              <a:endParaRPr b="1" sz="1600">
                <a:solidFill>
                  <a:srgbClr val="FFFFFF"/>
                </a:solidFill>
                <a:latin typeface="Lato"/>
                <a:ea typeface="Lato"/>
                <a:cs typeface="Lato"/>
                <a:sym typeface="Lato"/>
              </a:endParaRPr>
            </a:p>
          </p:txBody>
        </p:sp>
        <p:sp>
          <p:nvSpPr>
            <p:cNvPr id="523" name="Google Shape;523;p30"/>
            <p:cNvSpPr txBox="1"/>
            <p:nvPr/>
          </p:nvSpPr>
          <p:spPr>
            <a:xfrm>
              <a:off x="533400" y="0"/>
              <a:ext cx="7620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Lato"/>
                  <a:ea typeface="Lato"/>
                  <a:cs typeface="Lato"/>
                  <a:sym typeface="Lato"/>
                </a:rPr>
                <a:t>Deploy it for real</a:t>
              </a:r>
              <a:endParaRPr b="1" sz="1500">
                <a:solidFill>
                  <a:srgbClr val="1F2937"/>
                </a:solidFill>
                <a:latin typeface="Lato"/>
                <a:ea typeface="Lato"/>
                <a:cs typeface="Lato"/>
                <a:sym typeface="Lato"/>
              </a:endParaRPr>
            </a:p>
          </p:txBody>
        </p:sp>
        <p:sp>
          <p:nvSpPr>
            <p:cNvPr id="524" name="Google Shape;524;p30"/>
            <p:cNvSpPr txBox="1"/>
            <p:nvPr/>
          </p:nvSpPr>
          <p:spPr>
            <a:xfrm>
              <a:off x="533400" y="2286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Lato"/>
                  <a:ea typeface="Lato"/>
                  <a:cs typeface="Lato"/>
                  <a:sym typeface="Lato"/>
                </a:rPr>
                <a:t>Package the app with Docker, and run it in the cloud with automatic deployment from main.</a:t>
              </a:r>
              <a:endParaRPr b="0" sz="1100">
                <a:solidFill>
                  <a:srgbClr val="4B5563"/>
                </a:solidFill>
                <a:latin typeface="Lato"/>
                <a:ea typeface="Lato"/>
                <a:cs typeface="Lato"/>
                <a:sym typeface="La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31"/>
          <p:cNvSpPr txBox="1"/>
          <p:nvPr/>
        </p:nvSpPr>
        <p:spPr>
          <a:xfrm>
            <a:off x="457200" y="2286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0F1B2D"/>
                </a:solidFill>
                <a:latin typeface="Cambria"/>
                <a:ea typeface="Cambria"/>
                <a:cs typeface="Cambria"/>
                <a:sym typeface="Cambria"/>
              </a:rPr>
              <a:t>Version 2.0</a:t>
            </a:r>
            <a:endParaRPr b="1" sz="2800">
              <a:solidFill>
                <a:srgbClr val="0F1B2D"/>
              </a:solidFill>
              <a:latin typeface="Cambria"/>
              <a:ea typeface="Cambria"/>
              <a:cs typeface="Cambria"/>
              <a:sym typeface="Cambria"/>
            </a:endParaRPr>
          </a:p>
        </p:txBody>
      </p:sp>
      <p:grpSp>
        <p:nvGrpSpPr>
          <p:cNvPr id="531" name="Google Shape;531;p31"/>
          <p:cNvGrpSpPr/>
          <p:nvPr/>
        </p:nvGrpSpPr>
        <p:grpSpPr>
          <a:xfrm>
            <a:off x="457200" y="857250"/>
            <a:ext cx="2571900" cy="1762200"/>
            <a:chOff x="0" y="0"/>
            <a:chExt cx="2571900" cy="1762200"/>
          </a:xfrm>
        </p:grpSpPr>
        <p:sp>
          <p:nvSpPr>
            <p:cNvPr id="532" name="Google Shape;532;p31"/>
            <p:cNvSpPr/>
            <p:nvPr/>
          </p:nvSpPr>
          <p:spPr>
            <a:xfrm>
              <a:off x="0" y="0"/>
              <a:ext cx="2571900" cy="1762200"/>
            </a:xfrm>
            <a:prstGeom prst="roundRect">
              <a:avLst>
                <a:gd fmla="val 432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31"/>
            <p:cNvSpPr/>
            <p:nvPr/>
          </p:nvSpPr>
          <p:spPr>
            <a:xfrm>
              <a:off x="152400" y="152400"/>
              <a:ext cx="266700" cy="266700"/>
            </a:xfrm>
            <a:prstGeom prst="ellipse">
              <a:avLst/>
            </a:prstGeom>
            <a:solidFill>
              <a:srgbClr val="1880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31"/>
            <p:cNvSpPr txBox="1"/>
            <p:nvPr/>
          </p:nvSpPr>
          <p:spPr>
            <a:xfrm>
              <a:off x="228600" y="190500"/>
              <a:ext cx="114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1</a:t>
              </a:r>
              <a:endParaRPr b="1" sz="1100">
                <a:solidFill>
                  <a:srgbClr val="FFFFFF"/>
                </a:solidFill>
                <a:latin typeface="Calibri"/>
                <a:ea typeface="Calibri"/>
                <a:cs typeface="Calibri"/>
                <a:sym typeface="Calibri"/>
              </a:endParaRPr>
            </a:p>
          </p:txBody>
        </p:sp>
        <p:sp>
          <p:nvSpPr>
            <p:cNvPr id="535" name="Google Shape;535;p31"/>
            <p:cNvSpPr txBox="1"/>
            <p:nvPr/>
          </p:nvSpPr>
          <p:spPr>
            <a:xfrm>
              <a:off x="190500" y="533400"/>
              <a:ext cx="2190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63">
                  <a:solidFill>
                    <a:srgbClr val="0F1B2D"/>
                  </a:solidFill>
                  <a:latin typeface="Calibri"/>
                  <a:ea typeface="Calibri"/>
                  <a:cs typeface="Calibri"/>
                  <a:sym typeface="Calibri"/>
                </a:rPr>
                <a:t>Mobile app on the same API</a:t>
              </a:r>
              <a:endParaRPr b="1" sz="1163">
                <a:solidFill>
                  <a:srgbClr val="0F1B2D"/>
                </a:solidFill>
                <a:latin typeface="Calibri"/>
                <a:ea typeface="Calibri"/>
                <a:cs typeface="Calibri"/>
                <a:sym typeface="Calibri"/>
              </a:endParaRPr>
            </a:p>
          </p:txBody>
        </p:sp>
        <p:sp>
          <p:nvSpPr>
            <p:cNvPr id="536" name="Google Shape;536;p31"/>
            <p:cNvSpPr txBox="1"/>
            <p:nvPr/>
          </p:nvSpPr>
          <p:spPr>
            <a:xfrm>
              <a:off x="190500" y="857250"/>
              <a:ext cx="2190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Calibri"/>
                  <a:ea typeface="Calibri"/>
                  <a:cs typeface="Calibri"/>
                  <a:sym typeface="Calibri"/>
                </a:rPr>
                <a:t>Because our backend is a REST API, a phone app could reuse it without changing any server code.</a:t>
              </a:r>
              <a:endParaRPr b="0" sz="1100">
                <a:solidFill>
                  <a:srgbClr val="475569"/>
                </a:solidFill>
                <a:latin typeface="Calibri"/>
                <a:ea typeface="Calibri"/>
                <a:cs typeface="Calibri"/>
                <a:sym typeface="Calibri"/>
              </a:endParaRPr>
            </a:p>
          </p:txBody>
        </p:sp>
      </p:grpSp>
      <p:grpSp>
        <p:nvGrpSpPr>
          <p:cNvPr id="537" name="Google Shape;537;p31"/>
          <p:cNvGrpSpPr/>
          <p:nvPr/>
        </p:nvGrpSpPr>
        <p:grpSpPr>
          <a:xfrm>
            <a:off x="3286125" y="857250"/>
            <a:ext cx="2571900" cy="1762200"/>
            <a:chOff x="0" y="0"/>
            <a:chExt cx="2571900" cy="1762200"/>
          </a:xfrm>
        </p:grpSpPr>
        <p:sp>
          <p:nvSpPr>
            <p:cNvPr id="538" name="Google Shape;538;p31"/>
            <p:cNvSpPr/>
            <p:nvPr/>
          </p:nvSpPr>
          <p:spPr>
            <a:xfrm>
              <a:off x="0" y="0"/>
              <a:ext cx="2571900" cy="1762200"/>
            </a:xfrm>
            <a:prstGeom prst="roundRect">
              <a:avLst>
                <a:gd fmla="val 432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31"/>
            <p:cNvSpPr/>
            <p:nvPr/>
          </p:nvSpPr>
          <p:spPr>
            <a:xfrm>
              <a:off x="152400" y="152400"/>
              <a:ext cx="266700" cy="266700"/>
            </a:xfrm>
            <a:prstGeom prst="ellipse">
              <a:avLst/>
            </a:prstGeom>
            <a:solidFill>
              <a:srgbClr val="1880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31"/>
            <p:cNvSpPr txBox="1"/>
            <p:nvPr/>
          </p:nvSpPr>
          <p:spPr>
            <a:xfrm>
              <a:off x="228600" y="190500"/>
              <a:ext cx="114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2</a:t>
              </a:r>
              <a:endParaRPr b="1" sz="1100">
                <a:solidFill>
                  <a:srgbClr val="FFFFFF"/>
                </a:solidFill>
                <a:latin typeface="Calibri"/>
                <a:ea typeface="Calibri"/>
                <a:cs typeface="Calibri"/>
                <a:sym typeface="Calibri"/>
              </a:endParaRPr>
            </a:p>
          </p:txBody>
        </p:sp>
        <p:sp>
          <p:nvSpPr>
            <p:cNvPr id="541" name="Google Shape;541;p31"/>
            <p:cNvSpPr txBox="1"/>
            <p:nvPr/>
          </p:nvSpPr>
          <p:spPr>
            <a:xfrm>
              <a:off x="190500" y="533400"/>
              <a:ext cx="2190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63">
                  <a:solidFill>
                    <a:srgbClr val="0F1B2D"/>
                  </a:solidFill>
                  <a:latin typeface="Calibri"/>
                  <a:ea typeface="Calibri"/>
                  <a:cs typeface="Calibri"/>
                  <a:sym typeface="Calibri"/>
                </a:rPr>
                <a:t>UK and US stocks, in your currency</a:t>
              </a:r>
              <a:endParaRPr b="1" sz="1163">
                <a:solidFill>
                  <a:srgbClr val="0F1B2D"/>
                </a:solidFill>
                <a:latin typeface="Calibri"/>
                <a:ea typeface="Calibri"/>
                <a:cs typeface="Calibri"/>
                <a:sym typeface="Calibri"/>
              </a:endParaRPr>
            </a:p>
          </p:txBody>
        </p:sp>
        <p:sp>
          <p:nvSpPr>
            <p:cNvPr id="542" name="Google Shape;542;p31"/>
            <p:cNvSpPr txBox="1"/>
            <p:nvPr/>
          </p:nvSpPr>
          <p:spPr>
            <a:xfrm>
              <a:off x="190500" y="857250"/>
              <a:ext cx="2190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Calibri"/>
                  <a:ea typeface="Calibri"/>
                  <a:cs typeface="Calibri"/>
                  <a:sym typeface="Calibri"/>
                </a:rPr>
                <a:t>Hold shares from different markets, and see everything converted into pounds (or any home currency).</a:t>
              </a:r>
              <a:endParaRPr b="0" sz="1100">
                <a:solidFill>
                  <a:srgbClr val="475569"/>
                </a:solidFill>
                <a:latin typeface="Calibri"/>
                <a:ea typeface="Calibri"/>
                <a:cs typeface="Calibri"/>
                <a:sym typeface="Calibri"/>
              </a:endParaRPr>
            </a:p>
          </p:txBody>
        </p:sp>
      </p:grpSp>
      <p:grpSp>
        <p:nvGrpSpPr>
          <p:cNvPr id="543" name="Google Shape;543;p31"/>
          <p:cNvGrpSpPr/>
          <p:nvPr/>
        </p:nvGrpSpPr>
        <p:grpSpPr>
          <a:xfrm>
            <a:off x="6115050" y="857250"/>
            <a:ext cx="2571900" cy="1762200"/>
            <a:chOff x="0" y="0"/>
            <a:chExt cx="2571900" cy="1762200"/>
          </a:xfrm>
        </p:grpSpPr>
        <p:sp>
          <p:nvSpPr>
            <p:cNvPr id="544" name="Google Shape;544;p31"/>
            <p:cNvSpPr/>
            <p:nvPr/>
          </p:nvSpPr>
          <p:spPr>
            <a:xfrm>
              <a:off x="0" y="0"/>
              <a:ext cx="2571900" cy="1762200"/>
            </a:xfrm>
            <a:prstGeom prst="roundRect">
              <a:avLst>
                <a:gd fmla="val 432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31"/>
            <p:cNvSpPr/>
            <p:nvPr/>
          </p:nvSpPr>
          <p:spPr>
            <a:xfrm>
              <a:off x="152400" y="152400"/>
              <a:ext cx="266700" cy="266700"/>
            </a:xfrm>
            <a:prstGeom prst="ellipse">
              <a:avLst/>
            </a:prstGeom>
            <a:solidFill>
              <a:srgbClr val="1880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31"/>
            <p:cNvSpPr txBox="1"/>
            <p:nvPr/>
          </p:nvSpPr>
          <p:spPr>
            <a:xfrm>
              <a:off x="228600" y="190500"/>
              <a:ext cx="114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3</a:t>
              </a:r>
              <a:endParaRPr b="1" sz="1100">
                <a:solidFill>
                  <a:srgbClr val="FFFFFF"/>
                </a:solidFill>
                <a:latin typeface="Calibri"/>
                <a:ea typeface="Calibri"/>
                <a:cs typeface="Calibri"/>
                <a:sym typeface="Calibri"/>
              </a:endParaRPr>
            </a:p>
          </p:txBody>
        </p:sp>
        <p:sp>
          <p:nvSpPr>
            <p:cNvPr id="547" name="Google Shape;547;p31"/>
            <p:cNvSpPr txBox="1"/>
            <p:nvPr/>
          </p:nvSpPr>
          <p:spPr>
            <a:xfrm>
              <a:off x="190500" y="533400"/>
              <a:ext cx="2190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63">
                  <a:solidFill>
                    <a:srgbClr val="0F1B2D"/>
                  </a:solidFill>
                  <a:latin typeface="Calibri"/>
                  <a:ea typeface="Calibri"/>
                  <a:cs typeface="Calibri"/>
                  <a:sym typeface="Calibri"/>
                </a:rPr>
                <a:t>Smarter insights</a:t>
              </a:r>
              <a:endParaRPr b="1" sz="1163">
                <a:solidFill>
                  <a:srgbClr val="0F1B2D"/>
                </a:solidFill>
                <a:latin typeface="Calibri"/>
                <a:ea typeface="Calibri"/>
                <a:cs typeface="Calibri"/>
                <a:sym typeface="Calibri"/>
              </a:endParaRPr>
            </a:p>
          </p:txBody>
        </p:sp>
        <p:sp>
          <p:nvSpPr>
            <p:cNvPr id="548" name="Google Shape;548;p31"/>
            <p:cNvSpPr txBox="1"/>
            <p:nvPr/>
          </p:nvSpPr>
          <p:spPr>
            <a:xfrm>
              <a:off x="190500" y="857250"/>
              <a:ext cx="2190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Calibri"/>
                  <a:ea typeface="Calibri"/>
                  <a:cs typeface="Calibri"/>
                  <a:sym typeface="Calibri"/>
                </a:rPr>
                <a:t>Dividend tracking, a breakdown of your portfolio by sector, and how you compare with the wider market (like the S&amp;P 500).</a:t>
              </a:r>
              <a:endParaRPr b="0" sz="1100">
                <a:solidFill>
                  <a:srgbClr val="475569"/>
                </a:solidFill>
                <a:latin typeface="Calibri"/>
                <a:ea typeface="Calibri"/>
                <a:cs typeface="Calibri"/>
                <a:sym typeface="Calibri"/>
              </a:endParaRPr>
            </a:p>
          </p:txBody>
        </p:sp>
      </p:grpSp>
      <p:grpSp>
        <p:nvGrpSpPr>
          <p:cNvPr id="549" name="Google Shape;549;p31"/>
          <p:cNvGrpSpPr/>
          <p:nvPr/>
        </p:nvGrpSpPr>
        <p:grpSpPr>
          <a:xfrm>
            <a:off x="1866900" y="2809875"/>
            <a:ext cx="2571900" cy="1762200"/>
            <a:chOff x="0" y="0"/>
            <a:chExt cx="2571900" cy="1762200"/>
          </a:xfrm>
        </p:grpSpPr>
        <p:sp>
          <p:nvSpPr>
            <p:cNvPr id="550" name="Google Shape;550;p31"/>
            <p:cNvSpPr/>
            <p:nvPr/>
          </p:nvSpPr>
          <p:spPr>
            <a:xfrm>
              <a:off x="0" y="0"/>
              <a:ext cx="2571900" cy="1762200"/>
            </a:xfrm>
            <a:prstGeom prst="roundRect">
              <a:avLst>
                <a:gd fmla="val 432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31"/>
            <p:cNvSpPr/>
            <p:nvPr/>
          </p:nvSpPr>
          <p:spPr>
            <a:xfrm>
              <a:off x="152400" y="152400"/>
              <a:ext cx="266700" cy="266700"/>
            </a:xfrm>
            <a:prstGeom prst="ellipse">
              <a:avLst/>
            </a:prstGeom>
            <a:solidFill>
              <a:srgbClr val="1880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1"/>
            <p:cNvSpPr txBox="1"/>
            <p:nvPr/>
          </p:nvSpPr>
          <p:spPr>
            <a:xfrm>
              <a:off x="228600" y="190500"/>
              <a:ext cx="114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4</a:t>
              </a:r>
              <a:endParaRPr b="1" sz="1100">
                <a:solidFill>
                  <a:srgbClr val="FFFFFF"/>
                </a:solidFill>
                <a:latin typeface="Calibri"/>
                <a:ea typeface="Calibri"/>
                <a:cs typeface="Calibri"/>
                <a:sym typeface="Calibri"/>
              </a:endParaRPr>
            </a:p>
          </p:txBody>
        </p:sp>
        <p:sp>
          <p:nvSpPr>
            <p:cNvPr id="553" name="Google Shape;553;p31"/>
            <p:cNvSpPr txBox="1"/>
            <p:nvPr/>
          </p:nvSpPr>
          <p:spPr>
            <a:xfrm>
              <a:off x="190500" y="533400"/>
              <a:ext cx="2190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63">
                  <a:solidFill>
                    <a:srgbClr val="0F1B2D"/>
                  </a:solidFill>
                  <a:latin typeface="Calibri"/>
                  <a:ea typeface="Calibri"/>
                  <a:cs typeface="Calibri"/>
                  <a:sym typeface="Calibri"/>
                </a:rPr>
                <a:t>Import from your broker</a:t>
              </a:r>
              <a:endParaRPr b="1" sz="1163">
                <a:solidFill>
                  <a:srgbClr val="0F1B2D"/>
                </a:solidFill>
                <a:latin typeface="Calibri"/>
                <a:ea typeface="Calibri"/>
                <a:cs typeface="Calibri"/>
                <a:sym typeface="Calibri"/>
              </a:endParaRPr>
            </a:p>
          </p:txBody>
        </p:sp>
        <p:sp>
          <p:nvSpPr>
            <p:cNvPr id="554" name="Google Shape;554;p31"/>
            <p:cNvSpPr txBox="1"/>
            <p:nvPr/>
          </p:nvSpPr>
          <p:spPr>
            <a:xfrm>
              <a:off x="190500" y="857250"/>
              <a:ext cx="2190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Calibri"/>
                  <a:ea typeface="Calibri"/>
                  <a:cs typeface="Calibri"/>
                  <a:sym typeface="Calibri"/>
                </a:rPr>
                <a:t>Connect a brokerage account so holdings and trades load automatically, instead of being typed in by hand.</a:t>
              </a:r>
              <a:endParaRPr b="0" sz="1100">
                <a:solidFill>
                  <a:srgbClr val="475569"/>
                </a:solidFill>
                <a:latin typeface="Calibri"/>
                <a:ea typeface="Calibri"/>
                <a:cs typeface="Calibri"/>
                <a:sym typeface="Calibri"/>
              </a:endParaRPr>
            </a:p>
          </p:txBody>
        </p:sp>
      </p:grpSp>
      <p:grpSp>
        <p:nvGrpSpPr>
          <p:cNvPr id="555" name="Google Shape;555;p31"/>
          <p:cNvGrpSpPr/>
          <p:nvPr/>
        </p:nvGrpSpPr>
        <p:grpSpPr>
          <a:xfrm>
            <a:off x="4695825" y="2809875"/>
            <a:ext cx="2571900" cy="1762200"/>
            <a:chOff x="0" y="0"/>
            <a:chExt cx="2571900" cy="1762200"/>
          </a:xfrm>
        </p:grpSpPr>
        <p:sp>
          <p:nvSpPr>
            <p:cNvPr id="556" name="Google Shape;556;p31"/>
            <p:cNvSpPr/>
            <p:nvPr/>
          </p:nvSpPr>
          <p:spPr>
            <a:xfrm>
              <a:off x="0" y="0"/>
              <a:ext cx="2571900" cy="1762200"/>
            </a:xfrm>
            <a:prstGeom prst="roundRect">
              <a:avLst>
                <a:gd fmla="val 432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31"/>
            <p:cNvSpPr/>
            <p:nvPr/>
          </p:nvSpPr>
          <p:spPr>
            <a:xfrm>
              <a:off x="152400" y="152400"/>
              <a:ext cx="266700" cy="266700"/>
            </a:xfrm>
            <a:prstGeom prst="ellipse">
              <a:avLst/>
            </a:prstGeom>
            <a:solidFill>
              <a:srgbClr val="1880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31"/>
            <p:cNvSpPr txBox="1"/>
            <p:nvPr/>
          </p:nvSpPr>
          <p:spPr>
            <a:xfrm>
              <a:off x="228600" y="190500"/>
              <a:ext cx="1143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5</a:t>
              </a:r>
              <a:endParaRPr b="1" sz="1100">
                <a:solidFill>
                  <a:srgbClr val="FFFFFF"/>
                </a:solidFill>
                <a:latin typeface="Calibri"/>
                <a:ea typeface="Calibri"/>
                <a:cs typeface="Calibri"/>
                <a:sym typeface="Calibri"/>
              </a:endParaRPr>
            </a:p>
          </p:txBody>
        </p:sp>
        <p:sp>
          <p:nvSpPr>
            <p:cNvPr id="559" name="Google Shape;559;p31"/>
            <p:cNvSpPr txBox="1"/>
            <p:nvPr/>
          </p:nvSpPr>
          <p:spPr>
            <a:xfrm>
              <a:off x="190500" y="533400"/>
              <a:ext cx="2190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63">
                  <a:solidFill>
                    <a:srgbClr val="0F1B2D"/>
                  </a:solidFill>
                  <a:latin typeface="Calibri"/>
                  <a:ea typeface="Calibri"/>
                  <a:cs typeface="Calibri"/>
                  <a:sym typeface="Calibri"/>
                </a:rPr>
                <a:t>Built to scale</a:t>
              </a:r>
              <a:endParaRPr b="1" sz="1163">
                <a:solidFill>
                  <a:srgbClr val="0F1B2D"/>
                </a:solidFill>
                <a:latin typeface="Calibri"/>
                <a:ea typeface="Calibri"/>
                <a:cs typeface="Calibri"/>
                <a:sym typeface="Calibri"/>
              </a:endParaRPr>
            </a:p>
          </p:txBody>
        </p:sp>
        <p:sp>
          <p:nvSpPr>
            <p:cNvPr id="560" name="Google Shape;560;p31"/>
            <p:cNvSpPr txBox="1"/>
            <p:nvPr/>
          </p:nvSpPr>
          <p:spPr>
            <a:xfrm>
              <a:off x="190500" y="857250"/>
              <a:ext cx="2190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Calibri"/>
                  <a:ea typeface="Calibri"/>
                  <a:cs typeface="Calibri"/>
                  <a:sym typeface="Calibri"/>
                </a:rPr>
                <a:t>Prices refreshed in the background, and a shared cache (for example Redis) so many servers can serve many users at once.</a:t>
              </a:r>
              <a:endParaRPr b="0" sz="1100">
                <a:solidFill>
                  <a:srgbClr val="475569"/>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F35"/>
        </a:solidFill>
      </p:bgPr>
    </p:bg>
    <p:spTree>
      <p:nvGrpSpPr>
        <p:cNvPr id="564" name="Shape 564"/>
        <p:cNvGrpSpPr/>
        <p:nvPr/>
      </p:nvGrpSpPr>
      <p:grpSpPr>
        <a:xfrm>
          <a:off x="0" y="0"/>
          <a:ext cx="0" cy="0"/>
          <a:chOff x="0" y="0"/>
          <a:chExt cx="0" cy="0"/>
        </a:xfrm>
      </p:grpSpPr>
      <p:sp>
        <p:nvSpPr>
          <p:cNvPr id="565" name="Google Shape;565;p32"/>
          <p:cNvSpPr txBox="1"/>
          <p:nvPr/>
        </p:nvSpPr>
        <p:spPr>
          <a:xfrm>
            <a:off x="640080" y="1600200"/>
            <a:ext cx="78639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rgbClr val="FFFFFF"/>
                </a:solidFill>
                <a:latin typeface="Lato"/>
                <a:ea typeface="Lato"/>
                <a:cs typeface="Lato"/>
                <a:sym typeface="Lato"/>
              </a:rPr>
              <a:t>Questions?</a:t>
            </a:r>
            <a:endParaRPr b="1" sz="6000">
              <a:solidFill>
                <a:srgbClr val="FFFFFF"/>
              </a:solidFill>
              <a:latin typeface="Lato"/>
              <a:ea typeface="Lato"/>
              <a:cs typeface="Lato"/>
              <a:sym typeface="Lato"/>
            </a:endParaRPr>
          </a:p>
        </p:txBody>
      </p:sp>
      <p:sp>
        <p:nvSpPr>
          <p:cNvPr id="566" name="Google Shape;566;p32"/>
          <p:cNvSpPr txBox="1"/>
          <p:nvPr/>
        </p:nvSpPr>
        <p:spPr>
          <a:xfrm>
            <a:off x="640080" y="2834640"/>
            <a:ext cx="78639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E3DA"/>
                </a:solidFill>
                <a:latin typeface="Lato"/>
                <a:ea typeface="Lato"/>
                <a:cs typeface="Lato"/>
                <a:sym typeface="Lato"/>
              </a:rPr>
              <a:t>github.com/Mohamad-Safi/portfolio-tracker</a:t>
            </a:r>
            <a:endParaRPr sz="1600">
              <a:solidFill>
                <a:srgbClr val="CFE3DA"/>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